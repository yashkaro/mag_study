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0" r:id="rId2"/>
  </p:sldMasterIdLst>
  <p:notesMasterIdLst>
    <p:notesMasterId r:id="rId21"/>
  </p:notesMasterIdLst>
  <p:handoutMasterIdLst>
    <p:handoutMasterId r:id="rId22"/>
  </p:handoutMasterIdLst>
  <p:sldIdLst>
    <p:sldId id="386" r:id="rId3"/>
    <p:sldId id="388" r:id="rId4"/>
    <p:sldId id="1080" r:id="rId5"/>
    <p:sldId id="1067" r:id="rId6"/>
    <p:sldId id="1068" r:id="rId7"/>
    <p:sldId id="1069" r:id="rId8"/>
    <p:sldId id="367" r:id="rId9"/>
    <p:sldId id="1070" r:id="rId10"/>
    <p:sldId id="1072" r:id="rId11"/>
    <p:sldId id="1073" r:id="rId12"/>
    <p:sldId id="1074" r:id="rId13"/>
    <p:sldId id="1079" r:id="rId14"/>
    <p:sldId id="1077" r:id="rId15"/>
    <p:sldId id="1078" r:id="rId16"/>
    <p:sldId id="1081" r:id="rId17"/>
    <p:sldId id="1076" r:id="rId18"/>
    <p:sldId id="368" r:id="rId19"/>
    <p:sldId id="1066" r:id="rId20"/>
  </p:sldIdLst>
  <p:sldSz cx="9906000" cy="6858000" type="A4"/>
  <p:notesSz cx="6797675" cy="987425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395"/>
    <a:srgbClr val="002394"/>
    <a:srgbClr val="DA5800"/>
    <a:srgbClr val="AAAAAA"/>
    <a:srgbClr val="0E2B8D"/>
    <a:srgbClr val="00A0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50" autoAdjust="0"/>
    <p:restoredTop sz="94900" autoAdjust="0"/>
  </p:normalViewPr>
  <p:slideViewPr>
    <p:cSldViewPr>
      <p:cViewPr varScale="1">
        <p:scale>
          <a:sx n="81" d="100"/>
          <a:sy n="81" d="100"/>
        </p:scale>
        <p:origin x="1378" y="53"/>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0882" name="Rectangle 2"/>
          <p:cNvSpPr>
            <a:spLocks noGrp="1" noChangeArrowheads="1"/>
          </p:cNvSpPr>
          <p:nvPr>
            <p:ph type="hdr" sz="quarter"/>
          </p:nvPr>
        </p:nvSpPr>
        <p:spPr bwMode="auto">
          <a:xfrm>
            <a:off x="0"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ru-RU"/>
          </a:p>
        </p:txBody>
      </p:sp>
      <p:sp>
        <p:nvSpPr>
          <p:cNvPr id="250883" name="Rectangle 3"/>
          <p:cNvSpPr>
            <a:spLocks noGrp="1" noChangeArrowheads="1"/>
          </p:cNvSpPr>
          <p:nvPr>
            <p:ph type="dt" sz="quarter" idx="1"/>
          </p:nvPr>
        </p:nvSpPr>
        <p:spPr bwMode="auto">
          <a:xfrm>
            <a:off x="3849688"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ru-RU"/>
          </a:p>
        </p:txBody>
      </p:sp>
      <p:sp>
        <p:nvSpPr>
          <p:cNvPr id="250884" name="Rectangle 4"/>
          <p:cNvSpPr>
            <a:spLocks noGrp="1" noChangeArrowheads="1"/>
          </p:cNvSpPr>
          <p:nvPr>
            <p:ph type="ftr" sz="quarter" idx="2"/>
          </p:nvPr>
        </p:nvSpPr>
        <p:spPr bwMode="auto">
          <a:xfrm>
            <a:off x="0"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ru-RU"/>
          </a:p>
        </p:txBody>
      </p:sp>
      <p:sp>
        <p:nvSpPr>
          <p:cNvPr id="250885" name="Rectangle 5"/>
          <p:cNvSpPr>
            <a:spLocks noGrp="1" noChangeArrowheads="1"/>
          </p:cNvSpPr>
          <p:nvPr>
            <p:ph type="sldNum" sz="quarter" idx="3"/>
          </p:nvPr>
        </p:nvSpPr>
        <p:spPr bwMode="auto">
          <a:xfrm>
            <a:off x="3849688"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6FE5CC2A-BBC4-4F54-9850-D647C6FDAC26}" type="slidenum">
              <a:rPr lang="ru-RU"/>
              <a:pPr>
                <a:defRPr/>
              </a:pPr>
              <a:t>‹#›</a:t>
            </a:fld>
            <a:endParaRPr lang="ru-RU"/>
          </a:p>
        </p:txBody>
      </p:sp>
    </p:spTree>
    <p:extLst>
      <p:ext uri="{BB962C8B-B14F-4D97-AF65-F5344CB8AC3E}">
        <p14:creationId xmlns:p14="http://schemas.microsoft.com/office/powerpoint/2010/main" val="2925664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ru-RU"/>
          </a:p>
        </p:txBody>
      </p:sp>
      <p:sp>
        <p:nvSpPr>
          <p:cNvPr id="10243" name="Rectangle 3"/>
          <p:cNvSpPr>
            <a:spLocks noGrp="1" noChangeArrowheads="1"/>
          </p:cNvSpPr>
          <p:nvPr>
            <p:ph type="dt" idx="1"/>
          </p:nvPr>
        </p:nvSpPr>
        <p:spPr bwMode="auto">
          <a:xfrm>
            <a:off x="3849688"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ru-RU"/>
          </a:p>
        </p:txBody>
      </p:sp>
      <p:sp>
        <p:nvSpPr>
          <p:cNvPr id="21508" name="Rectangle 4"/>
          <p:cNvSpPr>
            <a:spLocks noGrp="1" noRot="1" noChangeAspect="1" noChangeArrowheads="1" noTextEdit="1"/>
          </p:cNvSpPr>
          <p:nvPr>
            <p:ph type="sldImg" idx="2"/>
          </p:nvPr>
        </p:nvSpPr>
        <p:spPr bwMode="auto">
          <a:xfrm>
            <a:off x="725488" y="741363"/>
            <a:ext cx="5346700"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679450" y="4689993"/>
            <a:ext cx="5438775" cy="444364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10246" name="Rectangle 6"/>
          <p:cNvSpPr>
            <a:spLocks noGrp="1" noChangeArrowheads="1"/>
          </p:cNvSpPr>
          <p:nvPr>
            <p:ph type="ftr" sz="quarter" idx="4"/>
          </p:nvPr>
        </p:nvSpPr>
        <p:spPr bwMode="auto">
          <a:xfrm>
            <a:off x="0"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ru-RU"/>
          </a:p>
        </p:txBody>
      </p:sp>
      <p:sp>
        <p:nvSpPr>
          <p:cNvPr id="10247" name="Rectangle 7"/>
          <p:cNvSpPr>
            <a:spLocks noGrp="1" noChangeArrowheads="1"/>
          </p:cNvSpPr>
          <p:nvPr>
            <p:ph type="sldNum" sz="quarter" idx="5"/>
          </p:nvPr>
        </p:nvSpPr>
        <p:spPr bwMode="auto">
          <a:xfrm>
            <a:off x="3849688"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31A73C05-F021-4679-8F9D-253E26256044}" type="slidenum">
              <a:rPr lang="ru-RU"/>
              <a:pPr>
                <a:defRPr/>
              </a:pPr>
              <a:t>‹#›</a:t>
            </a:fld>
            <a:endParaRPr lang="ru-RU"/>
          </a:p>
        </p:txBody>
      </p:sp>
    </p:spTree>
    <p:extLst>
      <p:ext uri="{BB962C8B-B14F-4D97-AF65-F5344CB8AC3E}">
        <p14:creationId xmlns:p14="http://schemas.microsoft.com/office/powerpoint/2010/main" val="13884993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4CC2597B-FC3B-4A19-A702-00F271193F60}" type="slidenum">
              <a:rPr lang="ru-RU" smtClean="0"/>
              <a:pPr/>
              <a:t>1</a:t>
            </a:fld>
            <a:endParaRPr lang="ru-RU"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ru-RU"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2</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98801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3</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2799557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4</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4278930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5</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3436716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6</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976925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7</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8</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954971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10</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3081561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11</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dirty="0"/>
              <a:t>Since its foundation, PSB has developed a network of 43 offices in Moscow and Moscow region </a:t>
            </a:r>
            <a:r>
              <a:rPr lang="en-US" altLang="ru-RU" dirty="0"/>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dirty="0"/>
              <a:t>As of end of June 2007 we had a total of 150 outlets</a:t>
            </a:r>
          </a:p>
          <a:p>
            <a:pPr marL="190500" indent="-190500" algn="just">
              <a:spcBef>
                <a:spcPts val="500"/>
              </a:spcBef>
              <a:buClr>
                <a:srgbClr val="003399"/>
              </a:buClr>
              <a:buSzPct val="60000"/>
              <a:buFontTx/>
              <a:buChar char="•"/>
            </a:pPr>
            <a:r>
              <a:rPr lang="en-US" altLang="ru-RU" dirty="0"/>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dirty="0"/>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dirty="0"/>
              <a:t>We plan to have </a:t>
            </a:r>
            <a:r>
              <a:rPr lang="en-GB" altLang="ja-JP" dirty="0">
                <a:solidFill>
                  <a:srgbClr val="FF0000"/>
                </a:solidFill>
              </a:rPr>
              <a:t>[XX]</a:t>
            </a:r>
            <a:r>
              <a:rPr lang="en-GB" altLang="ja-JP" dirty="0"/>
              <a:t> offices and branches by the end of this year, compared to </a:t>
            </a:r>
            <a:r>
              <a:rPr lang="en-GB" altLang="ja-JP" dirty="0">
                <a:solidFill>
                  <a:srgbClr val="FF0000"/>
                </a:solidFill>
              </a:rPr>
              <a:t>[XX]</a:t>
            </a:r>
            <a:r>
              <a:rPr lang="en-GB" altLang="ja-JP" dirty="0"/>
              <a:t> we have now.  </a:t>
            </a:r>
          </a:p>
          <a:p>
            <a:pPr marL="190500" indent="-190500" algn="just">
              <a:spcBef>
                <a:spcPts val="500"/>
              </a:spcBef>
              <a:buClr>
                <a:srgbClr val="003399"/>
              </a:buClr>
              <a:buSzPct val="60000"/>
              <a:buFontTx/>
              <a:buChar char="•"/>
            </a:pPr>
            <a:r>
              <a:rPr lang="en-US" altLang="ru-RU" dirty="0"/>
              <a:t>In addition to our domestic presence, we have foreign representative offices in Cyprus, China, India and Ukraine and a network of corresponding banking relations, which allows us to maintain a leading position in clearing services. </a:t>
            </a:r>
            <a:endParaRPr lang="en-GB" altLang="ru-RU" dirty="0"/>
          </a:p>
        </p:txBody>
      </p:sp>
    </p:spTree>
    <p:extLst>
      <p:ext uri="{BB962C8B-B14F-4D97-AF65-F5344CB8AC3E}">
        <p14:creationId xmlns:p14="http://schemas.microsoft.com/office/powerpoint/2010/main" val="1818809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7FF70-0299-AF72-E770-C945981DABA5}"/>
            </a:ext>
          </a:extLst>
        </p:cNvPr>
        <p:cNvGrpSpPr/>
        <p:nvPr/>
      </p:nvGrpSpPr>
      <p:grpSpPr>
        <a:xfrm>
          <a:off x="0" y="0"/>
          <a:ext cx="0" cy="0"/>
          <a:chOff x="0" y="0"/>
          <a:chExt cx="0" cy="0"/>
        </a:xfrm>
      </p:grpSpPr>
      <p:sp>
        <p:nvSpPr>
          <p:cNvPr id="23554" name="Rectangle 7">
            <a:extLst>
              <a:ext uri="{FF2B5EF4-FFF2-40B4-BE49-F238E27FC236}">
                <a16:creationId xmlns:a16="http://schemas.microsoft.com/office/drawing/2014/main" id="{9953E08A-2356-450E-41F1-D293719DD315}"/>
              </a:ext>
            </a:extLst>
          </p:cNvPr>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12</a:t>
            </a:fld>
            <a:endParaRPr lang="ru-RU" altLang="ru-RU" sz="1200"/>
          </a:p>
        </p:txBody>
      </p:sp>
      <p:sp>
        <p:nvSpPr>
          <p:cNvPr id="23555" name="Rectangle 2">
            <a:extLst>
              <a:ext uri="{FF2B5EF4-FFF2-40B4-BE49-F238E27FC236}">
                <a16:creationId xmlns:a16="http://schemas.microsoft.com/office/drawing/2014/main" id="{C59B14AC-4228-0C72-7A6E-7A456823B686}"/>
              </a:ext>
            </a:extLst>
          </p:cNvPr>
          <p:cNvSpPr>
            <a:spLocks noGrp="1" noRot="1" noChangeAspect="1" noChangeArrowheads="1" noTextEdit="1"/>
          </p:cNvSpPr>
          <p:nvPr>
            <p:ph type="sldImg"/>
          </p:nvPr>
        </p:nvSpPr>
        <p:spPr>
          <a:xfrm>
            <a:off x="393700" y="414338"/>
            <a:ext cx="6043613" cy="4184650"/>
          </a:xfrm>
          <a:ln/>
        </p:spPr>
      </p:sp>
      <p:sp>
        <p:nvSpPr>
          <p:cNvPr id="23556" name="Rectangle 3">
            <a:extLst>
              <a:ext uri="{FF2B5EF4-FFF2-40B4-BE49-F238E27FC236}">
                <a16:creationId xmlns:a16="http://schemas.microsoft.com/office/drawing/2014/main" id="{4897F4B1-DA38-ED28-40CF-2A5A0E995D84}"/>
              </a:ext>
            </a:extLst>
          </p:cNvPr>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615110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13</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2896175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14</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241336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15</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2089081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17</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18</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528152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42950" y="2130425"/>
            <a:ext cx="8420100" cy="1470025"/>
          </a:xfrm>
        </p:spPr>
        <p:txBody>
          <a:bodyPr/>
          <a:lstStyle/>
          <a:p>
            <a:r>
              <a:rPr lang="ru-RU"/>
              <a:t>Образец заголовка</a:t>
            </a:r>
          </a:p>
        </p:txBody>
      </p:sp>
      <p:sp>
        <p:nvSpPr>
          <p:cNvPr id="3" name="Подзаголовок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Tree>
    <p:extLst>
      <p:ext uri="{BB962C8B-B14F-4D97-AF65-F5344CB8AC3E}">
        <p14:creationId xmlns:p14="http://schemas.microsoft.com/office/powerpoint/2010/main" val="4183585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1011002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82638" y="4406900"/>
            <a:ext cx="84201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Tree>
    <p:extLst>
      <p:ext uri="{BB962C8B-B14F-4D97-AF65-F5344CB8AC3E}">
        <p14:creationId xmlns:p14="http://schemas.microsoft.com/office/powerpoint/2010/main" val="4281752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95300" y="6238875"/>
            <a:ext cx="4381500" cy="358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5029200" y="6238875"/>
            <a:ext cx="4381500" cy="358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228202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4638"/>
            <a:ext cx="89154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3390612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Tree>
    <p:extLst>
      <p:ext uri="{BB962C8B-B14F-4D97-AF65-F5344CB8AC3E}">
        <p14:creationId xmlns:p14="http://schemas.microsoft.com/office/powerpoint/2010/main" val="363000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2455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3050"/>
            <a:ext cx="3259138"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extLst>
      <p:ext uri="{BB962C8B-B14F-4D97-AF65-F5344CB8AC3E}">
        <p14:creationId xmlns:p14="http://schemas.microsoft.com/office/powerpoint/2010/main" val="3721316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41513" y="4800600"/>
            <a:ext cx="59436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extLst>
      <p:ext uri="{BB962C8B-B14F-4D97-AF65-F5344CB8AC3E}">
        <p14:creationId xmlns:p14="http://schemas.microsoft.com/office/powerpoint/2010/main" val="351038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2881714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181850" y="2708275"/>
            <a:ext cx="2228850" cy="388937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95300" y="2708275"/>
            <a:ext cx="6534150" cy="38893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2575096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Заголовок, схема или организационная диаграмм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8000" y="2708275"/>
            <a:ext cx="8836025" cy="2160588"/>
          </a:xfrm>
        </p:spPr>
        <p:txBody>
          <a:bodyPr/>
          <a:lstStyle/>
          <a:p>
            <a:r>
              <a:rPr lang="ru-RU"/>
              <a:t>Образец заголовка</a:t>
            </a:r>
          </a:p>
        </p:txBody>
      </p:sp>
      <p:sp>
        <p:nvSpPr>
          <p:cNvPr id="3" name="Рисунок SmartArt 2"/>
          <p:cNvSpPr>
            <a:spLocks noGrp="1"/>
          </p:cNvSpPr>
          <p:nvPr>
            <p:ph type="dgm" idx="1"/>
          </p:nvPr>
        </p:nvSpPr>
        <p:spPr>
          <a:xfrm>
            <a:off x="495300" y="6238875"/>
            <a:ext cx="8915400" cy="358775"/>
          </a:xfrm>
        </p:spPr>
        <p:txBody>
          <a:bodyPr/>
          <a:lstStyle/>
          <a:p>
            <a:pPr lvl="0"/>
            <a:endParaRPr lang="ru-RU" noProof="0"/>
          </a:p>
        </p:txBody>
      </p:sp>
    </p:spTree>
    <p:extLst>
      <p:ext uri="{BB962C8B-B14F-4D97-AF65-F5344CB8AC3E}">
        <p14:creationId xmlns:p14="http://schemas.microsoft.com/office/powerpoint/2010/main" val="336372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42950" y="2130425"/>
            <a:ext cx="8420100" cy="1470025"/>
          </a:xfrm>
        </p:spPr>
        <p:txBody>
          <a:bodyPr/>
          <a:lstStyle/>
          <a:p>
            <a:r>
              <a:rPr lang="ru-RU"/>
              <a:t>Образец заголовка</a:t>
            </a:r>
          </a:p>
        </p:txBody>
      </p:sp>
      <p:sp>
        <p:nvSpPr>
          <p:cNvPr id="3" name="Подзаголовок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5129F8BE-4E8B-42E3-B351-36ED8F85CF74}" type="slidenum">
              <a:rPr lang="ru-RU"/>
              <a:pPr>
                <a:defRPr/>
              </a:pPr>
              <a:t>‹#›</a:t>
            </a:fld>
            <a:endParaRPr lang="ru-RU"/>
          </a:p>
        </p:txBody>
      </p:sp>
    </p:spTree>
    <p:extLst>
      <p:ext uri="{BB962C8B-B14F-4D97-AF65-F5344CB8AC3E}">
        <p14:creationId xmlns:p14="http://schemas.microsoft.com/office/powerpoint/2010/main" val="4028776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2BCD04C3-96C2-43EE-BCA1-D4DF9E0BDC91}" type="slidenum">
              <a:rPr lang="ru-RU"/>
              <a:pPr>
                <a:defRPr/>
              </a:pPr>
              <a:t>‹#›</a:t>
            </a:fld>
            <a:endParaRPr lang="ru-RU"/>
          </a:p>
        </p:txBody>
      </p:sp>
    </p:spTree>
    <p:extLst>
      <p:ext uri="{BB962C8B-B14F-4D97-AF65-F5344CB8AC3E}">
        <p14:creationId xmlns:p14="http://schemas.microsoft.com/office/powerpoint/2010/main" val="1474231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82638" y="4406900"/>
            <a:ext cx="84201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14B93598-CA68-423E-9172-991CC6388D3B}" type="slidenum">
              <a:rPr lang="ru-RU"/>
              <a:pPr>
                <a:defRPr/>
              </a:pPr>
              <a:t>‹#›</a:t>
            </a:fld>
            <a:endParaRPr lang="ru-RU"/>
          </a:p>
        </p:txBody>
      </p:sp>
    </p:spTree>
    <p:extLst>
      <p:ext uri="{BB962C8B-B14F-4D97-AF65-F5344CB8AC3E}">
        <p14:creationId xmlns:p14="http://schemas.microsoft.com/office/powerpoint/2010/main" val="1284569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95300" y="1125538"/>
            <a:ext cx="43815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5029200" y="1125538"/>
            <a:ext cx="43815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6"/>
          <p:cNvSpPr>
            <a:spLocks noGrp="1" noChangeArrowheads="1"/>
          </p:cNvSpPr>
          <p:nvPr>
            <p:ph type="sldNum" sz="quarter" idx="10"/>
          </p:nvPr>
        </p:nvSpPr>
        <p:spPr>
          <a:ln/>
        </p:spPr>
        <p:txBody>
          <a:bodyPr/>
          <a:lstStyle>
            <a:lvl1pPr>
              <a:defRPr/>
            </a:lvl1pPr>
          </a:lstStyle>
          <a:p>
            <a:pPr>
              <a:defRPr/>
            </a:pPr>
            <a:r>
              <a:rPr lang="ru-RU"/>
              <a:t>Слайд </a:t>
            </a:r>
            <a:fld id="{79E211C8-AA0B-4A82-9714-560AC98B840D}" type="slidenum">
              <a:rPr lang="ru-RU"/>
              <a:pPr>
                <a:defRPr/>
              </a:pPr>
              <a:t>‹#›</a:t>
            </a:fld>
            <a:endParaRPr lang="ru-RU"/>
          </a:p>
        </p:txBody>
      </p:sp>
    </p:spTree>
    <p:extLst>
      <p:ext uri="{BB962C8B-B14F-4D97-AF65-F5344CB8AC3E}">
        <p14:creationId xmlns:p14="http://schemas.microsoft.com/office/powerpoint/2010/main" val="2138757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4638"/>
            <a:ext cx="89154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6"/>
          <p:cNvSpPr>
            <a:spLocks noGrp="1" noChangeArrowheads="1"/>
          </p:cNvSpPr>
          <p:nvPr>
            <p:ph type="sldNum" sz="quarter" idx="10"/>
          </p:nvPr>
        </p:nvSpPr>
        <p:spPr>
          <a:ln/>
        </p:spPr>
        <p:txBody>
          <a:bodyPr/>
          <a:lstStyle>
            <a:lvl1pPr>
              <a:defRPr/>
            </a:lvl1pPr>
          </a:lstStyle>
          <a:p>
            <a:pPr>
              <a:defRPr/>
            </a:pPr>
            <a:r>
              <a:rPr lang="ru-RU"/>
              <a:t>Слайд </a:t>
            </a:r>
            <a:fld id="{27D497DD-A4B2-4E6F-A62E-E029AF255A7A}" type="slidenum">
              <a:rPr lang="ru-RU"/>
              <a:pPr>
                <a:defRPr/>
              </a:pPr>
              <a:t>‹#›</a:t>
            </a:fld>
            <a:endParaRPr lang="ru-RU"/>
          </a:p>
        </p:txBody>
      </p:sp>
    </p:spTree>
    <p:extLst>
      <p:ext uri="{BB962C8B-B14F-4D97-AF65-F5344CB8AC3E}">
        <p14:creationId xmlns:p14="http://schemas.microsoft.com/office/powerpoint/2010/main" val="2196109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6"/>
          <p:cNvSpPr>
            <a:spLocks noGrp="1" noChangeArrowheads="1"/>
          </p:cNvSpPr>
          <p:nvPr>
            <p:ph type="sldNum" sz="quarter" idx="10"/>
          </p:nvPr>
        </p:nvSpPr>
        <p:spPr>
          <a:ln/>
        </p:spPr>
        <p:txBody>
          <a:bodyPr/>
          <a:lstStyle>
            <a:lvl1pPr>
              <a:defRPr/>
            </a:lvl1pPr>
          </a:lstStyle>
          <a:p>
            <a:pPr>
              <a:defRPr/>
            </a:pPr>
            <a:r>
              <a:rPr lang="ru-RU"/>
              <a:t>Слайд </a:t>
            </a:r>
            <a:fld id="{B254B7F8-7478-46A6-AA7E-1FB659CD732B}" type="slidenum">
              <a:rPr lang="ru-RU"/>
              <a:pPr>
                <a:defRPr/>
              </a:pPr>
              <a:t>‹#›</a:t>
            </a:fld>
            <a:endParaRPr lang="ru-RU"/>
          </a:p>
        </p:txBody>
      </p:sp>
    </p:spTree>
    <p:extLst>
      <p:ext uri="{BB962C8B-B14F-4D97-AF65-F5344CB8AC3E}">
        <p14:creationId xmlns:p14="http://schemas.microsoft.com/office/powerpoint/2010/main" val="7897284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ru-RU"/>
              <a:t>Слайд </a:t>
            </a:r>
            <a:fld id="{7DCEE9E7-25AF-42DF-86F1-84EFCBA56EFC}" type="slidenum">
              <a:rPr lang="ru-RU"/>
              <a:pPr>
                <a:defRPr/>
              </a:pPr>
              <a:t>‹#›</a:t>
            </a:fld>
            <a:endParaRPr lang="ru-RU"/>
          </a:p>
        </p:txBody>
      </p:sp>
    </p:spTree>
    <p:extLst>
      <p:ext uri="{BB962C8B-B14F-4D97-AF65-F5344CB8AC3E}">
        <p14:creationId xmlns:p14="http://schemas.microsoft.com/office/powerpoint/2010/main" val="3869580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3050"/>
            <a:ext cx="3259138"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6"/>
          <p:cNvSpPr>
            <a:spLocks noGrp="1" noChangeArrowheads="1"/>
          </p:cNvSpPr>
          <p:nvPr>
            <p:ph type="sldNum" sz="quarter" idx="10"/>
          </p:nvPr>
        </p:nvSpPr>
        <p:spPr>
          <a:ln/>
        </p:spPr>
        <p:txBody>
          <a:bodyPr/>
          <a:lstStyle>
            <a:lvl1pPr>
              <a:defRPr/>
            </a:lvl1pPr>
          </a:lstStyle>
          <a:p>
            <a:pPr>
              <a:defRPr/>
            </a:pPr>
            <a:r>
              <a:rPr lang="ru-RU"/>
              <a:t>Слайд </a:t>
            </a:r>
            <a:fld id="{BC820D94-7D32-4C15-8440-67F8AB1A026F}" type="slidenum">
              <a:rPr lang="ru-RU"/>
              <a:pPr>
                <a:defRPr/>
              </a:pPr>
              <a:t>‹#›</a:t>
            </a:fld>
            <a:endParaRPr lang="ru-RU"/>
          </a:p>
        </p:txBody>
      </p:sp>
    </p:spTree>
    <p:extLst>
      <p:ext uri="{BB962C8B-B14F-4D97-AF65-F5344CB8AC3E}">
        <p14:creationId xmlns:p14="http://schemas.microsoft.com/office/powerpoint/2010/main" val="942294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41513" y="4800600"/>
            <a:ext cx="59436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6"/>
          <p:cNvSpPr>
            <a:spLocks noGrp="1" noChangeArrowheads="1"/>
          </p:cNvSpPr>
          <p:nvPr>
            <p:ph type="sldNum" sz="quarter" idx="10"/>
          </p:nvPr>
        </p:nvSpPr>
        <p:spPr>
          <a:ln/>
        </p:spPr>
        <p:txBody>
          <a:bodyPr/>
          <a:lstStyle>
            <a:lvl1pPr>
              <a:defRPr/>
            </a:lvl1pPr>
          </a:lstStyle>
          <a:p>
            <a:pPr>
              <a:defRPr/>
            </a:pPr>
            <a:r>
              <a:rPr lang="ru-RU"/>
              <a:t>Слайд </a:t>
            </a:r>
            <a:fld id="{72200ABA-DA4C-494C-9C34-F15D719BE5E8}" type="slidenum">
              <a:rPr lang="ru-RU"/>
              <a:pPr>
                <a:defRPr/>
              </a:pPr>
              <a:t>‹#›</a:t>
            </a:fld>
            <a:endParaRPr lang="ru-RU"/>
          </a:p>
        </p:txBody>
      </p:sp>
    </p:spTree>
    <p:extLst>
      <p:ext uri="{BB962C8B-B14F-4D97-AF65-F5344CB8AC3E}">
        <p14:creationId xmlns:p14="http://schemas.microsoft.com/office/powerpoint/2010/main" val="36600118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4EED46E6-4E81-4797-B0EF-6DD291D0746D}" type="slidenum">
              <a:rPr lang="ru-RU"/>
              <a:pPr>
                <a:defRPr/>
              </a:pPr>
              <a:t>‹#›</a:t>
            </a:fld>
            <a:endParaRPr lang="ru-RU"/>
          </a:p>
        </p:txBody>
      </p:sp>
    </p:spTree>
    <p:extLst>
      <p:ext uri="{BB962C8B-B14F-4D97-AF65-F5344CB8AC3E}">
        <p14:creationId xmlns:p14="http://schemas.microsoft.com/office/powerpoint/2010/main" val="10107414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162800" y="260350"/>
            <a:ext cx="2247900" cy="5865813"/>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15925" y="260350"/>
            <a:ext cx="6594475" cy="5865813"/>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6FC359C9-E7C6-4B36-A047-3CF84D00171C}" type="slidenum">
              <a:rPr lang="ru-RU"/>
              <a:pPr>
                <a:defRPr/>
              </a:pPr>
              <a:t>‹#›</a:t>
            </a:fld>
            <a:endParaRPr lang="ru-RU"/>
          </a:p>
        </p:txBody>
      </p:sp>
    </p:spTree>
    <p:extLst>
      <p:ext uri="{BB962C8B-B14F-4D97-AF65-F5344CB8AC3E}">
        <p14:creationId xmlns:p14="http://schemas.microsoft.com/office/powerpoint/2010/main" val="38233397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15925" y="260350"/>
            <a:ext cx="5616575" cy="576263"/>
          </a:xfrm>
        </p:spPr>
        <p:txBody>
          <a:bodyPr/>
          <a:lstStyle/>
          <a:p>
            <a:r>
              <a:rPr lang="ru-RU"/>
              <a:t>Образец заголовка</a:t>
            </a:r>
          </a:p>
        </p:txBody>
      </p:sp>
      <p:sp>
        <p:nvSpPr>
          <p:cNvPr id="3" name="Таблица 2"/>
          <p:cNvSpPr>
            <a:spLocks noGrp="1"/>
          </p:cNvSpPr>
          <p:nvPr>
            <p:ph type="tbl" idx="1"/>
          </p:nvPr>
        </p:nvSpPr>
        <p:spPr>
          <a:xfrm>
            <a:off x="495300" y="1125538"/>
            <a:ext cx="8915400" cy="5000625"/>
          </a:xfrm>
        </p:spPr>
        <p:txBody>
          <a:bodyPr/>
          <a:lstStyle/>
          <a:p>
            <a:pPr lvl="0"/>
            <a:endParaRPr lang="ru-RU" noProof="0"/>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425058C1-6B04-4E14-87F8-20FBFF008F35}" type="slidenum">
              <a:rPr lang="ru-RU"/>
              <a:pPr>
                <a:defRPr/>
              </a:pPr>
              <a:t>‹#›</a:t>
            </a:fld>
            <a:endParaRPr lang="ru-RU"/>
          </a:p>
        </p:txBody>
      </p:sp>
    </p:spTree>
    <p:extLst>
      <p:ext uri="{BB962C8B-B14F-4D97-AF65-F5344CB8AC3E}">
        <p14:creationId xmlns:p14="http://schemas.microsoft.com/office/powerpoint/2010/main" val="39501065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Объект">
    <p:spTree>
      <p:nvGrpSpPr>
        <p:cNvPr id="1" name=""/>
        <p:cNvGrpSpPr/>
        <p:nvPr/>
      </p:nvGrpSpPr>
      <p:grpSpPr>
        <a:xfrm>
          <a:off x="0" y="0"/>
          <a:ext cx="0" cy="0"/>
          <a:chOff x="0" y="0"/>
          <a:chExt cx="0" cy="0"/>
        </a:xfrm>
      </p:grpSpPr>
      <p:sp>
        <p:nvSpPr>
          <p:cNvPr id="2" name="Содержимое 1"/>
          <p:cNvSpPr>
            <a:spLocks noGrp="1"/>
          </p:cNvSpPr>
          <p:nvPr>
            <p:ph/>
          </p:nvPr>
        </p:nvSpPr>
        <p:spPr>
          <a:xfrm>
            <a:off x="415925" y="260350"/>
            <a:ext cx="8994775" cy="586581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3" name="Rectangle 6"/>
          <p:cNvSpPr>
            <a:spLocks noGrp="1" noChangeArrowheads="1"/>
          </p:cNvSpPr>
          <p:nvPr>
            <p:ph type="sldNum" sz="quarter" idx="10"/>
          </p:nvPr>
        </p:nvSpPr>
        <p:spPr>
          <a:ln/>
        </p:spPr>
        <p:txBody>
          <a:bodyPr/>
          <a:lstStyle>
            <a:lvl1pPr>
              <a:defRPr/>
            </a:lvl1pPr>
          </a:lstStyle>
          <a:p>
            <a:pPr>
              <a:defRPr/>
            </a:pPr>
            <a:r>
              <a:rPr lang="ru-RU"/>
              <a:t>Слайд </a:t>
            </a:r>
            <a:fld id="{CC501A47-8E3C-4C6A-9557-E6B3E128E068}" type="slidenum">
              <a:rPr lang="ru-RU"/>
              <a:pPr>
                <a:defRPr/>
              </a:pPr>
              <a:t>‹#›</a:t>
            </a:fld>
            <a:endParaRPr lang="ru-RU"/>
          </a:p>
        </p:txBody>
      </p:sp>
    </p:spTree>
    <p:extLst>
      <p:ext uri="{BB962C8B-B14F-4D97-AF65-F5344CB8AC3E}">
        <p14:creationId xmlns:p14="http://schemas.microsoft.com/office/powerpoint/2010/main" val="2925935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emf"/><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oleObject" Target="../embeddings/oleObject2.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2395"/>
        </a:solidFill>
        <a:effectLst/>
      </p:bgPr>
    </p:bg>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bwMode="auto">
          <a:xfrm>
            <a:off x="508000" y="2708275"/>
            <a:ext cx="883602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8" rIns="91434" bIns="45718" numCol="1" anchor="ctr" anchorCtr="0" compatLnSpc="1">
            <a:prstTxWarp prst="textNoShape">
              <a:avLst/>
            </a:prstTxWarp>
          </a:bodyPr>
          <a:lstStyle/>
          <a:p>
            <a:pPr lvl="0"/>
            <a:r>
              <a:rPr lang="ru-RU" altLang="ru-RU"/>
              <a:t>Заголовок </a:t>
            </a:r>
            <a:br>
              <a:rPr lang="ru-RU" altLang="ru-RU"/>
            </a:br>
            <a:r>
              <a:rPr lang="ru-RU" altLang="ru-RU"/>
              <a:t>презентации</a:t>
            </a:r>
          </a:p>
        </p:txBody>
      </p:sp>
      <p:sp>
        <p:nvSpPr>
          <p:cNvPr id="1029" name="Rectangle 3"/>
          <p:cNvSpPr>
            <a:spLocks noGrp="1" noChangeArrowheads="1"/>
          </p:cNvSpPr>
          <p:nvPr>
            <p:ph type="body" idx="1"/>
          </p:nvPr>
        </p:nvSpPr>
        <p:spPr bwMode="auto">
          <a:xfrm>
            <a:off x="495300" y="6238875"/>
            <a:ext cx="89154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8" rIns="91434" bIns="45718" numCol="1" anchor="t" anchorCtr="0" compatLnSpc="1">
            <a:prstTxWarp prst="textNoShape">
              <a:avLst/>
            </a:prstTxWarp>
          </a:bodyPr>
          <a:lstStyle/>
          <a:p>
            <a:pPr lvl="0"/>
            <a:endParaRPr lang="ru-RU" altLang="ru-RU"/>
          </a:p>
        </p:txBody>
      </p:sp>
      <p:graphicFrame>
        <p:nvGraphicFramePr>
          <p:cNvPr id="1026" name="Object 12"/>
          <p:cNvGraphicFramePr>
            <a:graphicFrameLocks noChangeAspect="1"/>
          </p:cNvGraphicFramePr>
          <p:nvPr/>
        </p:nvGraphicFramePr>
        <p:xfrm>
          <a:off x="5459413" y="404813"/>
          <a:ext cx="4140200" cy="711200"/>
        </p:xfrm>
        <a:graphic>
          <a:graphicData uri="http://schemas.openxmlformats.org/presentationml/2006/ole">
            <mc:AlternateContent xmlns:mc="http://schemas.openxmlformats.org/markup-compatibility/2006">
              <mc:Choice xmlns:v="urn:schemas-microsoft-com:vml" Requires="v">
                <p:oleObj name="CorelDRAW" r:id="rId14" imgW="3912480" imgH="671760" progId="">
                  <p:embed/>
                </p:oleObj>
              </mc:Choice>
              <mc:Fallback>
                <p:oleObj name="CorelDRAW" r:id="rId14" imgW="3912480" imgH="671760" progId="">
                  <p:embed/>
                  <p:pic>
                    <p:nvPicPr>
                      <p:cNvPr id="0" name="Picture 1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59413" y="404813"/>
                        <a:ext cx="4140200" cy="7112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40" name="Rectangle 16"/>
          <p:cNvSpPr>
            <a:spLocks noChangeArrowheads="1"/>
          </p:cNvSpPr>
          <p:nvPr/>
        </p:nvSpPr>
        <p:spPr bwMode="auto">
          <a:xfrm>
            <a:off x="0" y="1339850"/>
            <a:ext cx="9906000" cy="73025"/>
          </a:xfrm>
          <a:prstGeom prst="rect">
            <a:avLst/>
          </a:prstGeom>
          <a:solidFill>
            <a:srgbClr val="DA5800"/>
          </a:solidFill>
          <a:ln w="9525">
            <a:noFill/>
            <a:miter lim="800000"/>
            <a:headEnd/>
            <a:tailEnd/>
          </a:ln>
          <a:effectLst/>
        </p:spPr>
        <p:txBody>
          <a:bodyPr wrap="none" anchor="ctr"/>
          <a:lstStyle/>
          <a:p>
            <a:pPr>
              <a:defRPr/>
            </a:pPr>
            <a:endParaRPr lang="ru-RU"/>
          </a:p>
        </p:txBody>
      </p:sp>
      <p:sp>
        <p:nvSpPr>
          <p:cNvPr id="1041" name="Rectangle 17"/>
          <p:cNvSpPr>
            <a:spLocks noChangeArrowheads="1"/>
          </p:cNvSpPr>
          <p:nvPr/>
        </p:nvSpPr>
        <p:spPr bwMode="auto">
          <a:xfrm>
            <a:off x="0" y="6165850"/>
            <a:ext cx="9906000" cy="36513"/>
          </a:xfrm>
          <a:prstGeom prst="rect">
            <a:avLst/>
          </a:prstGeom>
          <a:solidFill>
            <a:srgbClr val="DA5800"/>
          </a:solidFill>
          <a:ln w="9525">
            <a:noFill/>
            <a:miter lim="800000"/>
            <a:headEnd/>
            <a:tailEnd/>
          </a:ln>
          <a:effectLst/>
        </p:spPr>
        <p:txBody>
          <a:bodyPr wrap="none" anchor="ctr"/>
          <a:lstStyle/>
          <a:p>
            <a:pPr>
              <a:defRPr/>
            </a:pPr>
            <a:endParaRPr lang="ru-RU"/>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hdr="0" ftr="0" dt="0"/>
  <p:txStyles>
    <p:titleStyle>
      <a:lvl1pPr algn="ctr" rtl="0" eaLnBrk="0" fontAlgn="base" hangingPunct="0">
        <a:lnSpc>
          <a:spcPct val="75000"/>
        </a:lnSpc>
        <a:spcBef>
          <a:spcPct val="0"/>
        </a:spcBef>
        <a:spcAft>
          <a:spcPct val="0"/>
        </a:spcAft>
        <a:defRPr sz="5000">
          <a:solidFill>
            <a:schemeClr val="bg1"/>
          </a:solidFill>
          <a:latin typeface="+mj-lt"/>
          <a:ea typeface="+mj-ea"/>
          <a:cs typeface="+mj-cs"/>
        </a:defRPr>
      </a:lvl1pPr>
      <a:lvl2pPr algn="ctr" rtl="0" eaLnBrk="0" fontAlgn="base" hangingPunct="0">
        <a:lnSpc>
          <a:spcPct val="75000"/>
        </a:lnSpc>
        <a:spcBef>
          <a:spcPct val="0"/>
        </a:spcBef>
        <a:spcAft>
          <a:spcPct val="0"/>
        </a:spcAft>
        <a:defRPr sz="5000">
          <a:solidFill>
            <a:schemeClr val="bg1"/>
          </a:solidFill>
          <a:latin typeface="Myriad Pro Light" pitchFamily="34" charset="0"/>
        </a:defRPr>
      </a:lvl2pPr>
      <a:lvl3pPr algn="ctr" rtl="0" eaLnBrk="0" fontAlgn="base" hangingPunct="0">
        <a:lnSpc>
          <a:spcPct val="75000"/>
        </a:lnSpc>
        <a:spcBef>
          <a:spcPct val="0"/>
        </a:spcBef>
        <a:spcAft>
          <a:spcPct val="0"/>
        </a:spcAft>
        <a:defRPr sz="5000">
          <a:solidFill>
            <a:schemeClr val="bg1"/>
          </a:solidFill>
          <a:latin typeface="Myriad Pro Light" pitchFamily="34" charset="0"/>
        </a:defRPr>
      </a:lvl3pPr>
      <a:lvl4pPr algn="ctr" rtl="0" eaLnBrk="0" fontAlgn="base" hangingPunct="0">
        <a:lnSpc>
          <a:spcPct val="75000"/>
        </a:lnSpc>
        <a:spcBef>
          <a:spcPct val="0"/>
        </a:spcBef>
        <a:spcAft>
          <a:spcPct val="0"/>
        </a:spcAft>
        <a:defRPr sz="5000">
          <a:solidFill>
            <a:schemeClr val="bg1"/>
          </a:solidFill>
          <a:latin typeface="Myriad Pro Light" pitchFamily="34" charset="0"/>
        </a:defRPr>
      </a:lvl4pPr>
      <a:lvl5pPr algn="ctr" rtl="0" eaLnBrk="0" fontAlgn="base" hangingPunct="0">
        <a:lnSpc>
          <a:spcPct val="75000"/>
        </a:lnSpc>
        <a:spcBef>
          <a:spcPct val="0"/>
        </a:spcBef>
        <a:spcAft>
          <a:spcPct val="0"/>
        </a:spcAft>
        <a:defRPr sz="5000">
          <a:solidFill>
            <a:schemeClr val="bg1"/>
          </a:solidFill>
          <a:latin typeface="Myriad Pro Light" pitchFamily="34" charset="0"/>
        </a:defRPr>
      </a:lvl5pPr>
      <a:lvl6pPr marL="457200" algn="ctr" rtl="0" fontAlgn="base">
        <a:lnSpc>
          <a:spcPct val="75000"/>
        </a:lnSpc>
        <a:spcBef>
          <a:spcPct val="0"/>
        </a:spcBef>
        <a:spcAft>
          <a:spcPct val="0"/>
        </a:spcAft>
        <a:defRPr sz="5000">
          <a:solidFill>
            <a:schemeClr val="bg1"/>
          </a:solidFill>
          <a:latin typeface="Myriad Pro Light" pitchFamily="34" charset="0"/>
        </a:defRPr>
      </a:lvl6pPr>
      <a:lvl7pPr marL="914400" algn="ctr" rtl="0" fontAlgn="base">
        <a:lnSpc>
          <a:spcPct val="75000"/>
        </a:lnSpc>
        <a:spcBef>
          <a:spcPct val="0"/>
        </a:spcBef>
        <a:spcAft>
          <a:spcPct val="0"/>
        </a:spcAft>
        <a:defRPr sz="5000">
          <a:solidFill>
            <a:schemeClr val="bg1"/>
          </a:solidFill>
          <a:latin typeface="Myriad Pro Light" pitchFamily="34" charset="0"/>
        </a:defRPr>
      </a:lvl7pPr>
      <a:lvl8pPr marL="1371600" algn="ctr" rtl="0" fontAlgn="base">
        <a:lnSpc>
          <a:spcPct val="75000"/>
        </a:lnSpc>
        <a:spcBef>
          <a:spcPct val="0"/>
        </a:spcBef>
        <a:spcAft>
          <a:spcPct val="0"/>
        </a:spcAft>
        <a:defRPr sz="5000">
          <a:solidFill>
            <a:schemeClr val="bg1"/>
          </a:solidFill>
          <a:latin typeface="Myriad Pro Light" pitchFamily="34" charset="0"/>
        </a:defRPr>
      </a:lvl8pPr>
      <a:lvl9pPr marL="1828800" algn="ctr" rtl="0" fontAlgn="base">
        <a:lnSpc>
          <a:spcPct val="75000"/>
        </a:lnSpc>
        <a:spcBef>
          <a:spcPct val="0"/>
        </a:spcBef>
        <a:spcAft>
          <a:spcPct val="0"/>
        </a:spcAft>
        <a:defRPr sz="5000">
          <a:solidFill>
            <a:schemeClr val="bg1"/>
          </a:solidFill>
          <a:latin typeface="Myriad Pro Light" pitchFamily="34" charset="0"/>
        </a:defRPr>
      </a:lvl9pPr>
    </p:titleStyle>
    <p:bodyStyle>
      <a:lvl1pPr marL="342900" indent="-342900" algn="l" rtl="0" eaLnBrk="0" fontAlgn="base" hangingPunct="0">
        <a:spcBef>
          <a:spcPct val="20000"/>
        </a:spcBef>
        <a:spcAft>
          <a:spcPct val="0"/>
        </a:spcAft>
        <a:defRPr>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charset="0"/>
        </a:defRPr>
      </a:lvl2pPr>
      <a:lvl3pPr marL="1143000" indent="-228600" algn="l" rtl="0" eaLnBrk="0" fontAlgn="base" hangingPunct="0">
        <a:spcBef>
          <a:spcPct val="20000"/>
        </a:spcBef>
        <a:spcAft>
          <a:spcPct val="0"/>
        </a:spcAft>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643" name="Rectangle 19"/>
          <p:cNvSpPr>
            <a:spLocks noChangeArrowheads="1"/>
          </p:cNvSpPr>
          <p:nvPr/>
        </p:nvSpPr>
        <p:spPr bwMode="auto">
          <a:xfrm>
            <a:off x="0" y="0"/>
            <a:ext cx="9906000" cy="908050"/>
          </a:xfrm>
          <a:prstGeom prst="rect">
            <a:avLst/>
          </a:prstGeom>
          <a:solidFill>
            <a:srgbClr val="002395"/>
          </a:solidFill>
          <a:ln w="9525">
            <a:noFill/>
            <a:miter lim="800000"/>
            <a:headEnd/>
            <a:tailEnd/>
          </a:ln>
          <a:effectLst/>
        </p:spPr>
        <p:txBody>
          <a:bodyPr wrap="none" anchor="ctr"/>
          <a:lstStyle/>
          <a:p>
            <a:pPr>
              <a:defRPr/>
            </a:pPr>
            <a:endParaRPr lang="ru-RU"/>
          </a:p>
        </p:txBody>
      </p:sp>
      <p:sp>
        <p:nvSpPr>
          <p:cNvPr id="2053" name="Rectangle 2"/>
          <p:cNvSpPr>
            <a:spLocks noGrp="1" noChangeArrowheads="1"/>
          </p:cNvSpPr>
          <p:nvPr>
            <p:ph type="title"/>
          </p:nvPr>
        </p:nvSpPr>
        <p:spPr bwMode="auto">
          <a:xfrm>
            <a:off x="415925" y="26035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34" tIns="45718" rIns="91434" bIns="45718" numCol="1" anchor="ctr" anchorCtr="0" compatLnSpc="1">
            <a:prstTxWarp prst="textNoShape">
              <a:avLst/>
            </a:prstTxWarp>
          </a:bodyPr>
          <a:lstStyle/>
          <a:p>
            <a:pPr lvl="0"/>
            <a:r>
              <a:rPr lang="ru-RU" altLang="ru-RU"/>
              <a:t>Заголовок страницы</a:t>
            </a:r>
          </a:p>
        </p:txBody>
      </p:sp>
      <p:sp>
        <p:nvSpPr>
          <p:cNvPr id="2054" name="Rectangle 3"/>
          <p:cNvSpPr>
            <a:spLocks noGrp="1" noChangeArrowheads="1"/>
          </p:cNvSpPr>
          <p:nvPr>
            <p:ph type="body" idx="1"/>
          </p:nvPr>
        </p:nvSpPr>
        <p:spPr bwMode="auto">
          <a:xfrm>
            <a:off x="495300" y="1125538"/>
            <a:ext cx="89154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ru-RU"/>
              <a:t>Образец заголовка</a:t>
            </a:r>
          </a:p>
          <a:p>
            <a:pPr lvl="1"/>
            <a:r>
              <a:rPr lang="ru-RU" altLang="ru-RU"/>
              <a:t>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a:t>
            </a:r>
          </a:p>
          <a:p>
            <a:pPr lvl="2"/>
            <a:r>
              <a:rPr lang="ru-RU" altLang="ru-RU"/>
              <a:t>Список 1</a:t>
            </a:r>
          </a:p>
          <a:p>
            <a:pPr lvl="3"/>
            <a:r>
              <a:rPr lang="ru-RU" altLang="ru-RU"/>
              <a:t>Список 2</a:t>
            </a:r>
          </a:p>
          <a:p>
            <a:pPr lvl="4"/>
            <a:r>
              <a:rPr lang="ru-RU" altLang="ru-RU"/>
              <a:t>Пятый уровень</a:t>
            </a:r>
          </a:p>
        </p:txBody>
      </p:sp>
      <p:sp>
        <p:nvSpPr>
          <p:cNvPr id="26630" name="Rectangle 6"/>
          <p:cNvSpPr>
            <a:spLocks noGrp="1" noChangeArrowheads="1"/>
          </p:cNvSpPr>
          <p:nvPr>
            <p:ph type="sldNum" sz="quarter" idx="4"/>
          </p:nvPr>
        </p:nvSpPr>
        <p:spPr bwMode="auto">
          <a:xfrm>
            <a:off x="7099300" y="6453188"/>
            <a:ext cx="2311400" cy="26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002395"/>
                </a:solidFill>
                <a:latin typeface="+mn-lt"/>
              </a:defRPr>
            </a:lvl1pPr>
          </a:lstStyle>
          <a:p>
            <a:pPr>
              <a:defRPr/>
            </a:pPr>
            <a:r>
              <a:rPr lang="ru-RU"/>
              <a:t>Слайд </a:t>
            </a:r>
            <a:fld id="{7DF56EA3-43C7-46F1-8E69-8FB710BE3B7A}" type="slidenum">
              <a:rPr lang="ru-RU"/>
              <a:pPr>
                <a:defRPr/>
              </a:pPr>
              <a:t>‹#›</a:t>
            </a:fld>
            <a:endParaRPr lang="ru-RU"/>
          </a:p>
        </p:txBody>
      </p:sp>
      <p:graphicFrame>
        <p:nvGraphicFramePr>
          <p:cNvPr id="2050" name="Object 20"/>
          <p:cNvGraphicFramePr>
            <a:graphicFrameLocks noChangeAspect="1"/>
          </p:cNvGraphicFramePr>
          <p:nvPr/>
        </p:nvGraphicFramePr>
        <p:xfrm>
          <a:off x="6392863" y="260350"/>
          <a:ext cx="3205162" cy="552450"/>
        </p:xfrm>
        <a:graphic>
          <a:graphicData uri="http://schemas.openxmlformats.org/presentationml/2006/ole">
            <mc:AlternateContent xmlns:mc="http://schemas.openxmlformats.org/markup-compatibility/2006">
              <mc:Choice xmlns:v="urn:schemas-microsoft-com:vml" Requires="v">
                <p:oleObj name="CorelDRAW" r:id="rId15" imgW="3912480" imgH="671760" progId="">
                  <p:embed/>
                </p:oleObj>
              </mc:Choice>
              <mc:Fallback>
                <p:oleObj name="CorelDRAW" r:id="rId15" imgW="3912480" imgH="671760" progId="">
                  <p:embed/>
                  <p:pic>
                    <p:nvPicPr>
                      <p:cNvPr id="0" name="Picture 1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92863" y="260350"/>
                        <a:ext cx="3205162" cy="55245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6645" name="Rectangle 21"/>
          <p:cNvSpPr>
            <a:spLocks noChangeArrowheads="1"/>
          </p:cNvSpPr>
          <p:nvPr/>
        </p:nvSpPr>
        <p:spPr bwMode="auto">
          <a:xfrm>
            <a:off x="0" y="908050"/>
            <a:ext cx="9906000" cy="73025"/>
          </a:xfrm>
          <a:prstGeom prst="rect">
            <a:avLst/>
          </a:prstGeom>
          <a:solidFill>
            <a:srgbClr val="DA5800"/>
          </a:solidFill>
          <a:ln w="9525">
            <a:noFill/>
            <a:miter lim="800000"/>
            <a:headEnd/>
            <a:tailEnd/>
          </a:ln>
          <a:effectLst/>
        </p:spPr>
        <p:txBody>
          <a:bodyPr wrap="none" anchor="ctr"/>
          <a:lstStyle/>
          <a:p>
            <a:pPr>
              <a:defRPr/>
            </a:pPr>
            <a:endParaRPr lang="ru-RU"/>
          </a:p>
        </p:txBody>
      </p:sp>
      <p:sp>
        <p:nvSpPr>
          <p:cNvPr id="26648" name="Rectangle 24"/>
          <p:cNvSpPr>
            <a:spLocks noChangeArrowheads="1"/>
          </p:cNvSpPr>
          <p:nvPr/>
        </p:nvSpPr>
        <p:spPr bwMode="auto">
          <a:xfrm>
            <a:off x="0" y="6381750"/>
            <a:ext cx="9906000" cy="36513"/>
          </a:xfrm>
          <a:prstGeom prst="rect">
            <a:avLst/>
          </a:prstGeom>
          <a:solidFill>
            <a:srgbClr val="DA5800"/>
          </a:solidFill>
          <a:ln w="9525">
            <a:noFill/>
            <a:miter lim="800000"/>
            <a:headEnd/>
            <a:tailEnd/>
          </a:ln>
          <a:effectLst/>
        </p:spPr>
        <p:txBody>
          <a:bodyPr wrap="none" anchor="ctr"/>
          <a:lstStyle/>
          <a:p>
            <a:pPr>
              <a:defRPr/>
            </a:pPr>
            <a:endParaRPr lang="ru-RU"/>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lvl1pPr algn="l" rtl="0" eaLnBrk="0" fontAlgn="base" hangingPunct="0">
        <a:lnSpc>
          <a:spcPct val="95000"/>
        </a:lnSpc>
        <a:spcBef>
          <a:spcPct val="0"/>
        </a:spcBef>
        <a:spcAft>
          <a:spcPct val="0"/>
        </a:spcAft>
        <a:defRPr sz="2000" b="1">
          <a:solidFill>
            <a:schemeClr val="bg1"/>
          </a:solidFill>
          <a:latin typeface="+mj-lt"/>
          <a:ea typeface="+mj-ea"/>
          <a:cs typeface="+mj-cs"/>
        </a:defRPr>
      </a:lvl1pPr>
      <a:lvl2pPr algn="l" rtl="0" eaLnBrk="0" fontAlgn="base" hangingPunct="0">
        <a:lnSpc>
          <a:spcPct val="95000"/>
        </a:lnSpc>
        <a:spcBef>
          <a:spcPct val="0"/>
        </a:spcBef>
        <a:spcAft>
          <a:spcPct val="0"/>
        </a:spcAft>
        <a:defRPr sz="2000" b="1">
          <a:solidFill>
            <a:schemeClr val="bg1"/>
          </a:solidFill>
          <a:latin typeface="Myriad Pro" pitchFamily="34" charset="0"/>
        </a:defRPr>
      </a:lvl2pPr>
      <a:lvl3pPr algn="l" rtl="0" eaLnBrk="0" fontAlgn="base" hangingPunct="0">
        <a:lnSpc>
          <a:spcPct val="95000"/>
        </a:lnSpc>
        <a:spcBef>
          <a:spcPct val="0"/>
        </a:spcBef>
        <a:spcAft>
          <a:spcPct val="0"/>
        </a:spcAft>
        <a:defRPr sz="2000" b="1">
          <a:solidFill>
            <a:schemeClr val="bg1"/>
          </a:solidFill>
          <a:latin typeface="Myriad Pro" pitchFamily="34" charset="0"/>
        </a:defRPr>
      </a:lvl3pPr>
      <a:lvl4pPr algn="l" rtl="0" eaLnBrk="0" fontAlgn="base" hangingPunct="0">
        <a:lnSpc>
          <a:spcPct val="95000"/>
        </a:lnSpc>
        <a:spcBef>
          <a:spcPct val="0"/>
        </a:spcBef>
        <a:spcAft>
          <a:spcPct val="0"/>
        </a:spcAft>
        <a:defRPr sz="2000" b="1">
          <a:solidFill>
            <a:schemeClr val="bg1"/>
          </a:solidFill>
          <a:latin typeface="Myriad Pro" pitchFamily="34" charset="0"/>
        </a:defRPr>
      </a:lvl4pPr>
      <a:lvl5pPr algn="l" rtl="0" eaLnBrk="0" fontAlgn="base" hangingPunct="0">
        <a:lnSpc>
          <a:spcPct val="95000"/>
        </a:lnSpc>
        <a:spcBef>
          <a:spcPct val="0"/>
        </a:spcBef>
        <a:spcAft>
          <a:spcPct val="0"/>
        </a:spcAft>
        <a:defRPr sz="2000" b="1">
          <a:solidFill>
            <a:schemeClr val="bg1"/>
          </a:solidFill>
          <a:latin typeface="Myriad Pro" pitchFamily="34" charset="0"/>
        </a:defRPr>
      </a:lvl5pPr>
      <a:lvl6pPr marL="457200" algn="l" rtl="0" fontAlgn="base">
        <a:lnSpc>
          <a:spcPct val="95000"/>
        </a:lnSpc>
        <a:spcBef>
          <a:spcPct val="0"/>
        </a:spcBef>
        <a:spcAft>
          <a:spcPct val="0"/>
        </a:spcAft>
        <a:defRPr sz="2000" b="1">
          <a:solidFill>
            <a:schemeClr val="bg1"/>
          </a:solidFill>
          <a:latin typeface="Myriad Pro" pitchFamily="34" charset="0"/>
        </a:defRPr>
      </a:lvl6pPr>
      <a:lvl7pPr marL="914400" algn="l" rtl="0" fontAlgn="base">
        <a:lnSpc>
          <a:spcPct val="95000"/>
        </a:lnSpc>
        <a:spcBef>
          <a:spcPct val="0"/>
        </a:spcBef>
        <a:spcAft>
          <a:spcPct val="0"/>
        </a:spcAft>
        <a:defRPr sz="2000" b="1">
          <a:solidFill>
            <a:schemeClr val="bg1"/>
          </a:solidFill>
          <a:latin typeface="Myriad Pro" pitchFamily="34" charset="0"/>
        </a:defRPr>
      </a:lvl7pPr>
      <a:lvl8pPr marL="1371600" algn="l" rtl="0" fontAlgn="base">
        <a:lnSpc>
          <a:spcPct val="95000"/>
        </a:lnSpc>
        <a:spcBef>
          <a:spcPct val="0"/>
        </a:spcBef>
        <a:spcAft>
          <a:spcPct val="0"/>
        </a:spcAft>
        <a:defRPr sz="2000" b="1">
          <a:solidFill>
            <a:schemeClr val="bg1"/>
          </a:solidFill>
          <a:latin typeface="Myriad Pro" pitchFamily="34" charset="0"/>
        </a:defRPr>
      </a:lvl8pPr>
      <a:lvl9pPr marL="1828800" algn="l" rtl="0" fontAlgn="base">
        <a:lnSpc>
          <a:spcPct val="95000"/>
        </a:lnSpc>
        <a:spcBef>
          <a:spcPct val="0"/>
        </a:spcBef>
        <a:spcAft>
          <a:spcPct val="0"/>
        </a:spcAft>
        <a:defRPr sz="2000" b="1">
          <a:solidFill>
            <a:schemeClr val="bg1"/>
          </a:solidFill>
          <a:latin typeface="Myriad Pro" pitchFamily="34" charset="0"/>
        </a:defRPr>
      </a:lvl9pPr>
    </p:titleStyle>
    <p:bodyStyle>
      <a:lvl1pPr marL="342900" indent="-342900" algn="l" rtl="0" eaLnBrk="0" fontAlgn="base" hangingPunct="0">
        <a:spcBef>
          <a:spcPct val="20000"/>
        </a:spcBef>
        <a:spcAft>
          <a:spcPct val="0"/>
        </a:spcAft>
        <a:defRPr sz="2000" b="1">
          <a:solidFill>
            <a:srgbClr val="002395"/>
          </a:solidFill>
          <a:latin typeface="+mn-lt"/>
          <a:ea typeface="+mn-ea"/>
          <a:cs typeface="+mn-cs"/>
        </a:defRPr>
      </a:lvl1pPr>
      <a:lvl2pPr marL="179388" indent="277813" algn="l" rtl="0" eaLnBrk="0" fontAlgn="base" hangingPunct="0">
        <a:spcBef>
          <a:spcPct val="20000"/>
        </a:spcBef>
        <a:spcAft>
          <a:spcPct val="0"/>
        </a:spcAft>
        <a:defRPr sz="1600">
          <a:solidFill>
            <a:schemeClr val="tx1"/>
          </a:solidFill>
          <a:latin typeface="+mn-lt"/>
        </a:defRPr>
      </a:lvl2pPr>
      <a:lvl3pPr marL="533400" indent="-174625" algn="l" rtl="0" eaLnBrk="0" fontAlgn="base" hangingPunct="0">
        <a:spcBef>
          <a:spcPct val="20000"/>
        </a:spcBef>
        <a:spcAft>
          <a:spcPct val="0"/>
        </a:spcAft>
        <a:buClr>
          <a:srgbClr val="DA5800"/>
        </a:buClr>
        <a:buFont typeface="Wingdings" pitchFamily="2" charset="2"/>
        <a:buChar char="§"/>
        <a:defRPr sz="1600">
          <a:solidFill>
            <a:schemeClr val="tx1"/>
          </a:solidFill>
          <a:latin typeface="+mn-lt"/>
        </a:defRPr>
      </a:lvl3pPr>
      <a:lvl4pPr marL="901700" indent="-188913" algn="l" rtl="0" eaLnBrk="0" fontAlgn="base" hangingPunct="0">
        <a:spcBef>
          <a:spcPct val="20000"/>
        </a:spcBef>
        <a:spcAft>
          <a:spcPct val="0"/>
        </a:spcAft>
        <a:buClr>
          <a:srgbClr val="002395"/>
        </a:buClr>
        <a:buFont typeface="Wingdings" pitchFamily="2" charset="2"/>
        <a:buChar char="§"/>
        <a:defRPr sz="1400">
          <a:solidFill>
            <a:schemeClr val="tx1"/>
          </a:solidFill>
          <a:latin typeface="+mn-lt"/>
        </a:defRPr>
      </a:lvl4pPr>
      <a:lvl5pPr marL="2109788" indent="-228600" algn="l" rtl="0" eaLnBrk="0" fontAlgn="base" hangingPunct="0">
        <a:spcBef>
          <a:spcPct val="20000"/>
        </a:spcBef>
        <a:spcAft>
          <a:spcPct val="0"/>
        </a:spcAft>
        <a:buChar char="»"/>
        <a:defRPr sz="2000">
          <a:solidFill>
            <a:schemeClr val="tx1"/>
          </a:solidFill>
          <a:latin typeface="+mn-lt"/>
        </a:defRPr>
      </a:lvl5pPr>
      <a:lvl6pPr marL="2566988" indent="-228600" algn="l" rtl="0" fontAlgn="base">
        <a:spcBef>
          <a:spcPct val="20000"/>
        </a:spcBef>
        <a:spcAft>
          <a:spcPct val="0"/>
        </a:spcAft>
        <a:buChar char="»"/>
        <a:defRPr sz="2000">
          <a:solidFill>
            <a:schemeClr val="tx1"/>
          </a:solidFill>
          <a:latin typeface="+mn-lt"/>
        </a:defRPr>
      </a:lvl6pPr>
      <a:lvl7pPr marL="3024188" indent="-228600" algn="l" rtl="0" fontAlgn="base">
        <a:spcBef>
          <a:spcPct val="20000"/>
        </a:spcBef>
        <a:spcAft>
          <a:spcPct val="0"/>
        </a:spcAft>
        <a:buChar char="»"/>
        <a:defRPr sz="2000">
          <a:solidFill>
            <a:schemeClr val="tx1"/>
          </a:solidFill>
          <a:latin typeface="+mn-lt"/>
        </a:defRPr>
      </a:lvl7pPr>
      <a:lvl8pPr marL="3481388" indent="-228600" algn="l" rtl="0" fontAlgn="base">
        <a:spcBef>
          <a:spcPct val="20000"/>
        </a:spcBef>
        <a:spcAft>
          <a:spcPct val="0"/>
        </a:spcAft>
        <a:buChar char="»"/>
        <a:defRPr sz="2000">
          <a:solidFill>
            <a:schemeClr val="tx1"/>
          </a:solidFill>
          <a:latin typeface="+mn-lt"/>
        </a:defRPr>
      </a:lvl8pPr>
      <a:lvl9pPr marL="3938588"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9.xml"/><Relationship Id="rId5" Type="http://schemas.openxmlformats.org/officeDocument/2006/relationships/image" Target="../media/image14.jpe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p:cNvSpPr/>
          <p:nvPr/>
        </p:nvSpPr>
        <p:spPr>
          <a:xfrm>
            <a:off x="0" y="0"/>
            <a:ext cx="9906000" cy="42862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75" name="Rectangle 2"/>
          <p:cNvSpPr>
            <a:spLocks noGrp="1" noChangeArrowheads="1"/>
          </p:cNvSpPr>
          <p:nvPr>
            <p:ph type="title"/>
          </p:nvPr>
        </p:nvSpPr>
        <p:spPr>
          <a:xfrm>
            <a:off x="0" y="1844824"/>
            <a:ext cx="9906000" cy="2016223"/>
          </a:xfrm>
          <a:solidFill>
            <a:srgbClr val="002395"/>
          </a:solidFill>
        </p:spPr>
        <p:txBody>
          <a:bodyPr/>
          <a:lstStyle/>
          <a:p>
            <a:pPr algn="l" eaLnBrk="1" hangingPunct="1">
              <a:lnSpc>
                <a:spcPct val="100000"/>
              </a:lnSpc>
              <a:spcBef>
                <a:spcPts val="1200"/>
              </a:spcBef>
              <a:spcAft>
                <a:spcPts val="1800"/>
              </a:spcAft>
            </a:pPr>
            <a:r>
              <a:rPr lang="ru-RU" sz="3600" b="1" dirty="0"/>
              <a:t>Имидж компании: ПСБ.</a:t>
            </a:r>
            <a:br>
              <a:rPr lang="ru-RU" sz="3200" b="1" dirty="0"/>
            </a:br>
            <a:br>
              <a:rPr lang="ru-RU" sz="3200" b="1" dirty="0"/>
            </a:br>
            <a:r>
              <a:rPr lang="ru-RU" sz="3200" b="1" dirty="0"/>
              <a:t>                                    </a:t>
            </a:r>
            <a:r>
              <a:rPr lang="ru-RU" sz="2800" b="1" dirty="0"/>
              <a:t>ББМО-01-25      Голованов К.Е.</a:t>
            </a:r>
            <a:br>
              <a:rPr lang="ru-RU" sz="2800" b="1" dirty="0"/>
            </a:br>
            <a:r>
              <a:rPr lang="ru-RU" sz="2800" b="1" dirty="0"/>
              <a:t>                                                                   Железняков Р.А.</a:t>
            </a:r>
          </a:p>
        </p:txBody>
      </p:sp>
      <p:pic>
        <p:nvPicPr>
          <p:cNvPr id="7" name="Picture 2"/>
          <p:cNvPicPr>
            <a:picLocks noChangeAspect="1" noChangeArrowheads="1"/>
          </p:cNvPicPr>
          <p:nvPr/>
        </p:nvPicPr>
        <p:blipFill>
          <a:blip r:embed="rId3" cstate="print"/>
          <a:srcRect/>
          <a:stretch>
            <a:fillRect/>
          </a:stretch>
        </p:blipFill>
        <p:spPr bwMode="auto">
          <a:xfrm>
            <a:off x="0" y="3861048"/>
            <a:ext cx="9906000" cy="2571745"/>
          </a:xfrm>
          <a:prstGeom prst="rect">
            <a:avLst/>
          </a:prstGeom>
          <a:noFill/>
          <a:ln w="9525">
            <a:noFill/>
            <a:miter lim="800000"/>
            <a:headEnd/>
            <a:tailEnd/>
          </a:ln>
        </p:spPr>
      </p:pic>
      <p:pic>
        <p:nvPicPr>
          <p:cNvPr id="3074" name="Picture 2" descr="Корпоративный стиль, логотип, руководство по использованию фирменного стиля">
            <a:extLst>
              <a:ext uri="{FF2B5EF4-FFF2-40B4-BE49-F238E27FC236}">
                <a16:creationId xmlns:a16="http://schemas.microsoft.com/office/drawing/2014/main" id="{73EC1330-AC77-44DF-9997-9A1A525253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1232" y="-641425"/>
            <a:ext cx="3005335" cy="2133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815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Имидж</a:t>
            </a:r>
          </a:p>
        </p:txBody>
      </p:sp>
      <p:sp>
        <p:nvSpPr>
          <p:cNvPr id="176" name="Прямоугольник 189"/>
          <p:cNvSpPr>
            <a:spLocks noChangeArrowheads="1"/>
          </p:cNvSpPr>
          <p:nvPr/>
        </p:nvSpPr>
        <p:spPr bwMode="auto">
          <a:xfrm>
            <a:off x="-26152" y="1196752"/>
            <a:ext cx="9145016" cy="554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Имидж компании – это образ, который формируют для потребителей. В действительности он не отражает ни производственных процессов, ни экономико-социальных свойств. Сформировать впечатление, соответствующее позиционированию компании — как раз одна из главных задач имиджа</a:t>
            </a:r>
          </a:p>
          <a:p>
            <a:pPr defTabSz="533400" eaLnBrk="1" hangingPunct="1">
              <a:lnSpc>
                <a:spcPct val="150000"/>
              </a:lnSpc>
              <a:spcAft>
                <a:spcPts val="0"/>
              </a:spcAft>
              <a:buClr>
                <a:srgbClr val="8E8E8E"/>
              </a:buClr>
              <a:buFont typeface="Wingdings" pitchFamily="2" charset="2"/>
              <a:buBlip>
                <a:blip r:embed="rId3"/>
              </a:buBlip>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Репутация – непосредственно то, как </a:t>
            </a:r>
            <a:b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представляется  компания в глазах </a:t>
            </a:r>
            <a:b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потенциальных  (текущих) потребителей </a:t>
            </a:r>
            <a:b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продукции.</a:t>
            </a:r>
          </a:p>
          <a:p>
            <a:pPr defTabSz="533400" eaLnBrk="1" hangingPunct="1">
              <a:lnSpc>
                <a:spcPct val="150000"/>
              </a:lnSpc>
              <a:spcAft>
                <a:spcPts val="0"/>
              </a:spcAft>
              <a:buClr>
                <a:srgbClr val="8E8E8E"/>
              </a:buClr>
              <a:buFont typeface="Wingdings" pitchFamily="2" charset="2"/>
              <a:buBlip>
                <a:blip r:embed="rId3"/>
              </a:buBlip>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Позитивный имидж компании привлекает </a:t>
            </a:r>
            <a:b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к ней клиентов, а репутация выстраивает </a:t>
            </a:r>
            <a:b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их лояльность к бренду. По этим </a:t>
            </a:r>
            <a:b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признакам люди годами выбирают </a:t>
            </a:r>
            <a:b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продукцию определенных марок, </a:t>
            </a:r>
            <a:b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будучи уверенными в их отменных </a:t>
            </a:r>
            <a:b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свойствах</a:t>
            </a:r>
          </a:p>
          <a:p>
            <a:pPr defTabSz="533400" eaLnBrk="1" hangingPunct="1">
              <a:lnSpc>
                <a:spcPct val="150000"/>
              </a:lnSpc>
              <a:spcAft>
                <a:spcPts val="0"/>
              </a:spcAft>
              <a:buClr>
                <a:srgbClr val="8E8E8E"/>
              </a:buClr>
              <a:buFont typeface="Wingdings" pitchFamily="2" charset="2"/>
              <a:buBlip>
                <a:blip r:embed="rId3"/>
              </a:buBlip>
            </a:pPr>
            <a:endParaRPr lang="ru-RU" alt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7172" name="Picture 4" descr="Векторы на тему «Имидж» — скачивайте бесплатные векторы высокого качества  на Freepik | Freepik">
            <a:extLst>
              <a:ext uri="{FF2B5EF4-FFF2-40B4-BE49-F238E27FC236}">
                <a16:creationId xmlns:a16="http://schemas.microsoft.com/office/drawing/2014/main" id="{9B1EE494-C115-4E9E-AA7D-B989C1FA9A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8389" y="2204864"/>
            <a:ext cx="3933056" cy="3933056"/>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B90D52EC-035D-80FE-1DDC-CF46D206A5F7}"/>
              </a:ext>
            </a:extLst>
          </p:cNvPr>
          <p:cNvSpPr>
            <a:spLocks noGrp="1"/>
          </p:cNvSpPr>
          <p:nvPr>
            <p:ph type="sldNum" sz="quarter" idx="10"/>
          </p:nvPr>
        </p:nvSpPr>
        <p:spPr/>
        <p:txBody>
          <a:bodyPr/>
          <a:lstStyle/>
          <a:p>
            <a:pPr>
              <a:defRPr/>
            </a:pPr>
            <a:r>
              <a:rPr lang="ru-RU" dirty="0"/>
              <a:t> </a:t>
            </a:r>
            <a:fld id="{7DCEE9E7-25AF-42DF-86F1-84EFCBA56EFC}" type="slidenum">
              <a:rPr lang="ru-RU" smtClean="0"/>
              <a:pPr>
                <a:defRPr/>
              </a:pPr>
              <a:t>2</a:t>
            </a:fld>
            <a:endParaRPr lang="ru-RU" dirty="0"/>
          </a:p>
        </p:txBody>
      </p:sp>
    </p:spTree>
    <p:extLst>
      <p:ext uri="{BB962C8B-B14F-4D97-AF65-F5344CB8AC3E}">
        <p14:creationId xmlns:p14="http://schemas.microsoft.com/office/powerpoint/2010/main" val="283903527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Типы имиджа</a:t>
            </a:r>
          </a:p>
        </p:txBody>
      </p:sp>
      <p:sp>
        <p:nvSpPr>
          <p:cNvPr id="3" name="TextBox 2">
            <a:extLst>
              <a:ext uri="{FF2B5EF4-FFF2-40B4-BE49-F238E27FC236}">
                <a16:creationId xmlns:a16="http://schemas.microsoft.com/office/drawing/2014/main" id="{481824D7-221E-8511-4828-332183B5C949}"/>
              </a:ext>
            </a:extLst>
          </p:cNvPr>
          <p:cNvSpPr txBox="1"/>
          <p:nvPr/>
        </p:nvSpPr>
        <p:spPr>
          <a:xfrm>
            <a:off x="272480" y="1744071"/>
            <a:ext cx="3744416" cy="3603230"/>
          </a:xfrm>
          <a:prstGeom prst="rect">
            <a:avLst/>
          </a:prstGeom>
          <a:noFill/>
        </p:spPr>
        <p:txBody>
          <a:bodyPr wrap="square">
            <a:spAutoFit/>
          </a:bodyPr>
          <a:lstStyle/>
          <a:p>
            <a:pPr indent="0" defTabSz="533400" eaLnBrk="1" hangingPunct="1">
              <a:lnSpc>
                <a:spcPct val="150000"/>
              </a:lnSpc>
              <a:spcAft>
                <a:spcPts val="0"/>
              </a:spcAft>
              <a:buClr>
                <a:srgbClr val="8E8E8E"/>
              </a:buClr>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Различают 3 типа имиджа предприятия:</a:t>
            </a:r>
          </a:p>
          <a:p>
            <a:pPr indent="0" defTabSz="533400" eaLnBrk="1" hangingPunct="1">
              <a:lnSpc>
                <a:spcPct val="150000"/>
              </a:lnSpc>
              <a:spcAft>
                <a:spcPts val="0"/>
              </a:spcAft>
              <a:buClr>
                <a:srgbClr val="8E8E8E"/>
              </a:buClr>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Идеальный - Образ, к которому стремится фирма</a:t>
            </a: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a:t>
            </a: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Реальный - отражает сложившееся отношение общественности</a:t>
            </a: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a:t>
            </a: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Зеркальный - представление руководства о том, что думает о компании целевая аудитория</a:t>
            </a:r>
            <a:r>
              <a:rPr lang="en-US" sz="1400" dirty="0">
                <a:solidFill>
                  <a:srgbClr val="002394"/>
                </a:solidFill>
                <a:latin typeface="Tahoma" panose="020B0604030504040204" pitchFamily="34" charset="0"/>
                <a:ea typeface="Tahoma" panose="020B0604030504040204" pitchFamily="34" charset="0"/>
                <a:cs typeface="Tahoma" panose="020B0604030504040204" pitchFamily="34" charset="0"/>
              </a:rPr>
              <a:t>;</a:t>
            </a: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3076" name="Picture 4" descr="Имидж компании: факторы влияния, алгоритм формирования">
            <a:extLst>
              <a:ext uri="{FF2B5EF4-FFF2-40B4-BE49-F238E27FC236}">
                <a16:creationId xmlns:a16="http://schemas.microsoft.com/office/drawing/2014/main" id="{9454604E-21EB-4216-8C06-1791BA37DD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2045" y="2172251"/>
            <a:ext cx="5582505" cy="3175050"/>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CC55CD38-FB7A-5FAB-C3B9-2590E4C76B6C}"/>
              </a:ext>
            </a:extLst>
          </p:cNvPr>
          <p:cNvSpPr>
            <a:spLocks noGrp="1"/>
          </p:cNvSpPr>
          <p:nvPr>
            <p:ph type="sldNum" sz="quarter" idx="10"/>
          </p:nvPr>
        </p:nvSpPr>
        <p:spPr/>
        <p:txBody>
          <a:bodyPr/>
          <a:lstStyle/>
          <a:p>
            <a:pPr>
              <a:defRPr/>
            </a:pPr>
            <a:fld id="{7DCEE9E7-25AF-42DF-86F1-84EFCBA56EFC}" type="slidenum">
              <a:rPr lang="ru-RU" smtClean="0"/>
              <a:pPr>
                <a:defRPr/>
              </a:pPr>
              <a:t>3</a:t>
            </a:fld>
            <a:endParaRPr lang="ru-RU" dirty="0"/>
          </a:p>
        </p:txBody>
      </p:sp>
    </p:spTree>
    <p:extLst>
      <p:ext uri="{BB962C8B-B14F-4D97-AF65-F5344CB8AC3E}">
        <p14:creationId xmlns:p14="http://schemas.microsoft.com/office/powerpoint/2010/main" val="238048226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Внутренний и внешний имидж</a:t>
            </a:r>
          </a:p>
        </p:txBody>
      </p:sp>
      <p:sp>
        <p:nvSpPr>
          <p:cNvPr id="176" name="Прямоугольник 189"/>
          <p:cNvSpPr>
            <a:spLocks noChangeArrowheads="1"/>
          </p:cNvSpPr>
          <p:nvPr/>
        </p:nvSpPr>
        <p:spPr bwMode="auto">
          <a:xfrm>
            <a:off x="-15552" y="1117798"/>
            <a:ext cx="4968552" cy="3854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indent="0" defTabSz="533400" eaLnBrk="1" hangingPunct="1">
              <a:lnSpc>
                <a:spcPct val="150000"/>
              </a:lnSpc>
              <a:spcAft>
                <a:spcPts val="0"/>
              </a:spcAft>
              <a:buClr>
                <a:srgbClr val="8E8E8E"/>
              </a:buClr>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Внутренний имидж компании строится на корпоративной политике, на отношениях работников друг с другом и с менеджментом (стиль управления, коммуникация, внутренние регламенты)</a:t>
            </a:r>
          </a:p>
          <a:p>
            <a:pPr indent="0" defTabSz="533400" eaLnBrk="1" hangingPunct="1">
              <a:lnSpc>
                <a:spcPct val="150000"/>
              </a:lnSpc>
              <a:spcAft>
                <a:spcPts val="0"/>
              </a:spcAft>
              <a:buClr>
                <a:srgbClr val="8E8E8E"/>
              </a:buClr>
            </a:pPr>
            <a:endPar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indent="0" defTabSz="533400" eaLnBrk="1" hangingPunct="1">
              <a:lnSpc>
                <a:spcPct val="150000"/>
              </a:lnSpc>
              <a:spcAft>
                <a:spcPts val="0"/>
              </a:spcAft>
              <a:buClr>
                <a:srgbClr val="8E8E8E"/>
              </a:buClr>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Внешний имидж – все взаимодействия бренда с клиентами, партнерами, масс-медиа. (представление продукта, качество обслуживание, реклама, позиционирование на фоне конкурентов) </a:t>
            </a:r>
          </a:p>
        </p:txBody>
      </p:sp>
      <p:pic>
        <p:nvPicPr>
          <p:cNvPr id="3074" name="Picture 2" descr="Имидж организации: [формирование имиджа компании]">
            <a:extLst>
              <a:ext uri="{FF2B5EF4-FFF2-40B4-BE49-F238E27FC236}">
                <a16:creationId xmlns:a16="http://schemas.microsoft.com/office/drawing/2014/main" id="{355B87BF-77E6-8523-5ABF-E57611D954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700808"/>
            <a:ext cx="4660776" cy="3108701"/>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83600410-2887-9696-0DFB-149814CC668C}"/>
              </a:ext>
            </a:extLst>
          </p:cNvPr>
          <p:cNvSpPr>
            <a:spLocks noGrp="1"/>
          </p:cNvSpPr>
          <p:nvPr>
            <p:ph type="sldNum" sz="quarter" idx="10"/>
          </p:nvPr>
        </p:nvSpPr>
        <p:spPr/>
        <p:txBody>
          <a:bodyPr/>
          <a:lstStyle/>
          <a:p>
            <a:pPr>
              <a:defRPr/>
            </a:pPr>
            <a:fld id="{7DCEE9E7-25AF-42DF-86F1-84EFCBA56EFC}" type="slidenum">
              <a:rPr lang="ru-RU" smtClean="0"/>
              <a:pPr>
                <a:defRPr/>
              </a:pPr>
              <a:t>4</a:t>
            </a:fld>
            <a:endParaRPr lang="ru-RU" dirty="0"/>
          </a:p>
        </p:txBody>
      </p:sp>
    </p:spTree>
    <p:extLst>
      <p:ext uri="{BB962C8B-B14F-4D97-AF65-F5344CB8AC3E}">
        <p14:creationId xmlns:p14="http://schemas.microsoft.com/office/powerpoint/2010/main" val="219987599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Факторы, влияющие на создание имиджа</a:t>
            </a:r>
          </a:p>
        </p:txBody>
      </p:sp>
      <p:sp>
        <p:nvSpPr>
          <p:cNvPr id="170" name="Прямоугольник 189">
            <a:extLst>
              <a:ext uri="{FF2B5EF4-FFF2-40B4-BE49-F238E27FC236}">
                <a16:creationId xmlns:a16="http://schemas.microsoft.com/office/drawing/2014/main" id="{7F1F10FA-3A09-4293-940A-4D05434EC733}"/>
              </a:ext>
            </a:extLst>
          </p:cNvPr>
          <p:cNvSpPr>
            <a:spLocks noChangeArrowheads="1"/>
          </p:cNvSpPr>
          <p:nvPr/>
        </p:nvSpPr>
        <p:spPr bwMode="auto">
          <a:xfrm>
            <a:off x="56456" y="1340768"/>
            <a:ext cx="6048672" cy="4546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Качество и конкурентоспособность — выделяющийся продукт с УТП и качеством.</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Организационная культура — компетентность персонала, разделяющего ценности бренда.</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Финансовое положение — стабильность и </a:t>
            </a:r>
            <a:r>
              <a:rPr lang="ru-RU" sz="1500" dirty="0" err="1">
                <a:solidFill>
                  <a:srgbClr val="002394"/>
                </a:solidFill>
                <a:latin typeface="Tahoma" panose="020B0604030504040204" pitchFamily="34" charset="0"/>
                <a:ea typeface="Tahoma" panose="020B0604030504040204" pitchFamily="34" charset="0"/>
                <a:cs typeface="Tahoma" panose="020B0604030504040204" pitchFamily="34" charset="0"/>
              </a:rPr>
              <a:t>клиентоориентированная</a:t>
            </a: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 ценовая политика.</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Управленческий стиль — компетентные руководители для роста бизнеса и кадров.</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Имидж владельца — профессионализм, надежность и харизма руководителя.</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Упоминания в СМИ — статьи, пресс-релизы, экспертные цитаты для позиционирования.</a:t>
            </a:r>
          </a:p>
          <a:p>
            <a:pPr defTabSz="533400" eaLnBrk="1" hangingPunct="1">
              <a:lnSpc>
                <a:spcPct val="150000"/>
              </a:lnSpc>
              <a:spcAft>
                <a:spcPts val="0"/>
              </a:spcAft>
              <a:buClr>
                <a:srgbClr val="8E8E8E"/>
              </a:buClr>
              <a:buFont typeface="Wingdings" pitchFamily="2" charset="2"/>
              <a:buBlip>
                <a:blip r:embed="rId3"/>
              </a:buBlip>
            </a:pPr>
            <a:endPar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4098" name="Picture 2" descr="Фактор – Бесплатные иконки: бизнес">
            <a:extLst>
              <a:ext uri="{FF2B5EF4-FFF2-40B4-BE49-F238E27FC236}">
                <a16:creationId xmlns:a16="http://schemas.microsoft.com/office/drawing/2014/main" id="{65789065-DBA9-29AD-873E-C2BB2ADE3D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9813" y="1341581"/>
            <a:ext cx="3789527" cy="3789527"/>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121232C2-60B4-74E7-5C9E-385C99BA47C8}"/>
              </a:ext>
            </a:extLst>
          </p:cNvPr>
          <p:cNvSpPr>
            <a:spLocks noGrp="1"/>
          </p:cNvSpPr>
          <p:nvPr>
            <p:ph type="sldNum" sz="quarter" idx="10"/>
          </p:nvPr>
        </p:nvSpPr>
        <p:spPr/>
        <p:txBody>
          <a:bodyPr/>
          <a:lstStyle/>
          <a:p>
            <a:pPr>
              <a:defRPr/>
            </a:pPr>
            <a:fld id="{7DCEE9E7-25AF-42DF-86F1-84EFCBA56EFC}" type="slidenum">
              <a:rPr lang="ru-RU" smtClean="0"/>
              <a:pPr>
                <a:defRPr/>
              </a:pPr>
              <a:t>5</a:t>
            </a:fld>
            <a:endParaRPr lang="ru-RU" dirty="0"/>
          </a:p>
        </p:txBody>
      </p:sp>
    </p:spTree>
    <p:extLst>
      <p:ext uri="{BB962C8B-B14F-4D97-AF65-F5344CB8AC3E}">
        <p14:creationId xmlns:p14="http://schemas.microsoft.com/office/powerpoint/2010/main" val="114934145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Инструменты создания и улучшения имиджа</a:t>
            </a:r>
          </a:p>
        </p:txBody>
      </p:sp>
      <p:sp>
        <p:nvSpPr>
          <p:cNvPr id="170" name="Прямоугольник 189">
            <a:extLst>
              <a:ext uri="{FF2B5EF4-FFF2-40B4-BE49-F238E27FC236}">
                <a16:creationId xmlns:a16="http://schemas.microsoft.com/office/drawing/2014/main" id="{7F1F10FA-3A09-4293-940A-4D05434EC733}"/>
              </a:ext>
            </a:extLst>
          </p:cNvPr>
          <p:cNvSpPr>
            <a:spLocks noChangeArrowheads="1"/>
          </p:cNvSpPr>
          <p:nvPr/>
        </p:nvSpPr>
        <p:spPr bwMode="auto">
          <a:xfrm>
            <a:off x="56456" y="1340768"/>
            <a:ext cx="6048672" cy="489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Фирменный стиль — яркий, профессиональный, ассоциируемый с брендом.</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Имиджевая реклама — на основе брендбука.</a:t>
            </a:r>
          </a:p>
          <a:p>
            <a:pPr defTabSz="533400" eaLnBrk="1" hangingPunct="1">
              <a:lnSpc>
                <a:spcPct val="150000"/>
              </a:lnSpc>
              <a:spcAft>
                <a:spcPts val="0"/>
              </a:spcAft>
              <a:buClr>
                <a:srgbClr val="8E8E8E"/>
              </a:buClr>
              <a:buFont typeface="Wingdings" pitchFamily="2" charset="2"/>
              <a:buBlip>
                <a:blip r:embed="rId3"/>
              </a:buBlip>
            </a:pPr>
            <a:r>
              <a:rPr lang="ru-RU" sz="1500" dirty="0" err="1">
                <a:solidFill>
                  <a:srgbClr val="002394"/>
                </a:solidFill>
                <a:latin typeface="Tahoma" panose="020B0604030504040204" pitchFamily="34" charset="0"/>
                <a:ea typeface="Tahoma" panose="020B0604030504040204" pitchFamily="34" charset="0"/>
                <a:cs typeface="Tahoma" panose="020B0604030504040204" pitchFamily="34" charset="0"/>
              </a:rPr>
              <a:t>Диджитал</a:t>
            </a: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 — соцсети, сайт, </a:t>
            </a:r>
            <a:r>
              <a:rPr lang="ru-RU" sz="1500" dirty="0" err="1">
                <a:solidFill>
                  <a:srgbClr val="002394"/>
                </a:solidFill>
                <a:latin typeface="Tahoma" panose="020B0604030504040204" pitchFamily="34" charset="0"/>
                <a:ea typeface="Tahoma" panose="020B0604030504040204" pitchFamily="34" charset="0"/>
                <a:cs typeface="Tahoma" panose="020B0604030504040204" pitchFamily="34" charset="0"/>
              </a:rPr>
              <a:t>email</a:t>
            </a: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-рассылки.</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Экспертный блог — познавательные материалы для ЦА.</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Ивенты — для потенциальных клиентов и партнеров.</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Социальная активность — благотворительность, социальные проекты.</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Работа с СМИ — пресс-релизы, инфоповоды.</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Обратная связь — работа с негативом, опросы клиентов.</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Партнерские программы — кросс-маркетинг, совместные проекты.</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Амбассадоры бренда — сторонники для продвижения и защиты.</a:t>
            </a:r>
          </a:p>
        </p:txBody>
      </p:sp>
      <p:pic>
        <p:nvPicPr>
          <p:cNvPr id="5122" name="Picture 2" descr="Toolbox free icons designed by Freepik">
            <a:extLst>
              <a:ext uri="{FF2B5EF4-FFF2-40B4-BE49-F238E27FC236}">
                <a16:creationId xmlns:a16="http://schemas.microsoft.com/office/drawing/2014/main" id="{07DCB345-B657-2E1E-AD99-B4FDF29C0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1192" y="2209800"/>
            <a:ext cx="2438400" cy="2438400"/>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488B85AF-C746-507C-A208-CE10FC34C19B}"/>
              </a:ext>
            </a:extLst>
          </p:cNvPr>
          <p:cNvSpPr>
            <a:spLocks noGrp="1"/>
          </p:cNvSpPr>
          <p:nvPr>
            <p:ph type="sldNum" sz="quarter" idx="10"/>
          </p:nvPr>
        </p:nvSpPr>
        <p:spPr/>
        <p:txBody>
          <a:bodyPr/>
          <a:lstStyle/>
          <a:p>
            <a:pPr>
              <a:defRPr/>
            </a:pPr>
            <a:fld id="{7DCEE9E7-25AF-42DF-86F1-84EFCBA56EFC}" type="slidenum">
              <a:rPr lang="ru-RU" smtClean="0"/>
              <a:pPr>
                <a:defRPr/>
              </a:pPr>
              <a:t>6</a:t>
            </a:fld>
            <a:endParaRPr lang="ru-RU" dirty="0"/>
          </a:p>
        </p:txBody>
      </p:sp>
    </p:spTree>
    <p:extLst>
      <p:ext uri="{BB962C8B-B14F-4D97-AF65-F5344CB8AC3E}">
        <p14:creationId xmlns:p14="http://schemas.microsoft.com/office/powerpoint/2010/main" val="167458270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Позиционирование бренда</a:t>
            </a:r>
          </a:p>
        </p:txBody>
      </p:sp>
      <p:sp>
        <p:nvSpPr>
          <p:cNvPr id="2" name="Прямоугольник 1"/>
          <p:cNvSpPr/>
          <p:nvPr/>
        </p:nvSpPr>
        <p:spPr>
          <a:xfrm>
            <a:off x="219372" y="1387515"/>
            <a:ext cx="6269029" cy="3372398"/>
          </a:xfrm>
          <a:prstGeom prst="rect">
            <a:avLst/>
          </a:prstGeom>
        </p:spPr>
        <p:txBody>
          <a:bodyPr wrap="square">
            <a:spAutoFit/>
          </a:bodyPr>
          <a:lstStyle/>
          <a:p>
            <a:pPr>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Статус и роль</a:t>
            </a:r>
            <a:r>
              <a:rPr lang="en-US" sz="1600" b="1" dirty="0">
                <a:solidFill>
                  <a:srgbClr val="FF7B21"/>
                </a:solidFill>
                <a:latin typeface="Tahoma" panose="020B0604030504040204" pitchFamily="34" charset="0"/>
                <a:ea typeface="Tahoma" panose="020B0604030504040204" pitchFamily="34" charset="0"/>
                <a:cs typeface="Tahoma" panose="020B0604030504040204" pitchFamily="34" charset="0"/>
              </a:rPr>
              <a:t>:</a:t>
            </a:r>
            <a:endPar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 Банк определяет себя как «опорный банк оборонно-промышленного комплекса», что формирует образ стратегически важного и надежного института, связанного с безопасностью и развитием страны.</a:t>
            </a:r>
          </a:p>
          <a:p>
            <a:pPr defTabSz="533400" eaLnBrk="1" hangingPunct="1">
              <a:lnSpc>
                <a:spcPct val="200000"/>
              </a:lnSpc>
              <a:spcAft>
                <a:spcPts val="0"/>
              </a:spcAft>
              <a:buClr>
                <a:srgbClr val="8E8E8E"/>
              </a:buCl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Ценности и аудитория:</a:t>
            </a:r>
          </a:p>
          <a:p>
            <a:pPr defTabSz="533400" eaLnBrk="1" hangingPunct="1">
              <a:lnSpc>
                <a:spcPct val="150000"/>
              </a:lnSpc>
              <a:spcAft>
                <a:spcPts val="0"/>
              </a:spcAft>
              <a:buClr>
                <a:srgbClr val="8E8E8E"/>
              </a:buClr>
              <a:buFont typeface="Wingdings" pitchFamily="2" charset="2"/>
              <a:buBlip>
                <a:blip r:embed="rId3"/>
              </a:buBlip>
            </a:pPr>
            <a:r>
              <a:rPr lang="en-US" sz="1400" b="1" dirty="0">
                <a:solidFill>
                  <a:srgbClr val="002394"/>
                </a:solidFill>
                <a:latin typeface="Tahoma" panose="020B0604030504040204" pitchFamily="34" charset="0"/>
                <a:ea typeface="Tahoma" panose="020B0604030504040204" pitchFamily="34" charset="0"/>
                <a:cs typeface="Tahoma" panose="020B0604030504040204" pitchFamily="34" charset="0"/>
              </a:rPr>
              <a:t> </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«Банк сильных людей» обращен как к отраслевым лидерам, так и к широкой аудитории, делая акцент на силе, развитии и созидании. В коммуникациях подчеркиваются общечеловеческие ценности</a:t>
            </a:r>
          </a:p>
        </p:txBody>
      </p:sp>
      <p:pic>
        <p:nvPicPr>
          <p:cNvPr id="8" name="Рисунок 7">
            <a:extLst>
              <a:ext uri="{FF2B5EF4-FFF2-40B4-BE49-F238E27FC236}">
                <a16:creationId xmlns:a16="http://schemas.microsoft.com/office/drawing/2014/main" id="{DECC8463-CCB8-4FC9-8BC9-57202EC8181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6393160" y="1367046"/>
            <a:ext cx="3088310" cy="3937961"/>
          </a:xfrm>
          <a:prstGeom prst="rect">
            <a:avLst/>
          </a:prstGeom>
        </p:spPr>
      </p:pic>
      <p:sp>
        <p:nvSpPr>
          <p:cNvPr id="3" name="Номер слайда 2">
            <a:extLst>
              <a:ext uri="{FF2B5EF4-FFF2-40B4-BE49-F238E27FC236}">
                <a16:creationId xmlns:a16="http://schemas.microsoft.com/office/drawing/2014/main" id="{6AACF9AA-3BF1-8FF7-8622-298A1303FC93}"/>
              </a:ext>
            </a:extLst>
          </p:cNvPr>
          <p:cNvSpPr>
            <a:spLocks noGrp="1"/>
          </p:cNvSpPr>
          <p:nvPr>
            <p:ph type="sldNum" sz="quarter" idx="10"/>
          </p:nvPr>
        </p:nvSpPr>
        <p:spPr/>
        <p:txBody>
          <a:bodyPr/>
          <a:lstStyle/>
          <a:p>
            <a:pPr>
              <a:defRPr/>
            </a:pPr>
            <a:fld id="{7DCEE9E7-25AF-42DF-86F1-84EFCBA56EFC}" type="slidenum">
              <a:rPr lang="ru-RU" smtClean="0"/>
              <a:pPr>
                <a:defRPr/>
              </a:pPr>
              <a:t>7</a:t>
            </a:fld>
            <a:endParaRPr lang="ru-RU" dirty="0"/>
          </a:p>
        </p:txBody>
      </p:sp>
    </p:spTree>
    <p:extLst>
      <p:ext uri="{BB962C8B-B14F-4D97-AF65-F5344CB8AC3E}">
        <p14:creationId xmlns:p14="http://schemas.microsoft.com/office/powerpoint/2010/main" val="79121903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Позиционирование бренда</a:t>
            </a:r>
          </a:p>
        </p:txBody>
      </p:sp>
      <p:sp>
        <p:nvSpPr>
          <p:cNvPr id="2" name="Прямоугольник 1"/>
          <p:cNvSpPr/>
          <p:nvPr/>
        </p:nvSpPr>
        <p:spPr>
          <a:xfrm>
            <a:off x="186078" y="1526716"/>
            <a:ext cx="5576092" cy="3618619"/>
          </a:xfrm>
          <a:prstGeom prst="rect">
            <a:avLst/>
          </a:prstGeom>
        </p:spPr>
        <p:txBody>
          <a:bodyPr wrap="square">
            <a:spAutoFit/>
          </a:bodyPr>
          <a:lstStyle/>
          <a:p>
            <a:pPr defTabSz="533400" eaLnBrk="1" hangingPunct="1">
              <a:lnSpc>
                <a:spcPct val="200000"/>
              </a:lnSpc>
              <a:spcAft>
                <a:spcPts val="0"/>
              </a:spcAft>
              <a:buClr>
                <a:srgbClr val="8E8E8E"/>
              </a:buCl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Предложение рынку:</a:t>
            </a:r>
          </a:p>
          <a:p>
            <a:pPr defTabSz="533400" eaLnBrk="1" hangingPunct="1">
              <a:lnSpc>
                <a:spcPct val="150000"/>
              </a:lnSpc>
              <a:spcAft>
                <a:spcPts val="0"/>
              </a:spcAft>
              <a:buClr>
                <a:srgbClr val="8E8E8E"/>
              </a:buClr>
              <a:buFont typeface="Wingdings" pitchFamily="2" charset="2"/>
              <a:buBlip>
                <a:blip r:embed="rId3"/>
              </a:buBlip>
            </a:pPr>
            <a:r>
              <a:rPr lang="en-US" sz="1400" b="1" dirty="0">
                <a:solidFill>
                  <a:srgbClr val="002394"/>
                </a:solidFill>
                <a:latin typeface="Tahoma" panose="020B0604030504040204" pitchFamily="34" charset="0"/>
                <a:ea typeface="Tahoma" panose="020B0604030504040204" pitchFamily="34" charset="0"/>
                <a:cs typeface="Tahoma" panose="020B0604030504040204" pitchFamily="34" charset="0"/>
              </a:rPr>
              <a:t> </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ПСБ сочетает образ ответственного государственного партнера с предложением современных и технологичных финансовых решений для корпоративных и частных клиентов</a:t>
            </a:r>
          </a:p>
          <a:p>
            <a:pPr defTabSz="533400" eaLnBrk="1" hangingPunct="1">
              <a:lnSpc>
                <a:spcPct val="200000"/>
              </a:lnSpc>
              <a:spcAft>
                <a:spcPts val="0"/>
              </a:spcAft>
              <a:buClr>
                <a:srgbClr val="8E8E8E"/>
              </a:buCl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Подкрепление имиджа:</a:t>
            </a:r>
          </a:p>
          <a:p>
            <a:pPr defTabSz="533400" eaLnBrk="1" hangingPunct="1">
              <a:lnSpc>
                <a:spcPct val="150000"/>
              </a:lnSpc>
              <a:spcAft>
                <a:spcPts val="0"/>
              </a:spcAft>
              <a:buClr>
                <a:srgbClr val="8E8E8E"/>
              </a:buClr>
              <a:buFont typeface="Wingdings" pitchFamily="2" charset="2"/>
              <a:buBlip>
                <a:blip r:embed="rId3"/>
              </a:buBlip>
            </a:pPr>
            <a:r>
              <a:rPr lang="en-US" sz="1400" b="1" dirty="0">
                <a:solidFill>
                  <a:srgbClr val="002394"/>
                </a:solidFill>
                <a:latin typeface="Tahoma" panose="020B0604030504040204" pitchFamily="34" charset="0"/>
                <a:ea typeface="Tahoma" panose="020B0604030504040204" pitchFamily="34" charset="0"/>
                <a:cs typeface="Tahoma" panose="020B0604030504040204" pitchFamily="34" charset="0"/>
              </a:rPr>
              <a:t> </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Образ поддерживается через экспертные публикации в СМИ, участие в социально-культурных проектах и постоянный акцент на надежности и стабильности, что критически важно для банка с особыми задачами.</a:t>
            </a:r>
          </a:p>
        </p:txBody>
      </p:sp>
      <p:pic>
        <p:nvPicPr>
          <p:cNvPr id="8" name="Рисунок 7">
            <a:extLst>
              <a:ext uri="{FF2B5EF4-FFF2-40B4-BE49-F238E27FC236}">
                <a16:creationId xmlns:a16="http://schemas.microsoft.com/office/drawing/2014/main" id="{DECC8463-CCB8-4FC9-8BC9-57202EC8181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6185170" y="1367046"/>
            <a:ext cx="3088310" cy="3937961"/>
          </a:xfrm>
          <a:prstGeom prst="rect">
            <a:avLst/>
          </a:prstGeom>
        </p:spPr>
      </p:pic>
      <p:sp>
        <p:nvSpPr>
          <p:cNvPr id="3" name="Номер слайда 2">
            <a:extLst>
              <a:ext uri="{FF2B5EF4-FFF2-40B4-BE49-F238E27FC236}">
                <a16:creationId xmlns:a16="http://schemas.microsoft.com/office/drawing/2014/main" id="{016C196A-7297-6A28-4EB3-E388B0603488}"/>
              </a:ext>
            </a:extLst>
          </p:cNvPr>
          <p:cNvSpPr>
            <a:spLocks noGrp="1"/>
          </p:cNvSpPr>
          <p:nvPr>
            <p:ph type="sldNum" sz="quarter" idx="10"/>
          </p:nvPr>
        </p:nvSpPr>
        <p:spPr/>
        <p:txBody>
          <a:bodyPr/>
          <a:lstStyle/>
          <a:p>
            <a:pPr>
              <a:defRPr/>
            </a:pPr>
            <a:fld id="{7DCEE9E7-25AF-42DF-86F1-84EFCBA56EFC}" type="slidenum">
              <a:rPr lang="ru-RU" smtClean="0"/>
              <a:pPr>
                <a:defRPr/>
              </a:pPr>
              <a:t>8</a:t>
            </a:fld>
            <a:endParaRPr lang="ru-RU" dirty="0"/>
          </a:p>
        </p:txBody>
      </p:sp>
    </p:spTree>
    <p:extLst>
      <p:ext uri="{BB962C8B-B14F-4D97-AF65-F5344CB8AC3E}">
        <p14:creationId xmlns:p14="http://schemas.microsoft.com/office/powerpoint/2010/main" val="224964177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Прямая соединительная линия 35">
            <a:extLst>
              <a:ext uri="{FF2B5EF4-FFF2-40B4-BE49-F238E27FC236}">
                <a16:creationId xmlns:a16="http://schemas.microsoft.com/office/drawing/2014/main" id="{29402AFA-3918-4425-90CF-91486E2A4960}"/>
              </a:ext>
            </a:extLst>
          </p:cNvPr>
          <p:cNvCxnSpPr>
            <a:cxnSpLocks/>
          </p:cNvCxnSpPr>
          <p:nvPr/>
        </p:nvCxnSpPr>
        <p:spPr>
          <a:xfrm>
            <a:off x="3449902" y="2078345"/>
            <a:ext cx="0" cy="37755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9ABFD37D-66F6-4714-974D-7D8A683DB2EE}"/>
              </a:ext>
            </a:extLst>
          </p:cNvPr>
          <p:cNvCxnSpPr/>
          <p:nvPr/>
        </p:nvCxnSpPr>
        <p:spPr>
          <a:xfrm>
            <a:off x="587645" y="3329469"/>
            <a:ext cx="901471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3" name="Прямоугольник 42">
            <a:extLst>
              <a:ext uri="{FF2B5EF4-FFF2-40B4-BE49-F238E27FC236}">
                <a16:creationId xmlns:a16="http://schemas.microsoft.com/office/drawing/2014/main" id="{14425F2F-64B6-4E78-914F-38E8E37F1C78}"/>
              </a:ext>
            </a:extLst>
          </p:cNvPr>
          <p:cNvSpPr/>
          <p:nvPr/>
        </p:nvSpPr>
        <p:spPr>
          <a:xfrm>
            <a:off x="650077" y="2183215"/>
            <a:ext cx="2181666" cy="1022075"/>
          </a:xfrm>
          <a:prstGeom prst="rect">
            <a:avLst/>
          </a:prstGeom>
          <a:noFill/>
        </p:spPr>
        <p:txBody>
          <a:bodyPr wrap="square" lIns="0" anchor="t">
            <a:spAutoFit/>
          </a:bodyPr>
          <a:lstStyle/>
          <a:p>
            <a:pPr defTabSz="371475" fontAlgn="auto">
              <a:spcBef>
                <a:spcPts val="0"/>
              </a:spcBef>
              <a:spcAft>
                <a:spcPts val="450"/>
              </a:spcAft>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Любовь к родине</a:t>
            </a:r>
          </a:p>
          <a:p>
            <a:pPr defTabSz="371475" fontAlgn="auto">
              <a:spcBef>
                <a:spcPts val="0"/>
              </a:spcBef>
              <a:spcAft>
                <a:spcPts val="450"/>
              </a:spcAft>
              <a:defRPr/>
            </a:pPr>
            <a:r>
              <a:rPr lang="ru-RU" sz="1000" dirty="0">
                <a:solidFill>
                  <a:srgbClr val="002394"/>
                </a:solidFill>
              </a:rPr>
              <a:t>Любовь к Родине – это очень сильное чувство. Это любовь к своей семье и тому месту, где ты родился и живешь</a:t>
            </a:r>
            <a:endParaRPr lang="ru-RU" sz="975" dirty="0">
              <a:solidFill>
                <a:srgbClr val="002394"/>
              </a:solidFill>
            </a:endParaRPr>
          </a:p>
        </p:txBody>
      </p:sp>
      <p:sp>
        <p:nvSpPr>
          <p:cNvPr id="45" name="Прямоугольник 44">
            <a:extLst>
              <a:ext uri="{FF2B5EF4-FFF2-40B4-BE49-F238E27FC236}">
                <a16:creationId xmlns:a16="http://schemas.microsoft.com/office/drawing/2014/main" id="{FB00D60B-6E8B-4390-B2E5-2246499B5849}"/>
              </a:ext>
            </a:extLst>
          </p:cNvPr>
          <p:cNvSpPr/>
          <p:nvPr/>
        </p:nvSpPr>
        <p:spPr>
          <a:xfrm>
            <a:off x="646375" y="3423867"/>
            <a:ext cx="2768612" cy="1156727"/>
          </a:xfrm>
          <a:prstGeom prst="rect">
            <a:avLst/>
          </a:prstGeom>
          <a:noFill/>
        </p:spPr>
        <p:txBody>
          <a:bodyPr wrap="square" lIns="0" anchor="t">
            <a:spAutoFit/>
          </a:bodyPr>
          <a:lstStyle/>
          <a:p>
            <a:pPr defTabSz="371475" fontAlgn="auto">
              <a:spcBef>
                <a:spcPts val="0"/>
              </a:spcBef>
              <a:spcAft>
                <a:spcPts val="450"/>
              </a:spcAft>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Исключительность</a:t>
            </a:r>
          </a:p>
          <a:p>
            <a:pPr defTabSz="371475" fontAlgn="auto">
              <a:spcBef>
                <a:spcPts val="0"/>
              </a:spcBef>
              <a:spcAft>
                <a:spcPts val="450"/>
              </a:spcAft>
              <a:defRPr/>
            </a:pPr>
            <a:r>
              <a:rPr lang="ru-RU" sz="975" dirty="0">
                <a:solidFill>
                  <a:srgbClr val="002395"/>
                </a:solidFill>
              </a:rPr>
              <a:t>ПСБ — опорный банк ОПК России. Этот статус даёт исключительное право, а также мы предлагаем особые условия для военнослужащих. Именно исключительность лежит в основе всей деятельности банка.</a:t>
            </a:r>
          </a:p>
        </p:txBody>
      </p:sp>
      <p:sp>
        <p:nvSpPr>
          <p:cNvPr id="46" name="Прямоугольник 45">
            <a:extLst>
              <a:ext uri="{FF2B5EF4-FFF2-40B4-BE49-F238E27FC236}">
                <a16:creationId xmlns:a16="http://schemas.microsoft.com/office/drawing/2014/main" id="{0468EEEE-2635-4C30-8CAD-311B42B7B399}"/>
              </a:ext>
            </a:extLst>
          </p:cNvPr>
          <p:cNvSpPr/>
          <p:nvPr/>
        </p:nvSpPr>
        <p:spPr>
          <a:xfrm>
            <a:off x="3656272" y="2183215"/>
            <a:ext cx="2181666" cy="1022075"/>
          </a:xfrm>
          <a:prstGeom prst="rect">
            <a:avLst/>
          </a:prstGeom>
          <a:noFill/>
        </p:spPr>
        <p:txBody>
          <a:bodyPr wrap="square" lIns="0" anchor="t">
            <a:spAutoFit/>
          </a:bodyPr>
          <a:lstStyle/>
          <a:p>
            <a:pPr defTabSz="371475" fontAlgn="auto">
              <a:spcBef>
                <a:spcPts val="0"/>
              </a:spcBef>
              <a:spcAft>
                <a:spcPts val="450"/>
              </a:spcAft>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Ответственность</a:t>
            </a:r>
          </a:p>
          <a:p>
            <a:pPr defTabSz="371475">
              <a:spcAft>
                <a:spcPts val="450"/>
              </a:spcAft>
              <a:defRPr/>
            </a:pPr>
            <a:r>
              <a:rPr lang="ru-RU" sz="1000" dirty="0">
                <a:solidFill>
                  <a:srgbClr val="002395"/>
                </a:solidFill>
              </a:rPr>
              <a:t>Мы ответственно подходим к делу и уверены в том, что успешное будущее не происходит само по себе</a:t>
            </a:r>
            <a:endParaRPr lang="ru-RU" sz="975" dirty="0">
              <a:solidFill>
                <a:srgbClr val="002395"/>
              </a:solidFill>
            </a:endParaRPr>
          </a:p>
        </p:txBody>
      </p:sp>
      <p:sp>
        <p:nvSpPr>
          <p:cNvPr id="47" name="Прямоугольник 46">
            <a:extLst>
              <a:ext uri="{FF2B5EF4-FFF2-40B4-BE49-F238E27FC236}">
                <a16:creationId xmlns:a16="http://schemas.microsoft.com/office/drawing/2014/main" id="{2F0E13FB-9FFF-4033-9D5D-336B00EEB219}"/>
              </a:ext>
            </a:extLst>
          </p:cNvPr>
          <p:cNvSpPr/>
          <p:nvPr/>
        </p:nvSpPr>
        <p:spPr>
          <a:xfrm>
            <a:off x="3625057" y="3432213"/>
            <a:ext cx="2655886" cy="1006686"/>
          </a:xfrm>
          <a:prstGeom prst="rect">
            <a:avLst/>
          </a:prstGeom>
          <a:noFill/>
        </p:spPr>
        <p:txBody>
          <a:bodyPr wrap="square" lIns="0" anchor="t">
            <a:spAutoFit/>
          </a:bodyPr>
          <a:lstStyle/>
          <a:p>
            <a:pPr defTabSz="371475" fontAlgn="auto">
              <a:spcBef>
                <a:spcPts val="0"/>
              </a:spcBef>
              <a:spcAft>
                <a:spcPts val="450"/>
              </a:spcAft>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Развитие</a:t>
            </a:r>
          </a:p>
          <a:p>
            <a:pPr defTabSz="371475" fontAlgn="auto">
              <a:spcBef>
                <a:spcPts val="0"/>
              </a:spcBef>
              <a:spcAft>
                <a:spcPts val="450"/>
              </a:spcAft>
              <a:defRPr/>
            </a:pPr>
            <a:r>
              <a:rPr lang="ru-RU" sz="975" dirty="0">
                <a:solidFill>
                  <a:srgbClr val="002395"/>
                </a:solidFill>
              </a:rPr>
              <a:t>Мы понимаем, что будущее не происходит само по себе, его нужно создавать, поэтому. Мы стремимся сделать жизнь людей лучше, и создавая лучшее будущее</a:t>
            </a:r>
          </a:p>
        </p:txBody>
      </p:sp>
      <p:sp>
        <p:nvSpPr>
          <p:cNvPr id="48" name="Прямоугольник 47">
            <a:extLst>
              <a:ext uri="{FF2B5EF4-FFF2-40B4-BE49-F238E27FC236}">
                <a16:creationId xmlns:a16="http://schemas.microsoft.com/office/drawing/2014/main" id="{B87C5BD2-0837-403B-B629-8A3F3CDD7F21}"/>
              </a:ext>
            </a:extLst>
          </p:cNvPr>
          <p:cNvSpPr/>
          <p:nvPr/>
        </p:nvSpPr>
        <p:spPr>
          <a:xfrm>
            <a:off x="6557142" y="2183417"/>
            <a:ext cx="2181666" cy="868186"/>
          </a:xfrm>
          <a:prstGeom prst="rect">
            <a:avLst/>
          </a:prstGeom>
          <a:noFill/>
        </p:spPr>
        <p:txBody>
          <a:bodyPr wrap="square" lIns="0" anchor="t">
            <a:spAutoFit/>
          </a:bodyPr>
          <a:lstStyle/>
          <a:p>
            <a:pPr defTabSz="371475" fontAlgn="auto">
              <a:spcBef>
                <a:spcPts val="0"/>
              </a:spcBef>
              <a:spcAft>
                <a:spcPts val="450"/>
              </a:spcAft>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Масштаб</a:t>
            </a:r>
          </a:p>
          <a:p>
            <a:pPr defTabSz="371475">
              <a:spcAft>
                <a:spcPts val="450"/>
              </a:spcAft>
              <a:defRPr/>
            </a:pPr>
            <a:r>
              <a:rPr lang="ru-RU" sz="975" dirty="0">
                <a:solidFill>
                  <a:srgbClr val="002395"/>
                </a:solidFill>
              </a:rPr>
              <a:t>Являясь опорным банком мы</a:t>
            </a:r>
            <a:r>
              <a:rPr lang="ru-RU" sz="1000" dirty="0">
                <a:solidFill>
                  <a:srgbClr val="002395"/>
                </a:solidFill>
              </a:rPr>
              <a:t> должны быть сильными как никогда</a:t>
            </a:r>
            <a:endParaRPr lang="ru-RU" sz="975" dirty="0">
              <a:solidFill>
                <a:srgbClr val="002395"/>
              </a:solidFill>
            </a:endParaRPr>
          </a:p>
        </p:txBody>
      </p:sp>
      <p:sp>
        <p:nvSpPr>
          <p:cNvPr id="49" name="Прямоугольник 48">
            <a:extLst>
              <a:ext uri="{FF2B5EF4-FFF2-40B4-BE49-F238E27FC236}">
                <a16:creationId xmlns:a16="http://schemas.microsoft.com/office/drawing/2014/main" id="{09ACFF29-6FE2-4D68-B42E-B3EC84D62813}"/>
              </a:ext>
            </a:extLst>
          </p:cNvPr>
          <p:cNvSpPr/>
          <p:nvPr/>
        </p:nvSpPr>
        <p:spPr>
          <a:xfrm>
            <a:off x="6506104" y="3424518"/>
            <a:ext cx="3043059" cy="1022075"/>
          </a:xfrm>
          <a:prstGeom prst="rect">
            <a:avLst/>
          </a:prstGeom>
          <a:noFill/>
        </p:spPr>
        <p:txBody>
          <a:bodyPr wrap="square" lIns="0" anchor="t">
            <a:spAutoFit/>
          </a:bodyPr>
          <a:lstStyle/>
          <a:p>
            <a:pPr defTabSz="371475" fontAlgn="auto">
              <a:spcBef>
                <a:spcPts val="0"/>
              </a:spcBef>
              <a:spcAft>
                <a:spcPts val="450"/>
              </a:spcAft>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Надежность</a:t>
            </a:r>
          </a:p>
          <a:p>
            <a:pPr defTabSz="371475" fontAlgn="auto">
              <a:spcBef>
                <a:spcPts val="0"/>
              </a:spcBef>
              <a:spcAft>
                <a:spcPts val="450"/>
              </a:spcAft>
              <a:defRPr/>
            </a:pPr>
            <a:r>
              <a:rPr lang="ru-RU" sz="1000" dirty="0">
                <a:solidFill>
                  <a:srgbClr val="002395"/>
                </a:solidFill>
              </a:rPr>
              <a:t>В условиях финансовой нестабильности людям нужен сильный банк, который сможет защитить их интересы, тем самым обеспечив благополучие и процветание страны</a:t>
            </a:r>
            <a:r>
              <a:rPr lang="ru-RU" sz="975" dirty="0">
                <a:solidFill>
                  <a:srgbClr val="002395"/>
                </a:solidFill>
              </a:rPr>
              <a:t>.</a:t>
            </a:r>
          </a:p>
        </p:txBody>
      </p:sp>
      <p:sp>
        <p:nvSpPr>
          <p:cNvPr id="53" name="Полилиния 58">
            <a:extLst>
              <a:ext uri="{FF2B5EF4-FFF2-40B4-BE49-F238E27FC236}">
                <a16:creationId xmlns:a16="http://schemas.microsoft.com/office/drawing/2014/main" id="{0E8E15F5-DE48-491A-B683-1BB6F20D72BF}"/>
              </a:ext>
            </a:extLst>
          </p:cNvPr>
          <p:cNvSpPr/>
          <p:nvPr/>
        </p:nvSpPr>
        <p:spPr>
          <a:xfrm>
            <a:off x="791017" y="2360413"/>
            <a:ext cx="9832" cy="29498"/>
          </a:xfrm>
          <a:custGeom>
            <a:avLst/>
            <a:gdLst>
              <a:gd name="connsiteX0" fmla="*/ 14146 w 28292"/>
              <a:gd name="connsiteY0" fmla="*/ 0 h 84876"/>
              <a:gd name="connsiteX1" fmla="*/ 0 w 28292"/>
              <a:gd name="connsiteY1" fmla="*/ 14146 h 84876"/>
              <a:gd name="connsiteX2" fmla="*/ 0 w 28292"/>
              <a:gd name="connsiteY2" fmla="*/ 70730 h 84876"/>
              <a:gd name="connsiteX3" fmla="*/ 14146 w 28292"/>
              <a:gd name="connsiteY3" fmla="*/ 84876 h 84876"/>
              <a:gd name="connsiteX4" fmla="*/ 28292 w 28292"/>
              <a:gd name="connsiteY4" fmla="*/ 70730 h 84876"/>
              <a:gd name="connsiteX5" fmla="*/ 28292 w 28292"/>
              <a:gd name="connsiteY5" fmla="*/ 14146 h 84876"/>
              <a:gd name="connsiteX6" fmla="*/ 14146 w 28292"/>
              <a:gd name="connsiteY6" fmla="*/ 0 h 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92" h="84876">
                <a:moveTo>
                  <a:pt x="14146" y="0"/>
                </a:moveTo>
                <a:cubicBezTo>
                  <a:pt x="6333" y="0"/>
                  <a:pt x="0" y="6333"/>
                  <a:pt x="0" y="14146"/>
                </a:cubicBezTo>
                <a:lnTo>
                  <a:pt x="0" y="70730"/>
                </a:lnTo>
                <a:cubicBezTo>
                  <a:pt x="0" y="78543"/>
                  <a:pt x="6333" y="84876"/>
                  <a:pt x="14146" y="84876"/>
                </a:cubicBezTo>
                <a:cubicBezTo>
                  <a:pt x="21959" y="84876"/>
                  <a:pt x="28292" y="78543"/>
                  <a:pt x="28292" y="70730"/>
                </a:cubicBezTo>
                <a:lnTo>
                  <a:pt x="28292" y="14146"/>
                </a:lnTo>
                <a:cubicBezTo>
                  <a:pt x="28292" y="6333"/>
                  <a:pt x="21959" y="0"/>
                  <a:pt x="14146" y="0"/>
                </a:cubicBezTo>
                <a:close/>
              </a:path>
            </a:pathLst>
          </a:custGeom>
          <a:solidFill>
            <a:schemeClr val="accent1">
              <a:lumMod val="40000"/>
              <a:lumOff val="60000"/>
            </a:schemeClr>
          </a:solidFill>
          <a:ln w="9431" cap="flat">
            <a:noFill/>
            <a:prstDash val="solid"/>
            <a:miter/>
          </a:ln>
        </p:spPr>
        <p:txBody>
          <a:bodyPr rtlCol="0" anchor="ctr"/>
          <a:lstStyle/>
          <a:p>
            <a:endParaRPr lang="ru-RU"/>
          </a:p>
        </p:txBody>
      </p:sp>
      <p:sp>
        <p:nvSpPr>
          <p:cNvPr id="81" name="Заголовок 3">
            <a:extLst>
              <a:ext uri="{FF2B5EF4-FFF2-40B4-BE49-F238E27FC236}">
                <a16:creationId xmlns:a16="http://schemas.microsoft.com/office/drawing/2014/main" id="{5FC3BC07-EB76-4A89-B592-551EAF227EF6}"/>
              </a:ext>
            </a:extLst>
          </p:cNvPr>
          <p:cNvSpPr txBox="1">
            <a:spLocks/>
          </p:cNvSpPr>
          <p:nvPr/>
        </p:nvSpPr>
        <p:spPr>
          <a:xfrm>
            <a:off x="1" y="1073746"/>
            <a:ext cx="9905999" cy="725924"/>
          </a:xfrm>
          <a:prstGeom prst="rect">
            <a:avLst/>
          </a:prstGeom>
        </p:spPr>
        <p:txBody>
          <a:bodyPr vert="horz" lIns="74295" tIns="37148" rIns="74295" bIns="37148"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altLang="ru-RU" sz="3900" b="1" dirty="0">
                <a:cs typeface="Courier New" panose="02070309020205020404" charset="0"/>
              </a:rPr>
              <a:t>Ценности бренда</a:t>
            </a:r>
            <a:endParaRPr lang="en-US" altLang="ru-RU" sz="3900" b="1" dirty="0">
              <a:cs typeface="Courier New" panose="02070309020205020404" charset="0"/>
            </a:endParaRPr>
          </a:p>
        </p:txBody>
      </p:sp>
      <p:sp>
        <p:nvSpPr>
          <p:cNvPr id="83" name="Прямоугольник 82">
            <a:extLst>
              <a:ext uri="{FF2B5EF4-FFF2-40B4-BE49-F238E27FC236}">
                <a16:creationId xmlns:a16="http://schemas.microsoft.com/office/drawing/2014/main" id="{6FA6D237-2165-48E1-9E88-0F7BF21F82A9}"/>
              </a:ext>
            </a:extLst>
          </p:cNvPr>
          <p:cNvSpPr/>
          <p:nvPr/>
        </p:nvSpPr>
        <p:spPr>
          <a:xfrm>
            <a:off x="587645" y="4735089"/>
            <a:ext cx="2181666" cy="1175963"/>
          </a:xfrm>
          <a:prstGeom prst="rect">
            <a:avLst/>
          </a:prstGeom>
          <a:noFill/>
        </p:spPr>
        <p:txBody>
          <a:bodyPr wrap="square" lIns="0" anchor="t">
            <a:spAutoFit/>
          </a:bodyPr>
          <a:lstStyle/>
          <a:p>
            <a:pPr defTabSz="371475" fontAlgn="auto">
              <a:spcBef>
                <a:spcPts val="0"/>
              </a:spcBef>
              <a:spcAft>
                <a:spcPts val="450"/>
              </a:spcAft>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Безопасность</a:t>
            </a:r>
          </a:p>
          <a:p>
            <a:pPr defTabSz="371475" fontAlgn="auto">
              <a:spcBef>
                <a:spcPts val="0"/>
              </a:spcBef>
              <a:spcAft>
                <a:spcPts val="450"/>
              </a:spcAft>
              <a:defRPr/>
            </a:pPr>
            <a:r>
              <a:rPr lang="ru-RU" sz="1000" dirty="0">
                <a:solidFill>
                  <a:srgbClr val="002395"/>
                </a:solidFill>
              </a:rPr>
              <a:t>Наш банк — это банк, в котором все под контролем. Мы придаем большое значение безопасности банковских операций, банковской тайне и конфиденциальности</a:t>
            </a:r>
            <a:r>
              <a:rPr lang="ru-RU" sz="975" dirty="0">
                <a:solidFill>
                  <a:srgbClr val="002395"/>
                </a:solidFill>
              </a:rPr>
              <a:t>.</a:t>
            </a:r>
          </a:p>
        </p:txBody>
      </p:sp>
      <p:sp>
        <p:nvSpPr>
          <p:cNvPr id="84" name="Прямоугольник 83">
            <a:extLst>
              <a:ext uri="{FF2B5EF4-FFF2-40B4-BE49-F238E27FC236}">
                <a16:creationId xmlns:a16="http://schemas.microsoft.com/office/drawing/2014/main" id="{A9B229AE-E6F7-4BF0-897B-864EC6A5FE73}"/>
              </a:ext>
            </a:extLst>
          </p:cNvPr>
          <p:cNvSpPr/>
          <p:nvPr/>
        </p:nvSpPr>
        <p:spPr>
          <a:xfrm>
            <a:off x="3614310" y="4735088"/>
            <a:ext cx="2694497" cy="1175963"/>
          </a:xfrm>
          <a:prstGeom prst="rect">
            <a:avLst/>
          </a:prstGeom>
          <a:noFill/>
        </p:spPr>
        <p:txBody>
          <a:bodyPr wrap="square" lIns="0" anchor="t">
            <a:spAutoFit/>
          </a:bodyPr>
          <a:lstStyle/>
          <a:p>
            <a:pPr defTabSz="371475" fontAlgn="auto">
              <a:spcBef>
                <a:spcPts val="0"/>
              </a:spcBef>
              <a:spcAft>
                <a:spcPts val="450"/>
              </a:spcAft>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Разделенное лидерство</a:t>
            </a:r>
          </a:p>
          <a:p>
            <a:pPr defTabSz="371475" fontAlgn="auto">
              <a:spcBef>
                <a:spcPts val="0"/>
              </a:spcBef>
              <a:spcAft>
                <a:spcPts val="450"/>
              </a:spcAft>
              <a:defRPr/>
            </a:pPr>
            <a:r>
              <a:rPr lang="ru-RU" sz="1000" dirty="0">
                <a:solidFill>
                  <a:srgbClr val="002395"/>
                </a:solidFill>
              </a:rPr>
              <a:t>В работе с клиентами мы стремимся дать им лучшие условия, позволяющие им делать их лучше, тем самым создавая основу для долгосрочных партнерских отношений.</a:t>
            </a:r>
            <a:r>
              <a:rPr lang="ru-RU" sz="975" dirty="0">
                <a:solidFill>
                  <a:srgbClr val="002395"/>
                </a:solidFill>
              </a:rPr>
              <a:t>.</a:t>
            </a:r>
          </a:p>
        </p:txBody>
      </p:sp>
      <p:cxnSp>
        <p:nvCxnSpPr>
          <p:cNvPr id="86" name="Прямая соединительная линия 85">
            <a:extLst>
              <a:ext uri="{FF2B5EF4-FFF2-40B4-BE49-F238E27FC236}">
                <a16:creationId xmlns:a16="http://schemas.microsoft.com/office/drawing/2014/main" id="{AB92DE6B-3340-4C15-A074-C2CF4D265E4D}"/>
              </a:ext>
            </a:extLst>
          </p:cNvPr>
          <p:cNvCxnSpPr/>
          <p:nvPr/>
        </p:nvCxnSpPr>
        <p:spPr>
          <a:xfrm>
            <a:off x="587646" y="4657884"/>
            <a:ext cx="901471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86">
            <a:extLst>
              <a:ext uri="{FF2B5EF4-FFF2-40B4-BE49-F238E27FC236}">
                <a16:creationId xmlns:a16="http://schemas.microsoft.com/office/drawing/2014/main" id="{A6873F86-67BB-406E-BD50-386A22550FFB}"/>
              </a:ext>
            </a:extLst>
          </p:cNvPr>
          <p:cNvCxnSpPr>
            <a:cxnSpLocks/>
          </p:cNvCxnSpPr>
          <p:nvPr/>
        </p:nvCxnSpPr>
        <p:spPr>
          <a:xfrm>
            <a:off x="6350773" y="2021843"/>
            <a:ext cx="0" cy="37755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Рисунок 4">
            <a:extLst>
              <a:ext uri="{FF2B5EF4-FFF2-40B4-BE49-F238E27FC236}">
                <a16:creationId xmlns:a16="http://schemas.microsoft.com/office/drawing/2014/main" id="{42129F84-F962-45B4-A900-6AB1661EDBAF}"/>
              </a:ext>
            </a:extLst>
          </p:cNvPr>
          <p:cNvPicPr>
            <a:picLocks noChangeAspect="1"/>
          </p:cNvPicPr>
          <p:nvPr/>
        </p:nvPicPr>
        <p:blipFill>
          <a:blip r:embed="rId2"/>
          <a:stretch>
            <a:fillRect/>
          </a:stretch>
        </p:blipFill>
        <p:spPr>
          <a:xfrm>
            <a:off x="6652515" y="4749688"/>
            <a:ext cx="2750239" cy="1175964"/>
          </a:xfrm>
          <a:prstGeom prst="rect">
            <a:avLst/>
          </a:prstGeom>
        </p:spPr>
      </p:pic>
      <p:sp>
        <p:nvSpPr>
          <p:cNvPr id="2" name="Номер слайда 1">
            <a:extLst>
              <a:ext uri="{FF2B5EF4-FFF2-40B4-BE49-F238E27FC236}">
                <a16:creationId xmlns:a16="http://schemas.microsoft.com/office/drawing/2014/main" id="{820F843C-41D1-99FF-B7F6-D47000293D8F}"/>
              </a:ext>
            </a:extLst>
          </p:cNvPr>
          <p:cNvSpPr>
            <a:spLocks noGrp="1"/>
          </p:cNvSpPr>
          <p:nvPr>
            <p:ph type="sldNum" sz="quarter" idx="10"/>
          </p:nvPr>
        </p:nvSpPr>
        <p:spPr/>
        <p:txBody>
          <a:bodyPr/>
          <a:lstStyle/>
          <a:p>
            <a:pPr>
              <a:defRPr/>
            </a:pPr>
            <a:fld id="{B254B7F8-7478-46A6-AA7E-1FB659CD732B}" type="slidenum">
              <a:rPr lang="ru-RU" smtClean="0"/>
              <a:pPr>
                <a:defRPr/>
              </a:pPr>
              <a:t>9</a:t>
            </a:fld>
            <a:endParaRPr lang="ru-RU" dirty="0"/>
          </a:p>
        </p:txBody>
      </p:sp>
    </p:spTree>
    <p:extLst>
      <p:ext uri="{BB962C8B-B14F-4D97-AF65-F5344CB8AC3E}">
        <p14:creationId xmlns:p14="http://schemas.microsoft.com/office/powerpoint/2010/main" val="1117600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6" name="Рисунок 5">
            <a:extLst>
              <a:ext uri="{FF2B5EF4-FFF2-40B4-BE49-F238E27FC236}">
                <a16:creationId xmlns:a16="http://schemas.microsoft.com/office/drawing/2014/main" id="{4AB04E74-2B8B-42A0-9F32-3AB7EFF02E54}"/>
              </a:ext>
            </a:extLst>
          </p:cNvPr>
          <p:cNvPicPr>
            <a:picLocks noChangeAspect="1"/>
          </p:cNvPicPr>
          <p:nvPr/>
        </p:nvPicPr>
        <p:blipFill rotWithShape="1">
          <a:blip r:embed="rId3">
            <a:extLst>
              <a:ext uri="{28A0092B-C50C-407E-A947-70E740481C1C}">
                <a14:useLocalDpi xmlns:a14="http://schemas.microsoft.com/office/drawing/2010/main" val="0"/>
              </a:ext>
            </a:extLst>
          </a:blip>
          <a:srcRect l="1203" r="1617"/>
          <a:stretch/>
        </p:blipFill>
        <p:spPr>
          <a:xfrm>
            <a:off x="419567" y="960679"/>
            <a:ext cx="9066862" cy="5501161"/>
          </a:xfrm>
          <a:prstGeom prst="rect">
            <a:avLst/>
          </a:prstGeom>
        </p:spPr>
      </p:pic>
      <p:sp>
        <p:nvSpPr>
          <p:cNvPr id="15" name="TextBox 14">
            <a:extLst>
              <a:ext uri="{FF2B5EF4-FFF2-40B4-BE49-F238E27FC236}">
                <a16:creationId xmlns:a16="http://schemas.microsoft.com/office/drawing/2014/main" id="{1E911DA8-2251-46EC-A05E-C06BB5EDD1B8}"/>
              </a:ext>
            </a:extLst>
          </p:cNvPr>
          <p:cNvSpPr txBox="1"/>
          <p:nvPr/>
        </p:nvSpPr>
        <p:spPr>
          <a:xfrm>
            <a:off x="4189857" y="1509720"/>
            <a:ext cx="1526282" cy="569387"/>
          </a:xfrm>
          <a:prstGeom prst="rect">
            <a:avLst/>
          </a:prstGeom>
          <a:noFill/>
        </p:spPr>
        <p:txBody>
          <a:bodyPr wrap="square">
            <a:spAutoFit/>
          </a:bodyPr>
          <a:lstStyle/>
          <a:p>
            <a:pPr algn="ctr"/>
            <a:endParaRPr lang="ru-RU" sz="1000" dirty="0">
              <a:solidFill>
                <a:srgbClr val="002395"/>
              </a:solidFill>
            </a:endParaRPr>
          </a:p>
          <a:p>
            <a:pPr algn="ctr"/>
            <a:r>
              <a:rPr lang="ru-RU" sz="1050" dirty="0">
                <a:solidFill>
                  <a:srgbClr val="002395"/>
                </a:solidFill>
              </a:rPr>
              <a:t>БАНК СИЛЬНЫХ ЛЮДЕЙ</a:t>
            </a:r>
          </a:p>
        </p:txBody>
      </p:sp>
      <p:sp>
        <p:nvSpPr>
          <p:cNvPr id="19" name="TextBox 18">
            <a:extLst>
              <a:ext uri="{FF2B5EF4-FFF2-40B4-BE49-F238E27FC236}">
                <a16:creationId xmlns:a16="http://schemas.microsoft.com/office/drawing/2014/main" id="{240BD28E-CBD6-4943-B58E-34202C047943}"/>
              </a:ext>
            </a:extLst>
          </p:cNvPr>
          <p:cNvSpPr txBox="1"/>
          <p:nvPr/>
        </p:nvSpPr>
        <p:spPr>
          <a:xfrm>
            <a:off x="3566089" y="2287431"/>
            <a:ext cx="2773817" cy="615553"/>
          </a:xfrm>
          <a:prstGeom prst="rect">
            <a:avLst/>
          </a:prstGeom>
          <a:noFill/>
        </p:spPr>
        <p:txBody>
          <a:bodyPr wrap="square">
            <a:spAutoFit/>
          </a:bodyPr>
          <a:lstStyle/>
          <a:p>
            <a:pPr algn="ctr"/>
            <a:r>
              <a:rPr lang="ru-RU" sz="850" dirty="0">
                <a:solidFill>
                  <a:srgbClr val="002395"/>
                </a:solidFill>
              </a:rPr>
              <a:t>ОСНОВАТЕЛЬНЫЙ, ОТВЕТСТВЕННЫЙ, ВОЛЕВОЙ, ВЛИЯТЕЛЬНЫЙ, КОМПЕТЕНТНЫЙ, СИЛЬНЫЙ, МАСШТАБНО-МЫСЛЯЩИЙ, РЕШИТЕЛЬНЫЙ, ОТЗЫВЧИВЫЙ</a:t>
            </a:r>
          </a:p>
        </p:txBody>
      </p:sp>
      <p:sp>
        <p:nvSpPr>
          <p:cNvPr id="21" name="TextBox 20">
            <a:extLst>
              <a:ext uri="{FF2B5EF4-FFF2-40B4-BE49-F238E27FC236}">
                <a16:creationId xmlns:a16="http://schemas.microsoft.com/office/drawing/2014/main" id="{B90D1CAD-A770-49CC-B36B-F9D0030001F4}"/>
              </a:ext>
            </a:extLst>
          </p:cNvPr>
          <p:cNvSpPr txBox="1"/>
          <p:nvPr/>
        </p:nvSpPr>
        <p:spPr>
          <a:xfrm>
            <a:off x="6269039" y="2192670"/>
            <a:ext cx="1780306" cy="307777"/>
          </a:xfrm>
          <a:prstGeom prst="rect">
            <a:avLst/>
          </a:prstGeom>
          <a:noFill/>
        </p:spPr>
        <p:txBody>
          <a:bodyPr wrap="square">
            <a:spAutoFit/>
          </a:bodyPr>
          <a:lstStyle/>
          <a:p>
            <a:pPr algn="ctr"/>
            <a:r>
              <a:rPr lang="ru-RU" sz="1400" dirty="0">
                <a:solidFill>
                  <a:srgbClr val="002395"/>
                </a:solidFill>
              </a:rPr>
              <a:t>Характер бренда</a:t>
            </a:r>
          </a:p>
        </p:txBody>
      </p:sp>
      <p:sp>
        <p:nvSpPr>
          <p:cNvPr id="25" name="TextBox 24">
            <a:extLst>
              <a:ext uri="{FF2B5EF4-FFF2-40B4-BE49-F238E27FC236}">
                <a16:creationId xmlns:a16="http://schemas.microsoft.com/office/drawing/2014/main" id="{48D345D9-1722-491A-A61C-414F2FBA0835}"/>
              </a:ext>
            </a:extLst>
          </p:cNvPr>
          <p:cNvSpPr txBox="1"/>
          <p:nvPr/>
        </p:nvSpPr>
        <p:spPr>
          <a:xfrm>
            <a:off x="3164362" y="3026544"/>
            <a:ext cx="3577273" cy="507831"/>
          </a:xfrm>
          <a:prstGeom prst="rect">
            <a:avLst/>
          </a:prstGeom>
          <a:noFill/>
        </p:spPr>
        <p:txBody>
          <a:bodyPr wrap="square">
            <a:spAutoFit/>
          </a:bodyPr>
          <a:lstStyle/>
          <a:p>
            <a:pPr algn="ctr"/>
            <a:r>
              <a:rPr lang="ru-RU" sz="900" dirty="0">
                <a:solidFill>
                  <a:srgbClr val="002395"/>
                </a:solidFill>
              </a:rPr>
              <a:t>ИСКЛЮЧИТЕЛЬНОСТЬ, НАДЕЖНОСТЬ И БЕЗОПАСНОСТЬ, МАСШТАБ, РАЗВИТИЕ, ОТВЕТСТВЕННОСТЬ, ЛЮБОВЬ К РОДИНЕ, РАЗДЕЛЕННОЕ ЛИДЕРСТВО</a:t>
            </a:r>
          </a:p>
        </p:txBody>
      </p:sp>
      <p:sp>
        <p:nvSpPr>
          <p:cNvPr id="26" name="TextBox 25">
            <a:extLst>
              <a:ext uri="{FF2B5EF4-FFF2-40B4-BE49-F238E27FC236}">
                <a16:creationId xmlns:a16="http://schemas.microsoft.com/office/drawing/2014/main" id="{F6CCA049-A8E0-43BF-86EC-9D33D494F271}"/>
              </a:ext>
            </a:extLst>
          </p:cNvPr>
          <p:cNvSpPr txBox="1"/>
          <p:nvPr/>
        </p:nvSpPr>
        <p:spPr>
          <a:xfrm>
            <a:off x="6632439" y="2904797"/>
            <a:ext cx="1780306" cy="307777"/>
          </a:xfrm>
          <a:prstGeom prst="rect">
            <a:avLst/>
          </a:prstGeom>
          <a:noFill/>
        </p:spPr>
        <p:txBody>
          <a:bodyPr wrap="square">
            <a:spAutoFit/>
          </a:bodyPr>
          <a:lstStyle/>
          <a:p>
            <a:pPr algn="ctr"/>
            <a:r>
              <a:rPr lang="ru-RU" sz="1400" dirty="0">
                <a:solidFill>
                  <a:srgbClr val="002395"/>
                </a:solidFill>
              </a:rPr>
              <a:t>Ценности</a:t>
            </a:r>
          </a:p>
        </p:txBody>
      </p:sp>
      <p:sp>
        <p:nvSpPr>
          <p:cNvPr id="30" name="TextBox 29">
            <a:extLst>
              <a:ext uri="{FF2B5EF4-FFF2-40B4-BE49-F238E27FC236}">
                <a16:creationId xmlns:a16="http://schemas.microsoft.com/office/drawing/2014/main" id="{CFE37881-2B09-4FA4-9512-DE61AAF083A5}"/>
              </a:ext>
            </a:extLst>
          </p:cNvPr>
          <p:cNvSpPr txBox="1"/>
          <p:nvPr/>
        </p:nvSpPr>
        <p:spPr>
          <a:xfrm>
            <a:off x="2695984" y="3698714"/>
            <a:ext cx="2260478" cy="923330"/>
          </a:xfrm>
          <a:prstGeom prst="rect">
            <a:avLst/>
          </a:prstGeom>
          <a:noFill/>
        </p:spPr>
        <p:txBody>
          <a:bodyPr wrap="square">
            <a:spAutoFit/>
          </a:bodyPr>
          <a:lstStyle/>
          <a:p>
            <a:pPr algn="r"/>
            <a:r>
              <a:rPr lang="ru-RU" sz="900" dirty="0">
                <a:solidFill>
                  <a:srgbClr val="002395"/>
                </a:solidFill>
              </a:rPr>
              <a:t>ЧУВСТВО УВЕРЕННОСТИ, УДОВЛЕТВОРЕНИЕ, ГОРДОСТЬ (НАЦИОНАЛЬНАЯ), ЧУВСТВО СОПРИЧАСТНОСТИ, ВЗАИМОПОНИМАНИЯ И СОЛИДАРНОСТИ</a:t>
            </a:r>
          </a:p>
        </p:txBody>
      </p:sp>
      <p:sp>
        <p:nvSpPr>
          <p:cNvPr id="31" name="TextBox 30">
            <a:extLst>
              <a:ext uri="{FF2B5EF4-FFF2-40B4-BE49-F238E27FC236}">
                <a16:creationId xmlns:a16="http://schemas.microsoft.com/office/drawing/2014/main" id="{58CE5B23-9B3C-4452-954F-42B79C41FC5A}"/>
              </a:ext>
            </a:extLst>
          </p:cNvPr>
          <p:cNvSpPr txBox="1"/>
          <p:nvPr/>
        </p:nvSpPr>
        <p:spPr>
          <a:xfrm>
            <a:off x="755613" y="3466372"/>
            <a:ext cx="1780306" cy="523220"/>
          </a:xfrm>
          <a:prstGeom prst="rect">
            <a:avLst/>
          </a:prstGeom>
          <a:noFill/>
        </p:spPr>
        <p:txBody>
          <a:bodyPr wrap="square">
            <a:spAutoFit/>
          </a:bodyPr>
          <a:lstStyle/>
          <a:p>
            <a:pPr algn="ctr"/>
            <a:r>
              <a:rPr lang="ru-RU" sz="1400" dirty="0">
                <a:solidFill>
                  <a:srgbClr val="002395"/>
                </a:solidFill>
              </a:rPr>
              <a:t>Эмоциональные преимущества</a:t>
            </a:r>
          </a:p>
        </p:txBody>
      </p:sp>
      <p:sp>
        <p:nvSpPr>
          <p:cNvPr id="32" name="TextBox 31">
            <a:extLst>
              <a:ext uri="{FF2B5EF4-FFF2-40B4-BE49-F238E27FC236}">
                <a16:creationId xmlns:a16="http://schemas.microsoft.com/office/drawing/2014/main" id="{2F2EE2E2-9E8D-4B1E-9368-69D1141144FF}"/>
              </a:ext>
            </a:extLst>
          </p:cNvPr>
          <p:cNvSpPr txBox="1"/>
          <p:nvPr/>
        </p:nvSpPr>
        <p:spPr>
          <a:xfrm>
            <a:off x="7567812" y="3502608"/>
            <a:ext cx="1780306" cy="523220"/>
          </a:xfrm>
          <a:prstGeom prst="rect">
            <a:avLst/>
          </a:prstGeom>
          <a:noFill/>
        </p:spPr>
        <p:txBody>
          <a:bodyPr wrap="square">
            <a:spAutoFit/>
          </a:bodyPr>
          <a:lstStyle/>
          <a:p>
            <a:pPr algn="ctr"/>
            <a:r>
              <a:rPr lang="ru-RU" sz="1400" dirty="0">
                <a:solidFill>
                  <a:srgbClr val="002395"/>
                </a:solidFill>
              </a:rPr>
              <a:t>Рациональные преимущество</a:t>
            </a:r>
          </a:p>
        </p:txBody>
      </p:sp>
      <p:sp>
        <p:nvSpPr>
          <p:cNvPr id="36" name="TextBox 35">
            <a:extLst>
              <a:ext uri="{FF2B5EF4-FFF2-40B4-BE49-F238E27FC236}">
                <a16:creationId xmlns:a16="http://schemas.microsoft.com/office/drawing/2014/main" id="{FC22E9DC-B602-433F-9FF7-0D3FAD8A4578}"/>
              </a:ext>
            </a:extLst>
          </p:cNvPr>
          <p:cNvSpPr txBox="1"/>
          <p:nvPr/>
        </p:nvSpPr>
        <p:spPr>
          <a:xfrm>
            <a:off x="4958558" y="3698714"/>
            <a:ext cx="2548508" cy="923330"/>
          </a:xfrm>
          <a:prstGeom prst="rect">
            <a:avLst/>
          </a:prstGeom>
          <a:noFill/>
        </p:spPr>
        <p:txBody>
          <a:bodyPr wrap="square">
            <a:spAutoFit/>
          </a:bodyPr>
          <a:lstStyle/>
          <a:p>
            <a:r>
              <a:rPr lang="ru-RU" sz="900" dirty="0">
                <a:solidFill>
                  <a:srgbClr val="002395"/>
                </a:solidFill>
              </a:rPr>
              <a:t>ВЫСОКИЙ УРОВЕНЬ БЕЗОПАСНОСТИ, КОНФИДЕНЦИАЛЬНОСТИ И БАНКОВСКОЙ ТАЙНЫ. ОСОБЫЕ УСЛОВИЯ ДЛЯ ВОЕННЫХ И ИХ СЕМЕЙ, НАДЕЖНОСТЬ И ФИНАНСОВАЯ УСТОЙЧИВОСТЬ, УНИВЕРСАЛЬНОСТЬ</a:t>
            </a:r>
          </a:p>
        </p:txBody>
      </p:sp>
      <p:sp>
        <p:nvSpPr>
          <p:cNvPr id="40" name="TextBox 39">
            <a:extLst>
              <a:ext uri="{FF2B5EF4-FFF2-40B4-BE49-F238E27FC236}">
                <a16:creationId xmlns:a16="http://schemas.microsoft.com/office/drawing/2014/main" id="{C09E3988-E039-4187-91DA-350780E05650}"/>
              </a:ext>
            </a:extLst>
          </p:cNvPr>
          <p:cNvSpPr txBox="1"/>
          <p:nvPr/>
        </p:nvSpPr>
        <p:spPr>
          <a:xfrm>
            <a:off x="128465" y="-2018645"/>
            <a:ext cx="7301035" cy="369332"/>
          </a:xfrm>
          <a:prstGeom prst="rect">
            <a:avLst/>
          </a:prstGeom>
          <a:noFill/>
        </p:spPr>
        <p:txBody>
          <a:bodyPr wrap="square">
            <a:spAutoFit/>
          </a:bodyPr>
          <a:lstStyle/>
          <a:p>
            <a:pPr algn="l"/>
            <a:r>
              <a:rPr lang="ru-RU" b="1" i="0" dirty="0">
                <a:solidFill>
                  <a:srgbClr val="F9FAFB"/>
                </a:solidFill>
                <a:effectLst/>
                <a:latin typeface="quote-cjk-patch"/>
              </a:rPr>
              <a:t>ё</a:t>
            </a:r>
            <a:endParaRPr lang="ru-RU" b="0" i="0" dirty="0">
              <a:solidFill>
                <a:srgbClr val="F9FAFB"/>
              </a:solidFill>
              <a:effectLst/>
              <a:latin typeface="quote-cjk-patch"/>
            </a:endParaRPr>
          </a:p>
        </p:txBody>
      </p:sp>
      <p:sp>
        <p:nvSpPr>
          <p:cNvPr id="2" name="Прямоугольник 1">
            <a:extLst>
              <a:ext uri="{FF2B5EF4-FFF2-40B4-BE49-F238E27FC236}">
                <a16:creationId xmlns:a16="http://schemas.microsoft.com/office/drawing/2014/main" id="{CE70F6C4-3D8A-45E8-8E8B-48C136E6B582}"/>
              </a:ext>
            </a:extLst>
          </p:cNvPr>
          <p:cNvSpPr/>
          <p:nvPr/>
        </p:nvSpPr>
        <p:spPr>
          <a:xfrm>
            <a:off x="1496616" y="1002338"/>
            <a:ext cx="2260478" cy="507382"/>
          </a:xfrm>
          <a:prstGeom prst="rect">
            <a:avLst/>
          </a:prstGeom>
          <a:ln>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ru-RU"/>
          </a:p>
        </p:txBody>
      </p:sp>
      <p:sp>
        <p:nvSpPr>
          <p:cNvPr id="16" name="TextBox 15">
            <a:extLst>
              <a:ext uri="{FF2B5EF4-FFF2-40B4-BE49-F238E27FC236}">
                <a16:creationId xmlns:a16="http://schemas.microsoft.com/office/drawing/2014/main" id="{A297B774-F4A7-4903-9650-B844BF2DE05E}"/>
              </a:ext>
            </a:extLst>
          </p:cNvPr>
          <p:cNvSpPr txBox="1"/>
          <p:nvPr/>
        </p:nvSpPr>
        <p:spPr>
          <a:xfrm>
            <a:off x="5568852" y="1202016"/>
            <a:ext cx="1780306" cy="307777"/>
          </a:xfrm>
          <a:prstGeom prst="rect">
            <a:avLst/>
          </a:prstGeom>
          <a:noFill/>
        </p:spPr>
        <p:txBody>
          <a:bodyPr wrap="square">
            <a:spAutoFit/>
          </a:bodyPr>
          <a:lstStyle/>
          <a:p>
            <a:pPr algn="ctr"/>
            <a:r>
              <a:rPr lang="ru-RU" sz="1400" dirty="0">
                <a:solidFill>
                  <a:srgbClr val="002395"/>
                </a:solidFill>
              </a:rPr>
              <a:t>Суть бренда</a:t>
            </a:r>
          </a:p>
        </p:txBody>
      </p:sp>
      <p:cxnSp>
        <p:nvCxnSpPr>
          <p:cNvPr id="4" name="Соединитель: уступ 3">
            <a:extLst>
              <a:ext uri="{FF2B5EF4-FFF2-40B4-BE49-F238E27FC236}">
                <a16:creationId xmlns:a16="http://schemas.microsoft.com/office/drawing/2014/main" id="{50F45444-CA5C-4190-A5D6-5BA09AC76C63}"/>
              </a:ext>
            </a:extLst>
          </p:cNvPr>
          <p:cNvCxnSpPr>
            <a:cxnSpLocks/>
            <a:stCxn id="16" idx="2"/>
          </p:cNvCxnSpPr>
          <p:nvPr/>
        </p:nvCxnSpPr>
        <p:spPr>
          <a:xfrm rot="5400000">
            <a:off x="5967984" y="1257950"/>
            <a:ext cx="239178" cy="742864"/>
          </a:xfrm>
          <a:prstGeom prst="bentConnector2">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Соединитель: уступ 21">
            <a:extLst>
              <a:ext uri="{FF2B5EF4-FFF2-40B4-BE49-F238E27FC236}">
                <a16:creationId xmlns:a16="http://schemas.microsoft.com/office/drawing/2014/main" id="{8BAEE568-26E6-465A-AF88-8C2FA35B99A7}"/>
              </a:ext>
            </a:extLst>
          </p:cNvPr>
          <p:cNvCxnSpPr>
            <a:cxnSpLocks/>
            <a:stCxn id="21" idx="2"/>
            <a:endCxn id="19" idx="3"/>
          </p:cNvCxnSpPr>
          <p:nvPr/>
        </p:nvCxnSpPr>
        <p:spPr>
          <a:xfrm rot="5400000">
            <a:off x="6702169" y="2138184"/>
            <a:ext cx="94761" cy="819286"/>
          </a:xfrm>
          <a:prstGeom prst="bentConnector2">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Соединитель: уступ 23">
            <a:extLst>
              <a:ext uri="{FF2B5EF4-FFF2-40B4-BE49-F238E27FC236}">
                <a16:creationId xmlns:a16="http://schemas.microsoft.com/office/drawing/2014/main" id="{43F1DEEA-71B0-4D48-BC3D-B013772C9C7D}"/>
              </a:ext>
            </a:extLst>
          </p:cNvPr>
          <p:cNvCxnSpPr>
            <a:cxnSpLocks/>
            <a:stCxn id="26" idx="2"/>
          </p:cNvCxnSpPr>
          <p:nvPr/>
        </p:nvCxnSpPr>
        <p:spPr>
          <a:xfrm rot="5400000">
            <a:off x="7207003" y="2931073"/>
            <a:ext cx="34089" cy="597091"/>
          </a:xfrm>
          <a:prstGeom prst="bentConnector2">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Соединитель: уступ 27">
            <a:extLst>
              <a:ext uri="{FF2B5EF4-FFF2-40B4-BE49-F238E27FC236}">
                <a16:creationId xmlns:a16="http://schemas.microsoft.com/office/drawing/2014/main" id="{AB3608A2-AED9-44BC-AEB7-EBA9E8A92D49}"/>
              </a:ext>
            </a:extLst>
          </p:cNvPr>
          <p:cNvCxnSpPr>
            <a:cxnSpLocks/>
            <a:stCxn id="32" idx="2"/>
          </p:cNvCxnSpPr>
          <p:nvPr/>
        </p:nvCxnSpPr>
        <p:spPr>
          <a:xfrm rot="5400000">
            <a:off x="8038512" y="3676621"/>
            <a:ext cx="70247" cy="768661"/>
          </a:xfrm>
          <a:prstGeom prst="bentConnector2">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Соединитель: уступ 32">
            <a:extLst>
              <a:ext uri="{FF2B5EF4-FFF2-40B4-BE49-F238E27FC236}">
                <a16:creationId xmlns:a16="http://schemas.microsoft.com/office/drawing/2014/main" id="{363EDB06-3D6C-4670-ADF1-554496B65C27}"/>
              </a:ext>
            </a:extLst>
          </p:cNvPr>
          <p:cNvCxnSpPr>
            <a:cxnSpLocks/>
            <a:endCxn id="31" idx="2"/>
          </p:cNvCxnSpPr>
          <p:nvPr/>
        </p:nvCxnSpPr>
        <p:spPr>
          <a:xfrm rot="10800000">
            <a:off x="1645766" y="3989593"/>
            <a:ext cx="656964" cy="71359"/>
          </a:xfrm>
          <a:prstGeom prst="bentConnector2">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11B7D54-D0E8-4941-8E27-2C120E8B2610}"/>
              </a:ext>
            </a:extLst>
          </p:cNvPr>
          <p:cNvSpPr txBox="1"/>
          <p:nvPr/>
        </p:nvSpPr>
        <p:spPr>
          <a:xfrm>
            <a:off x="1676311" y="4761100"/>
            <a:ext cx="2160240" cy="707886"/>
          </a:xfrm>
          <a:prstGeom prst="rect">
            <a:avLst/>
          </a:prstGeom>
          <a:noFill/>
        </p:spPr>
        <p:txBody>
          <a:bodyPr wrap="square">
            <a:spAutoFit/>
          </a:bodyPr>
          <a:lstStyle/>
          <a:p>
            <a:pPr algn="ctr"/>
            <a:r>
              <a:rPr lang="ru-RU" sz="800" b="1" dirty="0">
                <a:solidFill>
                  <a:srgbClr val="002395"/>
                </a:solidFill>
              </a:rPr>
              <a:t>01. СТАТУС БАНКА ОБСЛУЖИВАНИЕ </a:t>
            </a:r>
            <a:r>
              <a:rPr lang="ru-RU" sz="800" dirty="0">
                <a:solidFill>
                  <a:srgbClr val="002395"/>
                </a:solidFill>
              </a:rPr>
              <a:t>ОБОРОННОПРОМЫШЛЕННОГОКОМПЛЕКСА И ГОСЗАКАЗОВ, ТОП-10 РОССИЙСКИХ БАНКОВ, СОБСТВЕННЫЙ КАПИТАЛ</a:t>
            </a:r>
          </a:p>
        </p:txBody>
      </p:sp>
      <p:sp>
        <p:nvSpPr>
          <p:cNvPr id="41" name="TextBox 40">
            <a:extLst>
              <a:ext uri="{FF2B5EF4-FFF2-40B4-BE49-F238E27FC236}">
                <a16:creationId xmlns:a16="http://schemas.microsoft.com/office/drawing/2014/main" id="{FE2E62CC-45ED-4067-9805-A26DFD466680}"/>
              </a:ext>
            </a:extLst>
          </p:cNvPr>
          <p:cNvSpPr txBox="1"/>
          <p:nvPr/>
        </p:nvSpPr>
        <p:spPr>
          <a:xfrm>
            <a:off x="3858500" y="4729398"/>
            <a:ext cx="2260478" cy="707886"/>
          </a:xfrm>
          <a:prstGeom prst="rect">
            <a:avLst/>
          </a:prstGeom>
          <a:noFill/>
        </p:spPr>
        <p:txBody>
          <a:bodyPr wrap="square">
            <a:spAutoFit/>
          </a:bodyPr>
          <a:lstStyle/>
          <a:p>
            <a:pPr algn="ctr"/>
            <a:r>
              <a:rPr lang="ru-RU" sz="800" b="1" dirty="0">
                <a:solidFill>
                  <a:srgbClr val="002395"/>
                </a:solidFill>
              </a:rPr>
              <a:t>02. СЕРВИС И УСЛУГИ ОСОБЫЕ УСЛОВИЯ ДЛЯ </a:t>
            </a:r>
            <a:r>
              <a:rPr lang="ru-RU" sz="800" dirty="0">
                <a:solidFill>
                  <a:srgbClr val="002395"/>
                </a:solidFill>
              </a:rPr>
              <a:t>ВОЕННОСЛУЖАЩИХ И ИХ СЕМЕЙ (ЛЬГОТНЫЕУСЛОВИЯКРЕДИТОВАНИЯ,ФОНДПОМОЩИ ВЕТЕРАНАМ )</a:t>
            </a:r>
          </a:p>
        </p:txBody>
      </p:sp>
      <p:sp>
        <p:nvSpPr>
          <p:cNvPr id="43" name="TextBox 42">
            <a:extLst>
              <a:ext uri="{FF2B5EF4-FFF2-40B4-BE49-F238E27FC236}">
                <a16:creationId xmlns:a16="http://schemas.microsoft.com/office/drawing/2014/main" id="{81EFB24D-BCEF-48E9-8276-4B08EA09152E}"/>
              </a:ext>
            </a:extLst>
          </p:cNvPr>
          <p:cNvSpPr txBox="1"/>
          <p:nvPr/>
        </p:nvSpPr>
        <p:spPr>
          <a:xfrm>
            <a:off x="6104984" y="4758811"/>
            <a:ext cx="1973554" cy="584775"/>
          </a:xfrm>
          <a:prstGeom prst="rect">
            <a:avLst/>
          </a:prstGeom>
          <a:noFill/>
        </p:spPr>
        <p:txBody>
          <a:bodyPr wrap="square">
            <a:spAutoFit/>
          </a:bodyPr>
          <a:lstStyle/>
          <a:p>
            <a:pPr algn="ctr"/>
            <a:r>
              <a:rPr lang="ru-RU" sz="800" b="1" dirty="0">
                <a:solidFill>
                  <a:srgbClr val="002395"/>
                </a:solidFill>
              </a:rPr>
              <a:t>03. ПАРТНЕРСТВО </a:t>
            </a:r>
            <a:r>
              <a:rPr lang="ru-RU" sz="800" dirty="0">
                <a:solidFill>
                  <a:srgbClr val="002395"/>
                </a:solidFill>
              </a:rPr>
              <a:t>1С БУХОБСЛУЖИВАНИЕ (2 МЕСЯЦА БУХУСЛУГ), БАНКИ-ПАРТНЕРЫ: АО«АЛЬФА-БАНК…</a:t>
            </a:r>
          </a:p>
        </p:txBody>
      </p:sp>
      <p:sp>
        <p:nvSpPr>
          <p:cNvPr id="45" name="TextBox 44">
            <a:extLst>
              <a:ext uri="{FF2B5EF4-FFF2-40B4-BE49-F238E27FC236}">
                <a16:creationId xmlns:a16="http://schemas.microsoft.com/office/drawing/2014/main" id="{5C0E330C-0DCC-4610-9B17-2DA9C51AA59E}"/>
              </a:ext>
            </a:extLst>
          </p:cNvPr>
          <p:cNvSpPr txBox="1"/>
          <p:nvPr/>
        </p:nvSpPr>
        <p:spPr>
          <a:xfrm>
            <a:off x="894128" y="5488016"/>
            <a:ext cx="2160240" cy="707886"/>
          </a:xfrm>
          <a:prstGeom prst="rect">
            <a:avLst/>
          </a:prstGeom>
          <a:noFill/>
        </p:spPr>
        <p:txBody>
          <a:bodyPr wrap="square">
            <a:spAutoFit/>
          </a:bodyPr>
          <a:lstStyle/>
          <a:p>
            <a:pPr algn="ctr"/>
            <a:r>
              <a:rPr lang="ru-RU" sz="800" dirty="0">
                <a:solidFill>
                  <a:srgbClr val="002395"/>
                </a:solidFill>
              </a:rPr>
              <a:t>04. ПРОДУКТЫ </a:t>
            </a:r>
            <a:endParaRPr lang="en-US" sz="800" dirty="0">
              <a:solidFill>
                <a:srgbClr val="002395"/>
              </a:solidFill>
            </a:endParaRPr>
          </a:p>
          <a:p>
            <a:pPr algn="ctr"/>
            <a:r>
              <a:rPr lang="ru-RU" sz="800" dirty="0">
                <a:solidFill>
                  <a:srgbClr val="002395"/>
                </a:solidFill>
              </a:rPr>
              <a:t>АКТУАЛЬНЫЙ ПРОДУКТОВЫЙ ПОРТФЕЛЬ НАИБОЛЕЕ ВОСТРЕБОВАННЫХ, МАССОВЫХ БАНКОВСКИХ ПРОДУКТОВ</a:t>
            </a:r>
          </a:p>
        </p:txBody>
      </p:sp>
      <p:sp>
        <p:nvSpPr>
          <p:cNvPr id="47" name="TextBox 46">
            <a:extLst>
              <a:ext uri="{FF2B5EF4-FFF2-40B4-BE49-F238E27FC236}">
                <a16:creationId xmlns:a16="http://schemas.microsoft.com/office/drawing/2014/main" id="{59F3E79B-A652-43DB-823D-A357C53672AC}"/>
              </a:ext>
            </a:extLst>
          </p:cNvPr>
          <p:cNvSpPr txBox="1"/>
          <p:nvPr/>
        </p:nvSpPr>
        <p:spPr>
          <a:xfrm>
            <a:off x="2726051" y="5528386"/>
            <a:ext cx="1900066" cy="461665"/>
          </a:xfrm>
          <a:prstGeom prst="rect">
            <a:avLst/>
          </a:prstGeom>
          <a:noFill/>
        </p:spPr>
        <p:txBody>
          <a:bodyPr wrap="square">
            <a:spAutoFit/>
          </a:bodyPr>
          <a:lstStyle/>
          <a:p>
            <a:pPr algn="ctr"/>
            <a:r>
              <a:rPr lang="ru-RU" sz="800" b="1" dirty="0">
                <a:solidFill>
                  <a:srgbClr val="002395"/>
                </a:solidFill>
              </a:rPr>
              <a:t>5. ОРГАНИЗАЦИЯ И ЛЮДИ </a:t>
            </a:r>
            <a:r>
              <a:rPr lang="ru-RU" sz="800" dirty="0">
                <a:solidFill>
                  <a:srgbClr val="002395"/>
                </a:solidFill>
              </a:rPr>
              <a:t>КВАЛИФИЦИРОВАННЫЙ УПРАВЛЕНЧЕСКИЙ СОСТАВ</a:t>
            </a:r>
          </a:p>
        </p:txBody>
      </p:sp>
      <p:sp>
        <p:nvSpPr>
          <p:cNvPr id="49" name="TextBox 48">
            <a:extLst>
              <a:ext uri="{FF2B5EF4-FFF2-40B4-BE49-F238E27FC236}">
                <a16:creationId xmlns:a16="http://schemas.microsoft.com/office/drawing/2014/main" id="{F44E28ED-18A6-45A1-B309-0AFFE79B5459}"/>
              </a:ext>
            </a:extLst>
          </p:cNvPr>
          <p:cNvSpPr txBox="1"/>
          <p:nvPr/>
        </p:nvSpPr>
        <p:spPr>
          <a:xfrm>
            <a:off x="4300026" y="5416556"/>
            <a:ext cx="2518527" cy="954107"/>
          </a:xfrm>
          <a:prstGeom prst="rect">
            <a:avLst/>
          </a:prstGeom>
          <a:noFill/>
        </p:spPr>
        <p:txBody>
          <a:bodyPr wrap="square">
            <a:spAutoFit/>
          </a:bodyPr>
          <a:lstStyle/>
          <a:p>
            <a:pPr algn="ctr"/>
            <a:r>
              <a:rPr lang="ru-RU" sz="800" b="1" dirty="0">
                <a:solidFill>
                  <a:srgbClr val="002395"/>
                </a:solidFill>
              </a:rPr>
              <a:t>06. ОФЛАЙН ИНФРАСТРУКТУРА</a:t>
            </a:r>
          </a:p>
          <a:p>
            <a:pPr algn="ctr"/>
            <a:r>
              <a:rPr lang="ru-RU" sz="800" dirty="0">
                <a:solidFill>
                  <a:srgbClr val="002395"/>
                </a:solidFill>
              </a:rPr>
              <a:t>СОВРЕМЕННЫЙ ГИБРИДНЫЙ ФОРМАТ БАНКОВСКОГО</a:t>
            </a:r>
          </a:p>
          <a:p>
            <a:pPr algn="ctr"/>
            <a:r>
              <a:rPr lang="ru-RU" sz="800" dirty="0">
                <a:solidFill>
                  <a:srgbClr val="002395"/>
                </a:solidFill>
              </a:rPr>
              <a:t>РИТЕЙЛА, ШИРОКАЯ ГЕОГРАФИЯ ОТДЕЛЕНИЙ И</a:t>
            </a:r>
          </a:p>
          <a:p>
            <a:pPr algn="ctr"/>
            <a:r>
              <a:rPr lang="ru-RU" sz="800" dirty="0">
                <a:solidFill>
                  <a:srgbClr val="002395"/>
                </a:solidFill>
              </a:rPr>
              <a:t>БАНКОМАТОВ, РАЗВИТАЯ ПЛАТЕЖНАЯ ИНФРАСТРУКТУРА</a:t>
            </a:r>
          </a:p>
        </p:txBody>
      </p:sp>
      <p:sp>
        <p:nvSpPr>
          <p:cNvPr id="51" name="TextBox 50">
            <a:extLst>
              <a:ext uri="{FF2B5EF4-FFF2-40B4-BE49-F238E27FC236}">
                <a16:creationId xmlns:a16="http://schemas.microsoft.com/office/drawing/2014/main" id="{814AD70E-AFDB-4FE6-8D3B-0B67F85A334B}"/>
              </a:ext>
            </a:extLst>
          </p:cNvPr>
          <p:cNvSpPr txBox="1"/>
          <p:nvPr/>
        </p:nvSpPr>
        <p:spPr>
          <a:xfrm>
            <a:off x="6501916" y="5491166"/>
            <a:ext cx="2116090" cy="707886"/>
          </a:xfrm>
          <a:prstGeom prst="rect">
            <a:avLst/>
          </a:prstGeom>
          <a:noFill/>
        </p:spPr>
        <p:txBody>
          <a:bodyPr wrap="square">
            <a:spAutoFit/>
          </a:bodyPr>
          <a:lstStyle/>
          <a:p>
            <a:pPr algn="ctr"/>
            <a:r>
              <a:rPr lang="ru-RU" sz="800" b="1" dirty="0">
                <a:solidFill>
                  <a:srgbClr val="002395"/>
                </a:solidFill>
              </a:rPr>
              <a:t>07. ONLINE, DIGITAL, IT- ИНФРАСТРУКТУРА</a:t>
            </a:r>
          </a:p>
          <a:p>
            <a:pPr algn="ctr"/>
            <a:r>
              <a:rPr lang="ru-RU" sz="800" dirty="0">
                <a:solidFill>
                  <a:srgbClr val="002395"/>
                </a:solidFill>
              </a:rPr>
              <a:t>ИНТЕРНЕТ-БАНК, МОБИЛЬНЫЕ ПРИЛОЖЕНИЯ: PSB-MOBILE,</a:t>
            </a:r>
          </a:p>
          <a:p>
            <a:pPr algn="ctr"/>
            <a:r>
              <a:rPr lang="ru-RU" sz="800" dirty="0">
                <a:solidFill>
                  <a:srgbClr val="002395"/>
                </a:solidFill>
              </a:rPr>
              <a:t>PSB MOЙ БИЗНЕС</a:t>
            </a:r>
          </a:p>
        </p:txBody>
      </p:sp>
      <p:sp>
        <p:nvSpPr>
          <p:cNvPr id="3" name="Номер слайда 2">
            <a:extLst>
              <a:ext uri="{FF2B5EF4-FFF2-40B4-BE49-F238E27FC236}">
                <a16:creationId xmlns:a16="http://schemas.microsoft.com/office/drawing/2014/main" id="{9F611BA0-8D29-70B7-CB09-0FCE48EBA87F}"/>
              </a:ext>
            </a:extLst>
          </p:cNvPr>
          <p:cNvSpPr>
            <a:spLocks noGrp="1"/>
          </p:cNvSpPr>
          <p:nvPr>
            <p:ph type="sldNum" sz="quarter" idx="10"/>
          </p:nvPr>
        </p:nvSpPr>
        <p:spPr/>
        <p:txBody>
          <a:bodyPr/>
          <a:lstStyle/>
          <a:p>
            <a:pPr>
              <a:defRPr/>
            </a:pPr>
            <a:fld id="{7DCEE9E7-25AF-42DF-86F1-84EFCBA56EFC}" type="slidenum">
              <a:rPr lang="ru-RU" smtClean="0"/>
              <a:pPr>
                <a:defRPr/>
              </a:pPr>
              <a:t>10</a:t>
            </a:fld>
            <a:endParaRPr lang="ru-RU" dirty="0"/>
          </a:p>
        </p:txBody>
      </p:sp>
    </p:spTree>
    <p:extLst>
      <p:ext uri="{BB962C8B-B14F-4D97-AF65-F5344CB8AC3E}">
        <p14:creationId xmlns:p14="http://schemas.microsoft.com/office/powerpoint/2010/main" val="110214299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6" name="TextBox 189">
            <a:extLst>
              <a:ext uri="{FF2B5EF4-FFF2-40B4-BE49-F238E27FC236}">
                <a16:creationId xmlns:a16="http://schemas.microsoft.com/office/drawing/2014/main" id="{E47AB0DA-6938-453D-98E4-DDB3960C5AD8}"/>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Что повлияло на имидж?</a:t>
            </a:r>
          </a:p>
        </p:txBody>
      </p:sp>
      <p:pic>
        <p:nvPicPr>
          <p:cNvPr id="6150" name="Picture 6" descr="Премиум качество – Бесплатные иконки: спорт и соревнования">
            <a:extLst>
              <a:ext uri="{FF2B5EF4-FFF2-40B4-BE49-F238E27FC236}">
                <a16:creationId xmlns:a16="http://schemas.microsoft.com/office/drawing/2014/main" id="{F2DD794E-C0C2-8DB6-4679-1A3954C2AD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5599" y="5085184"/>
            <a:ext cx="1293194" cy="121712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D6B9F4B-DB57-4B50-B551-5DE447D1E33A}"/>
              </a:ext>
            </a:extLst>
          </p:cNvPr>
          <p:cNvSpPr txBox="1"/>
          <p:nvPr/>
        </p:nvSpPr>
        <p:spPr>
          <a:xfrm>
            <a:off x="4028424" y="1923314"/>
            <a:ext cx="4786028" cy="3539430"/>
          </a:xfrm>
          <a:prstGeom prst="rect">
            <a:avLst/>
          </a:prstGeom>
          <a:noFill/>
        </p:spPr>
        <p:txBody>
          <a:bodyPr wrap="square">
            <a:spAutoFit/>
          </a:bodyPr>
          <a:lstStyle/>
          <a:p>
            <a:pPr defTabSz="533400" eaLnBrk="1" hangingPunct="1">
              <a:spcAft>
                <a:spcPts val="0"/>
              </a:spcAft>
              <a:buClr>
                <a:srgbClr val="8E8E8E"/>
              </a:buClr>
              <a:buFont typeface="Wingdings" pitchFamily="2" charset="2"/>
              <a:buBlip>
                <a:blip r:embed="rId4"/>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 В середине 2000-х начал развиваться как универсальная кредитная организация, вошёл в двадцатку крупнейших банков страны</a:t>
            </a:r>
          </a:p>
          <a:p>
            <a:pPr defTabSz="533400" eaLnBrk="1" hangingPunct="1">
              <a:spcAft>
                <a:spcPts val="0"/>
              </a:spcAft>
              <a:buClr>
                <a:srgbClr val="8E8E8E"/>
              </a:buClr>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Поглощение ряда других банковских структур</a:t>
            </a:r>
          </a:p>
          <a:p>
            <a:pPr defTabSz="533400" eaLnBrk="1" hangingPunct="1">
              <a:spcAft>
                <a:spcPts val="0"/>
              </a:spcAft>
              <a:buClr>
                <a:srgbClr val="8E8E8E"/>
              </a:buClr>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spcAft>
                <a:spcPts val="0"/>
              </a:spcAft>
              <a:buClr>
                <a:srgbClr val="8E8E8E"/>
              </a:buClr>
              <a:buFont typeface="Wingdings" pitchFamily="2" charset="2"/>
              <a:buBlip>
                <a:blip r:embed="rId4"/>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С 2019 года ПСБ является опорным банком оборонно-промышленного комплекса России</a:t>
            </a:r>
          </a:p>
          <a:p>
            <a:pPr defTabSz="533400" eaLnBrk="1" hangingPunct="1">
              <a:spcAft>
                <a:spcPts val="0"/>
              </a:spcAft>
              <a:buClr>
                <a:srgbClr val="8E8E8E"/>
              </a:buClr>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spcAft>
                <a:spcPts val="0"/>
              </a:spcAft>
              <a:buClr>
                <a:srgbClr val="8E8E8E"/>
              </a:buClr>
              <a:buFont typeface="Wingdings" pitchFamily="2" charset="2"/>
              <a:buBlip>
                <a:blip r:embed="rId4"/>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В 2023 году ПСБ присоединил к себе СМП банк, в результате чего в группу ПСБ также вошли «ПСБ Страхование», «ПСБ Лизинг», «СМП Факторинг» и </a:t>
            </a:r>
            <a:r>
              <a:rPr lang="ru-RU" sz="1400" dirty="0" err="1">
                <a:solidFill>
                  <a:srgbClr val="002394"/>
                </a:solidFill>
                <a:latin typeface="Tahoma" panose="020B0604030504040204" pitchFamily="34" charset="0"/>
                <a:ea typeface="Tahoma" panose="020B0604030504040204" pitchFamily="34" charset="0"/>
                <a:cs typeface="Tahoma" panose="020B0604030504040204" pitchFamily="34" charset="0"/>
              </a:rPr>
              <a:t>Мособлбанк</a:t>
            </a: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spcAft>
                <a:spcPts val="0"/>
              </a:spcAft>
              <a:buClr>
                <a:srgbClr val="8E8E8E"/>
              </a:buClr>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spcAft>
                <a:spcPts val="0"/>
              </a:spcAft>
              <a:buClr>
                <a:srgbClr val="8E8E8E"/>
              </a:buClr>
              <a:buFont typeface="Wingdings" pitchFamily="2" charset="2"/>
              <a:buBlip>
                <a:blip r:embed="rId4"/>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В 2024-м году переезд центрального аппарата в Ярославль</a:t>
            </a:r>
          </a:p>
          <a:p>
            <a:pPr defTabSz="533400" eaLnBrk="1" hangingPunct="1">
              <a:spcAft>
                <a:spcPts val="0"/>
              </a:spcAft>
              <a:buClr>
                <a:srgbClr val="8E8E8E"/>
              </a:buClr>
              <a:buFont typeface="Wingdings" pitchFamily="2" charset="2"/>
              <a:buBlip>
                <a:blip r:embed="rId4"/>
              </a:buBlip>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4098" name="Picture 2" descr="Банк ПСБ — Википедия">
            <a:extLst>
              <a:ext uri="{FF2B5EF4-FFF2-40B4-BE49-F238E27FC236}">
                <a16:creationId xmlns:a16="http://schemas.microsoft.com/office/drawing/2014/main" id="{1792F30E-CA16-45D7-92A7-D012E593561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2480" y="1484784"/>
            <a:ext cx="3312368" cy="4416490"/>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83D939CF-FFA6-9A21-2076-7AE748A83D8B}"/>
              </a:ext>
            </a:extLst>
          </p:cNvPr>
          <p:cNvSpPr>
            <a:spLocks noGrp="1"/>
          </p:cNvSpPr>
          <p:nvPr>
            <p:ph type="sldNum" sz="quarter" idx="10"/>
          </p:nvPr>
        </p:nvSpPr>
        <p:spPr/>
        <p:txBody>
          <a:bodyPr/>
          <a:lstStyle/>
          <a:p>
            <a:pPr>
              <a:defRPr/>
            </a:pPr>
            <a:fld id="{7DCEE9E7-25AF-42DF-86F1-84EFCBA56EFC}" type="slidenum">
              <a:rPr lang="ru-RU" smtClean="0"/>
              <a:pPr>
                <a:defRPr/>
              </a:pPr>
              <a:t>11</a:t>
            </a:fld>
            <a:endParaRPr lang="ru-RU" dirty="0"/>
          </a:p>
        </p:txBody>
      </p:sp>
    </p:spTree>
    <p:extLst>
      <p:ext uri="{BB962C8B-B14F-4D97-AF65-F5344CB8AC3E}">
        <p14:creationId xmlns:p14="http://schemas.microsoft.com/office/powerpoint/2010/main" val="316786816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71EFD-28CD-B6B6-2B3D-E2129B769EC4}"/>
            </a:ext>
          </a:extLst>
        </p:cNvPr>
        <p:cNvGrpSpPr/>
        <p:nvPr/>
      </p:nvGrpSpPr>
      <p:grpSpPr>
        <a:xfrm>
          <a:off x="0" y="0"/>
          <a:ext cx="0" cy="0"/>
          <a:chOff x="0" y="0"/>
          <a:chExt cx="0" cy="0"/>
        </a:xfrm>
      </p:grpSpPr>
      <p:sp>
        <p:nvSpPr>
          <p:cNvPr id="4227" name="Freeform 161">
            <a:extLst>
              <a:ext uri="{FF2B5EF4-FFF2-40B4-BE49-F238E27FC236}">
                <a16:creationId xmlns:a16="http://schemas.microsoft.com/office/drawing/2014/main" id="{76849FB7-8AE1-EDBA-D812-14452C3882A7}"/>
              </a:ext>
            </a:extLst>
          </p:cNvPr>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a:extLst>
              <a:ext uri="{FF2B5EF4-FFF2-40B4-BE49-F238E27FC236}">
                <a16:creationId xmlns:a16="http://schemas.microsoft.com/office/drawing/2014/main" id="{3173A7D0-4C1A-BB69-6155-B5C023AE71AD}"/>
              </a:ext>
            </a:extLst>
          </p:cNvPr>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Прямоугольник 1">
            <a:extLst>
              <a:ext uri="{FF2B5EF4-FFF2-40B4-BE49-F238E27FC236}">
                <a16:creationId xmlns:a16="http://schemas.microsoft.com/office/drawing/2014/main" id="{768C98F8-F82E-588E-BED1-8D6C86BB3B17}"/>
              </a:ext>
            </a:extLst>
          </p:cNvPr>
          <p:cNvSpPr/>
          <p:nvPr/>
        </p:nvSpPr>
        <p:spPr>
          <a:xfrm>
            <a:off x="2676414" y="2438440"/>
            <a:ext cx="7185247" cy="1981120"/>
          </a:xfrm>
          <a:prstGeom prst="rect">
            <a:avLst/>
          </a:prstGeom>
        </p:spPr>
        <p:txBody>
          <a:bodyPr wrap="square">
            <a:spAutoFit/>
          </a:bodyPr>
          <a:lstStyle/>
          <a:p>
            <a:pPr defTabSz="533400" eaLnBrk="1" hangingPunct="1">
              <a:lnSpc>
                <a:spcPct val="200000"/>
              </a:lnSpc>
              <a:spcAft>
                <a:spcPts val="0"/>
              </a:spcAft>
              <a:buClr>
                <a:srgbClr val="8E8E8E"/>
              </a:buClr>
            </a:pP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Банк стоит перед задачей изменить своё узкое восприятие как «военного» или «зарплатного». Цель — создать ассоциацию с «банком для обычной жизни обычных людей» и раскрыть через эмоции слоган «Банк сильной страны».</a:t>
            </a:r>
          </a:p>
        </p:txBody>
      </p:sp>
      <p:sp>
        <p:nvSpPr>
          <p:cNvPr id="6" name="TextBox 189">
            <a:extLst>
              <a:ext uri="{FF2B5EF4-FFF2-40B4-BE49-F238E27FC236}">
                <a16:creationId xmlns:a16="http://schemas.microsoft.com/office/drawing/2014/main" id="{D6C0ED3A-7E9E-3A48-6800-9B8F3B814CAC}"/>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Изменение имиджа через рекламу</a:t>
            </a:r>
          </a:p>
        </p:txBody>
      </p:sp>
      <p:pic>
        <p:nvPicPr>
          <p:cNvPr id="6146" name="Picture 2" descr="Стрелки обновления иконка | Freepik">
            <a:extLst>
              <a:ext uri="{FF2B5EF4-FFF2-40B4-BE49-F238E27FC236}">
                <a16:creationId xmlns:a16="http://schemas.microsoft.com/office/drawing/2014/main" id="{D722CF71-5681-55CF-EF53-8C8552DFD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496" y="2606465"/>
            <a:ext cx="1656184" cy="1645069"/>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a:extLst>
              <a:ext uri="{FF2B5EF4-FFF2-40B4-BE49-F238E27FC236}">
                <a16:creationId xmlns:a16="http://schemas.microsoft.com/office/drawing/2014/main" id="{836BF380-5B71-8ECA-0120-4F740E425A1D}"/>
              </a:ext>
            </a:extLst>
          </p:cNvPr>
          <p:cNvSpPr>
            <a:spLocks noGrp="1"/>
          </p:cNvSpPr>
          <p:nvPr>
            <p:ph type="sldNum" sz="quarter" idx="10"/>
          </p:nvPr>
        </p:nvSpPr>
        <p:spPr/>
        <p:txBody>
          <a:bodyPr/>
          <a:lstStyle/>
          <a:p>
            <a:pPr>
              <a:defRPr/>
            </a:pPr>
            <a:fld id="{7DCEE9E7-25AF-42DF-86F1-84EFCBA56EFC}" type="slidenum">
              <a:rPr lang="ru-RU" smtClean="0"/>
              <a:pPr>
                <a:defRPr/>
              </a:pPr>
              <a:t>12</a:t>
            </a:fld>
            <a:endParaRPr lang="ru-RU" dirty="0"/>
          </a:p>
        </p:txBody>
      </p:sp>
    </p:spTree>
    <p:extLst>
      <p:ext uri="{BB962C8B-B14F-4D97-AF65-F5344CB8AC3E}">
        <p14:creationId xmlns:p14="http://schemas.microsoft.com/office/powerpoint/2010/main" val="213823515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Прямоугольник 1"/>
          <p:cNvSpPr/>
          <p:nvPr/>
        </p:nvSpPr>
        <p:spPr>
          <a:xfrm>
            <a:off x="200472" y="1412776"/>
            <a:ext cx="3725513" cy="4843442"/>
          </a:xfrm>
          <a:prstGeom prst="rect">
            <a:avLst/>
          </a:prstGeom>
        </p:spPr>
        <p:txBody>
          <a:bodyPr wrap="square">
            <a:spAutoFit/>
          </a:bodyPr>
          <a:lstStyle/>
          <a:p>
            <a:pPr defTabSz="533400" eaLnBrk="1" hangingPunct="1">
              <a:lnSpc>
                <a:spcPct val="150000"/>
              </a:lnSpc>
              <a:spcAft>
                <a:spcPts val="0"/>
              </a:spcAft>
              <a:buClr>
                <a:srgbClr val="8E8E8E"/>
              </a:buClr>
            </a:pP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На первом этапе банк решал задачу повышения узнаваемости бренда и его аббревиатуры. Для этого использовался визуальный приём-ребус: на экране показывались слова, в которых не хватало ключевых букв — П, С, Б. </a:t>
            </a:r>
          </a:p>
          <a:p>
            <a:pPr defTabSz="533400" eaLnBrk="1" hangingPunct="1">
              <a:lnSpc>
                <a:spcPct val="150000"/>
              </a:lnSpc>
              <a:spcAft>
                <a:spcPts val="0"/>
              </a:spcAft>
              <a:buClr>
                <a:srgbClr val="8E8E8E"/>
              </a:buClr>
            </a:pP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С появлением этих букв фразы обретали смысл, например: </a:t>
            </a:r>
          </a:p>
          <a:p>
            <a:pPr defTabSz="533400" eaLnBrk="1" hangingPunct="1">
              <a:lnSpc>
                <a:spcPct val="150000"/>
              </a:lnSpc>
              <a:spcAft>
                <a:spcPts val="0"/>
              </a:spcAft>
              <a:buClr>
                <a:srgbClr val="8E8E8E"/>
              </a:buClr>
            </a:pPr>
            <a:r>
              <a:rPr lang="ru-RU" sz="1600" u="sng" dirty="0">
                <a:solidFill>
                  <a:srgbClr val="002394"/>
                </a:solidFill>
                <a:latin typeface="Tahoma" panose="020B0604030504040204" pitchFamily="34" charset="0"/>
                <a:ea typeface="Tahoma" panose="020B0604030504040204" pitchFamily="34" charset="0"/>
                <a:cs typeface="Tahoma" panose="020B0604030504040204" pitchFamily="34" charset="0"/>
              </a:rPr>
              <a:t>П</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острою </a:t>
            </a:r>
            <a:r>
              <a:rPr lang="ru-RU" sz="1600" u="sng" dirty="0">
                <a:solidFill>
                  <a:srgbClr val="002394"/>
                </a:solidFill>
                <a:latin typeface="Tahoma" panose="020B0604030504040204" pitchFamily="34" charset="0"/>
                <a:ea typeface="Tahoma" panose="020B0604030504040204" pitchFamily="34" charset="0"/>
                <a:cs typeface="Tahoma" panose="020B0604030504040204" pitchFamily="34" charset="0"/>
              </a:rPr>
              <a:t>С</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ильный </a:t>
            </a:r>
            <a:r>
              <a:rPr lang="ru-RU" sz="1600" u="sng" dirty="0">
                <a:solidFill>
                  <a:srgbClr val="002394"/>
                </a:solidFill>
                <a:latin typeface="Tahoma" panose="020B0604030504040204" pitchFamily="34" charset="0"/>
                <a:ea typeface="Tahoma" panose="020B0604030504040204" pitchFamily="34" charset="0"/>
                <a:cs typeface="Tahoma" panose="020B0604030504040204" pitchFamily="34" charset="0"/>
              </a:rPr>
              <a:t>Б</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изнес, </a:t>
            </a:r>
          </a:p>
          <a:p>
            <a:pPr defTabSz="533400" eaLnBrk="1" hangingPunct="1">
              <a:lnSpc>
                <a:spcPct val="150000"/>
              </a:lnSpc>
              <a:spcAft>
                <a:spcPts val="0"/>
              </a:spcAft>
              <a:buClr>
                <a:srgbClr val="8E8E8E"/>
              </a:buClr>
            </a:pPr>
            <a:r>
              <a:rPr lang="ru-RU" sz="1600" u="sng" dirty="0">
                <a:solidFill>
                  <a:srgbClr val="002394"/>
                </a:solidFill>
                <a:latin typeface="Tahoma" panose="020B0604030504040204" pitchFamily="34" charset="0"/>
                <a:ea typeface="Tahoma" panose="020B0604030504040204" pitchFamily="34" charset="0"/>
                <a:cs typeface="Tahoma" panose="020B0604030504040204" pitchFamily="34" charset="0"/>
              </a:rPr>
              <a:t>П</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окупки. </a:t>
            </a:r>
            <a:r>
              <a:rPr lang="ru-RU" sz="1600" u="sng" dirty="0">
                <a:solidFill>
                  <a:srgbClr val="002394"/>
                </a:solidFill>
                <a:latin typeface="Tahoma" panose="020B0604030504040204" pitchFamily="34" charset="0"/>
                <a:ea typeface="Tahoma" panose="020B0604030504040204" pitchFamily="34" charset="0"/>
                <a:cs typeface="Tahoma" panose="020B0604030504040204" pitchFamily="34" charset="0"/>
              </a:rPr>
              <a:t>С</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кидки. </a:t>
            </a:r>
            <a:r>
              <a:rPr lang="ru-RU" sz="1600" dirty="0" err="1">
                <a:solidFill>
                  <a:srgbClr val="002394"/>
                </a:solidFill>
                <a:latin typeface="Tahoma" panose="020B0604030504040204" pitchFamily="34" charset="0"/>
                <a:ea typeface="Tahoma" panose="020B0604030504040204" pitchFamily="34" charset="0"/>
                <a:cs typeface="Tahoma" panose="020B0604030504040204" pitchFamily="34" charset="0"/>
              </a:rPr>
              <a:t>Кеш</a:t>
            </a:r>
            <a:r>
              <a:rPr lang="ru-RU" sz="1600" u="sng" dirty="0" err="1">
                <a:solidFill>
                  <a:srgbClr val="002394"/>
                </a:solidFill>
                <a:latin typeface="Tahoma" panose="020B0604030504040204" pitchFamily="34" charset="0"/>
                <a:ea typeface="Tahoma" panose="020B0604030504040204" pitchFamily="34" charset="0"/>
                <a:cs typeface="Tahoma" panose="020B0604030504040204" pitchFamily="34" charset="0"/>
              </a:rPr>
              <a:t>Б</a:t>
            </a:r>
            <a:r>
              <a:rPr lang="ru-RU" sz="1600" dirty="0" err="1">
                <a:solidFill>
                  <a:srgbClr val="002394"/>
                </a:solidFill>
                <a:latin typeface="Tahoma" panose="020B0604030504040204" pitchFamily="34" charset="0"/>
                <a:ea typeface="Tahoma" panose="020B0604030504040204" pitchFamily="34" charset="0"/>
                <a:cs typeface="Tahoma" panose="020B0604030504040204" pitchFamily="34" charset="0"/>
              </a:rPr>
              <a:t>эк</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 </a:t>
            </a:r>
          </a:p>
          <a:p>
            <a:pPr defTabSz="533400" eaLnBrk="1" hangingPunct="1">
              <a:lnSpc>
                <a:spcPct val="150000"/>
              </a:lnSpc>
              <a:spcAft>
                <a:spcPts val="0"/>
              </a:spcAft>
              <a:buClr>
                <a:srgbClr val="8E8E8E"/>
              </a:buClr>
            </a:pPr>
            <a:r>
              <a:rPr lang="ru-RU" sz="1600" dirty="0" err="1">
                <a:solidFill>
                  <a:srgbClr val="002394"/>
                </a:solidFill>
                <a:latin typeface="Tahoma" panose="020B0604030504040204" pitchFamily="34" charset="0"/>
                <a:ea typeface="Tahoma" panose="020B0604030504040204" pitchFamily="34" charset="0"/>
                <a:cs typeface="Tahoma" panose="020B0604030504040204" pitchFamily="34" charset="0"/>
              </a:rPr>
              <a:t>Бес</a:t>
            </a:r>
            <a:r>
              <a:rPr lang="ru-RU" sz="1600" u="sng" dirty="0" err="1">
                <a:solidFill>
                  <a:srgbClr val="002394"/>
                </a:solidFill>
                <a:latin typeface="Tahoma" panose="020B0604030504040204" pitchFamily="34" charset="0"/>
                <a:ea typeface="Tahoma" panose="020B0604030504040204" pitchFamily="34" charset="0"/>
                <a:cs typeface="Tahoma" panose="020B0604030504040204" pitchFamily="34" charset="0"/>
              </a:rPr>
              <a:t>П</a:t>
            </a:r>
            <a:r>
              <a:rPr lang="ru-RU" sz="1600" dirty="0" err="1">
                <a:solidFill>
                  <a:srgbClr val="002394"/>
                </a:solidFill>
                <a:latin typeface="Tahoma" panose="020B0604030504040204" pitchFamily="34" charset="0"/>
                <a:ea typeface="Tahoma" panose="020B0604030504040204" pitchFamily="34" charset="0"/>
                <a:cs typeface="Tahoma" panose="020B0604030504040204" pitchFamily="34" charset="0"/>
              </a:rPr>
              <a:t>латная</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 </a:t>
            </a:r>
            <a:r>
              <a:rPr lang="ru-RU" sz="1600" dirty="0" err="1">
                <a:solidFill>
                  <a:srgbClr val="002394"/>
                </a:solidFill>
                <a:latin typeface="Tahoma" panose="020B0604030504040204" pitchFamily="34" charset="0"/>
                <a:ea typeface="Tahoma" panose="020B0604030504040204" pitchFamily="34" charset="0"/>
                <a:cs typeface="Tahoma" panose="020B0604030504040204" pitchFamily="34" charset="0"/>
              </a:rPr>
              <a:t>Нав</a:t>
            </a:r>
            <a:r>
              <a:rPr lang="ru-RU" sz="1600" u="sng" dirty="0" err="1">
                <a:solidFill>
                  <a:srgbClr val="002394"/>
                </a:solidFill>
                <a:latin typeface="Tahoma" panose="020B0604030504040204" pitchFamily="34" charset="0"/>
                <a:ea typeface="Tahoma" panose="020B0604030504040204" pitchFamily="34" charset="0"/>
                <a:cs typeface="Tahoma" panose="020B0604030504040204" pitchFamily="34" charset="0"/>
              </a:rPr>
              <a:t>С</a:t>
            </a:r>
            <a:r>
              <a:rPr lang="ru-RU" sz="1600" dirty="0" err="1">
                <a:solidFill>
                  <a:srgbClr val="002394"/>
                </a:solidFill>
                <a:latin typeface="Tahoma" panose="020B0604030504040204" pitchFamily="34" charset="0"/>
                <a:ea typeface="Tahoma" panose="020B0604030504040204" pitchFamily="34" charset="0"/>
                <a:cs typeface="Tahoma" panose="020B0604030504040204" pitchFamily="34" charset="0"/>
              </a:rPr>
              <a:t>егда</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 и </a:t>
            </a:r>
            <a:r>
              <a:rPr lang="ru-RU" sz="1600" u="sng" dirty="0">
                <a:solidFill>
                  <a:srgbClr val="002394"/>
                </a:solidFill>
                <a:latin typeface="Tahoma" panose="020B0604030504040204" pitchFamily="34" charset="0"/>
                <a:ea typeface="Tahoma" panose="020B0604030504040204" pitchFamily="34" charset="0"/>
                <a:cs typeface="Tahoma" panose="020B0604030504040204" pitchFamily="34" charset="0"/>
              </a:rPr>
              <a:t>Б</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ез условий.</a:t>
            </a:r>
          </a:p>
        </p:txBody>
      </p:sp>
      <p:sp>
        <p:nvSpPr>
          <p:cNvPr id="6" name="TextBox 189">
            <a:extLst>
              <a:ext uri="{FF2B5EF4-FFF2-40B4-BE49-F238E27FC236}">
                <a16:creationId xmlns:a16="http://schemas.microsoft.com/office/drawing/2014/main" id="{E47AB0DA-6938-453D-98E4-DDB3960C5AD8}"/>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Этапы проведения рекламы</a:t>
            </a:r>
          </a:p>
        </p:txBody>
      </p:sp>
      <p:pic>
        <p:nvPicPr>
          <p:cNvPr id="4" name="Рисунок 3">
            <a:extLst>
              <a:ext uri="{FF2B5EF4-FFF2-40B4-BE49-F238E27FC236}">
                <a16:creationId xmlns:a16="http://schemas.microsoft.com/office/drawing/2014/main" id="{4438BB0D-4294-E51A-1FD8-B1CBC0EB58F8}"/>
              </a:ext>
            </a:extLst>
          </p:cNvPr>
          <p:cNvPicPr>
            <a:picLocks noChangeAspect="1"/>
          </p:cNvPicPr>
          <p:nvPr/>
        </p:nvPicPr>
        <p:blipFill>
          <a:blip r:embed="rId3"/>
          <a:srcRect l="11506"/>
          <a:stretch>
            <a:fillRect/>
          </a:stretch>
        </p:blipFill>
        <p:spPr>
          <a:xfrm>
            <a:off x="4160912" y="1999674"/>
            <a:ext cx="5583270" cy="2888428"/>
          </a:xfrm>
          <a:prstGeom prst="rect">
            <a:avLst/>
          </a:prstGeom>
        </p:spPr>
      </p:pic>
      <p:sp>
        <p:nvSpPr>
          <p:cNvPr id="3" name="Номер слайда 2">
            <a:extLst>
              <a:ext uri="{FF2B5EF4-FFF2-40B4-BE49-F238E27FC236}">
                <a16:creationId xmlns:a16="http://schemas.microsoft.com/office/drawing/2014/main" id="{E666027B-7C61-61DD-5D15-6413FB93F9D4}"/>
              </a:ext>
            </a:extLst>
          </p:cNvPr>
          <p:cNvSpPr>
            <a:spLocks noGrp="1"/>
          </p:cNvSpPr>
          <p:nvPr>
            <p:ph type="sldNum" sz="quarter" idx="10"/>
          </p:nvPr>
        </p:nvSpPr>
        <p:spPr/>
        <p:txBody>
          <a:bodyPr/>
          <a:lstStyle/>
          <a:p>
            <a:pPr>
              <a:defRPr/>
            </a:pPr>
            <a:fld id="{7DCEE9E7-25AF-42DF-86F1-84EFCBA56EFC}" type="slidenum">
              <a:rPr lang="ru-RU" smtClean="0"/>
              <a:pPr>
                <a:defRPr/>
              </a:pPr>
              <a:t>13</a:t>
            </a:fld>
            <a:endParaRPr lang="ru-RU" dirty="0"/>
          </a:p>
        </p:txBody>
      </p:sp>
    </p:spTree>
    <p:extLst>
      <p:ext uri="{BB962C8B-B14F-4D97-AF65-F5344CB8AC3E}">
        <p14:creationId xmlns:p14="http://schemas.microsoft.com/office/powerpoint/2010/main" val="397338099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Прямоугольник 1"/>
          <p:cNvSpPr/>
          <p:nvPr/>
        </p:nvSpPr>
        <p:spPr>
          <a:xfrm>
            <a:off x="118119" y="1764762"/>
            <a:ext cx="3535909" cy="2996782"/>
          </a:xfrm>
          <a:prstGeom prst="rect">
            <a:avLst/>
          </a:prstGeom>
        </p:spPr>
        <p:txBody>
          <a:bodyPr wrap="square">
            <a:spAutoFit/>
          </a:bodyPr>
          <a:lstStyle/>
          <a:p>
            <a:pPr defTabSz="533400" eaLnBrk="1" hangingPunct="1">
              <a:lnSpc>
                <a:spcPct val="150000"/>
              </a:lnSpc>
              <a:spcAft>
                <a:spcPts val="0"/>
              </a:spcAft>
              <a:buClr>
                <a:srgbClr val="8E8E8E"/>
              </a:buClr>
            </a:pP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На втором этапе акцент сместился на демонстрацию продуктов, таких как дебетовая карта «Твой </a:t>
            </a:r>
            <a:r>
              <a:rPr lang="ru-RU" sz="1600" dirty="0" err="1">
                <a:solidFill>
                  <a:srgbClr val="002394"/>
                </a:solidFill>
                <a:latin typeface="Tahoma" panose="020B0604030504040204" pitchFamily="34" charset="0"/>
                <a:ea typeface="Tahoma" panose="020B0604030504040204" pitchFamily="34" charset="0"/>
                <a:cs typeface="Tahoma" panose="020B0604030504040204" pitchFamily="34" charset="0"/>
              </a:rPr>
              <a:t>кешбек</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 но с сохранением того же приёма со складывающимися буквами ПСБ, чтобы закрепить узнаваемость и показать конкретные предложения банка.</a:t>
            </a:r>
          </a:p>
        </p:txBody>
      </p:sp>
      <p:sp>
        <p:nvSpPr>
          <p:cNvPr id="6" name="TextBox 189">
            <a:extLst>
              <a:ext uri="{FF2B5EF4-FFF2-40B4-BE49-F238E27FC236}">
                <a16:creationId xmlns:a16="http://schemas.microsoft.com/office/drawing/2014/main" id="{E47AB0DA-6938-453D-98E4-DDB3960C5AD8}"/>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Этапы проведения рекламы</a:t>
            </a:r>
          </a:p>
        </p:txBody>
      </p:sp>
      <p:pic>
        <p:nvPicPr>
          <p:cNvPr id="5126" name="Picture 6" descr="ПСБ начислит новым клиентам 25% кешбэка за покупки по кредитной карте">
            <a:extLst>
              <a:ext uri="{FF2B5EF4-FFF2-40B4-BE49-F238E27FC236}">
                <a16:creationId xmlns:a16="http://schemas.microsoft.com/office/drawing/2014/main" id="{D5C26715-9ECE-4253-B7C1-88F606DD16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44888" y="1764021"/>
            <a:ext cx="3425531" cy="1943886"/>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ПСБ к Новому году выплатит двойной кешбэк воронежским предпринимателям |  Обозреватель.Врн">
            <a:extLst>
              <a:ext uri="{FF2B5EF4-FFF2-40B4-BE49-F238E27FC236}">
                <a16:creationId xmlns:a16="http://schemas.microsoft.com/office/drawing/2014/main" id="{F11090B0-8BBA-4271-8518-07C64F91197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29064" y="3861048"/>
            <a:ext cx="3535909" cy="2212776"/>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a:extLst>
              <a:ext uri="{FF2B5EF4-FFF2-40B4-BE49-F238E27FC236}">
                <a16:creationId xmlns:a16="http://schemas.microsoft.com/office/drawing/2014/main" id="{E4F1F5BB-DB97-4805-5E5F-9AF493BE54D2}"/>
              </a:ext>
            </a:extLst>
          </p:cNvPr>
          <p:cNvSpPr>
            <a:spLocks noGrp="1"/>
          </p:cNvSpPr>
          <p:nvPr>
            <p:ph type="sldNum" sz="quarter" idx="10"/>
          </p:nvPr>
        </p:nvSpPr>
        <p:spPr/>
        <p:txBody>
          <a:bodyPr/>
          <a:lstStyle/>
          <a:p>
            <a:pPr>
              <a:defRPr/>
            </a:pPr>
            <a:fld id="{7DCEE9E7-25AF-42DF-86F1-84EFCBA56EFC}" type="slidenum">
              <a:rPr lang="ru-RU" smtClean="0"/>
              <a:pPr>
                <a:defRPr/>
              </a:pPr>
              <a:t>14</a:t>
            </a:fld>
            <a:endParaRPr lang="ru-RU" dirty="0"/>
          </a:p>
        </p:txBody>
      </p:sp>
    </p:spTree>
    <p:extLst>
      <p:ext uri="{BB962C8B-B14F-4D97-AF65-F5344CB8AC3E}">
        <p14:creationId xmlns:p14="http://schemas.microsoft.com/office/powerpoint/2010/main" val="151700338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Прямоугольник 1"/>
          <p:cNvSpPr/>
          <p:nvPr/>
        </p:nvSpPr>
        <p:spPr>
          <a:xfrm>
            <a:off x="223950" y="1412776"/>
            <a:ext cx="3528392" cy="4843442"/>
          </a:xfrm>
          <a:prstGeom prst="rect">
            <a:avLst/>
          </a:prstGeom>
        </p:spPr>
        <p:txBody>
          <a:bodyPr wrap="square">
            <a:spAutoFit/>
          </a:bodyPr>
          <a:lstStyle/>
          <a:p>
            <a:pPr defTabSz="533400" eaLnBrk="1" hangingPunct="1">
              <a:lnSpc>
                <a:spcPct val="150000"/>
              </a:lnSpc>
              <a:spcAft>
                <a:spcPts val="0"/>
              </a:spcAft>
              <a:buClr>
                <a:srgbClr val="8E8E8E"/>
              </a:buClr>
            </a:pP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Третий, завершающий этап, был посвящён эмоциональному раскрытию духа бренда через серию роликов с актёром Виктором </a:t>
            </a:r>
            <a:r>
              <a:rPr lang="ru-RU" sz="1600" dirty="0" err="1">
                <a:solidFill>
                  <a:srgbClr val="002394"/>
                </a:solidFill>
                <a:latin typeface="Tahoma" panose="020B0604030504040204" pitchFamily="34" charset="0"/>
                <a:ea typeface="Tahoma" panose="020B0604030504040204" pitchFamily="34" charset="0"/>
                <a:cs typeface="Tahoma" panose="020B0604030504040204" pitchFamily="34" charset="0"/>
              </a:rPr>
              <a:t>Хориняком</a:t>
            </a:r>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 в образе современного богатыря (отсылая к франшизе «Последний богатырь»). Это позволило визуализировать позиционирование «Банк сильной страны», сделав ценности силы, надёжности и опоры близкими и актуальными для широкой аудитории.</a:t>
            </a:r>
          </a:p>
        </p:txBody>
      </p:sp>
      <p:sp>
        <p:nvSpPr>
          <p:cNvPr id="6" name="TextBox 189">
            <a:extLst>
              <a:ext uri="{FF2B5EF4-FFF2-40B4-BE49-F238E27FC236}">
                <a16:creationId xmlns:a16="http://schemas.microsoft.com/office/drawing/2014/main" id="{E47AB0DA-6938-453D-98E4-DDB3960C5AD8}"/>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Этапы проведения рекламы</a:t>
            </a:r>
          </a:p>
        </p:txBody>
      </p:sp>
      <p:pic>
        <p:nvPicPr>
          <p:cNvPr id="6150" name="Picture 6" descr="ПСБ снял новые приключения богатыря в рекламе | Пресс-релизы | Новости |  AdIndex.ru">
            <a:extLst>
              <a:ext uri="{FF2B5EF4-FFF2-40B4-BE49-F238E27FC236}">
                <a16:creationId xmlns:a16="http://schemas.microsoft.com/office/drawing/2014/main" id="{6DA01972-0244-446F-91CE-C47E8109B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8904" y="1700808"/>
            <a:ext cx="5557398" cy="3745831"/>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a:extLst>
              <a:ext uri="{FF2B5EF4-FFF2-40B4-BE49-F238E27FC236}">
                <a16:creationId xmlns:a16="http://schemas.microsoft.com/office/drawing/2014/main" id="{4F78C77F-57B1-F993-BEBB-2FBFFDE8F654}"/>
              </a:ext>
            </a:extLst>
          </p:cNvPr>
          <p:cNvSpPr>
            <a:spLocks noGrp="1"/>
          </p:cNvSpPr>
          <p:nvPr>
            <p:ph type="sldNum" sz="quarter" idx="10"/>
          </p:nvPr>
        </p:nvSpPr>
        <p:spPr/>
        <p:txBody>
          <a:bodyPr/>
          <a:lstStyle/>
          <a:p>
            <a:pPr>
              <a:defRPr/>
            </a:pPr>
            <a:fld id="{7DCEE9E7-25AF-42DF-86F1-84EFCBA56EFC}" type="slidenum">
              <a:rPr lang="ru-RU" smtClean="0"/>
              <a:pPr>
                <a:defRPr/>
              </a:pPr>
              <a:t>15</a:t>
            </a:fld>
            <a:endParaRPr lang="ru-RU" dirty="0"/>
          </a:p>
        </p:txBody>
      </p:sp>
    </p:spTree>
    <p:extLst>
      <p:ext uri="{BB962C8B-B14F-4D97-AF65-F5344CB8AC3E}">
        <p14:creationId xmlns:p14="http://schemas.microsoft.com/office/powerpoint/2010/main" val="19347610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3658AE8C-E599-4AA7-804C-48674BF3843A}"/>
              </a:ext>
            </a:extLst>
          </p:cNvPr>
          <p:cNvSpPr>
            <a:spLocks noGrp="1"/>
          </p:cNvSpPr>
          <p:nvPr>
            <p:ph type="sldNum" sz="quarter" idx="10"/>
          </p:nvPr>
        </p:nvSpPr>
        <p:spPr/>
        <p:txBody>
          <a:bodyPr/>
          <a:lstStyle/>
          <a:p>
            <a:pPr>
              <a:defRPr/>
            </a:pPr>
            <a:fld id="{7DCEE9E7-25AF-42DF-86F1-84EFCBA56EFC}" type="slidenum">
              <a:rPr lang="ru-RU" smtClean="0"/>
              <a:pPr>
                <a:defRPr/>
              </a:pPr>
              <a:t>16</a:t>
            </a:fld>
            <a:endParaRPr lang="ru-RU" dirty="0"/>
          </a:p>
        </p:txBody>
      </p:sp>
      <p:pic>
        <p:nvPicPr>
          <p:cNvPr id="4" name="Рисунок 3">
            <a:extLst>
              <a:ext uri="{FF2B5EF4-FFF2-40B4-BE49-F238E27FC236}">
                <a16:creationId xmlns:a16="http://schemas.microsoft.com/office/drawing/2014/main" id="{3FF6FFD0-8681-4CC7-8430-2EFE0547F1B8}"/>
              </a:ext>
            </a:extLst>
          </p:cNvPr>
          <p:cNvPicPr>
            <a:picLocks noChangeAspect="1"/>
          </p:cNvPicPr>
          <p:nvPr/>
        </p:nvPicPr>
        <p:blipFill>
          <a:blip r:embed="rId2"/>
          <a:stretch>
            <a:fillRect/>
          </a:stretch>
        </p:blipFill>
        <p:spPr>
          <a:xfrm>
            <a:off x="640296" y="1268760"/>
            <a:ext cx="8625408" cy="4922992"/>
          </a:xfrm>
          <a:prstGeom prst="rect">
            <a:avLst/>
          </a:prstGeom>
        </p:spPr>
      </p:pic>
      <p:sp>
        <p:nvSpPr>
          <p:cNvPr id="5" name="TextBox 189">
            <a:extLst>
              <a:ext uri="{FF2B5EF4-FFF2-40B4-BE49-F238E27FC236}">
                <a16:creationId xmlns:a16="http://schemas.microsoft.com/office/drawing/2014/main" id="{D05AE493-061C-4BB8-9F1B-266AAC0F2F60}"/>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Амбассадор</a:t>
            </a:r>
          </a:p>
        </p:txBody>
      </p:sp>
      <p:pic>
        <p:nvPicPr>
          <p:cNvPr id="6" name="Рисунок 5">
            <a:extLst>
              <a:ext uri="{FF2B5EF4-FFF2-40B4-BE49-F238E27FC236}">
                <a16:creationId xmlns:a16="http://schemas.microsoft.com/office/drawing/2014/main" id="{DCE26FAE-C4EB-4352-92FD-6A7B2CF113AB}"/>
              </a:ext>
            </a:extLst>
          </p:cNvPr>
          <p:cNvPicPr>
            <a:picLocks noChangeAspect="1"/>
          </p:cNvPicPr>
          <p:nvPr/>
        </p:nvPicPr>
        <p:blipFill>
          <a:blip r:embed="rId3"/>
          <a:stretch>
            <a:fillRect/>
          </a:stretch>
        </p:blipFill>
        <p:spPr>
          <a:xfrm>
            <a:off x="992560" y="1988041"/>
            <a:ext cx="1495996" cy="1440959"/>
          </a:xfrm>
          <a:prstGeom prst="rect">
            <a:avLst/>
          </a:prstGeom>
        </p:spPr>
      </p:pic>
    </p:spTree>
    <p:extLst>
      <p:ext uri="{BB962C8B-B14F-4D97-AF65-F5344CB8AC3E}">
        <p14:creationId xmlns:p14="http://schemas.microsoft.com/office/powerpoint/2010/main" val="3439786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89"/>
          <p:cNvSpPr txBox="1">
            <a:spLocks noChangeArrowheads="1"/>
          </p:cNvSpPr>
          <p:nvPr/>
        </p:nvSpPr>
        <p:spPr bwMode="auto">
          <a:xfrm>
            <a:off x="0" y="264096"/>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Conclusion</a:t>
            </a:r>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3" name="TextBox 42">
            <a:extLst>
              <a:ext uri="{FF2B5EF4-FFF2-40B4-BE49-F238E27FC236}">
                <a16:creationId xmlns:a16="http://schemas.microsoft.com/office/drawing/2014/main" id="{90AE6908-88FF-40B0-B1E9-6EED4D691962}"/>
              </a:ext>
            </a:extLst>
          </p:cNvPr>
          <p:cNvSpPr txBox="1"/>
          <p:nvPr/>
        </p:nvSpPr>
        <p:spPr>
          <a:xfrm>
            <a:off x="200472" y="2208276"/>
            <a:ext cx="4204692" cy="3046988"/>
          </a:xfrm>
          <a:prstGeom prst="rect">
            <a:avLst/>
          </a:prstGeom>
          <a:noFill/>
        </p:spPr>
        <p:txBody>
          <a:bodyPr wrap="square">
            <a:spAutoFit/>
          </a:bodyPr>
          <a:lstStyle/>
          <a:p>
            <a:r>
              <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rPr>
              <a:t>На примере ПСБ мы видим, что имидж современной компании — это сложная система, формируемая как внешними, так и внутренними факторами. Он не возникает сам по себе, а является результатом последовательной и согласованной работы на всех уровнях: от качества продуктов и корпоративной культуры до публичных коммуникаций и социальной активности.</a:t>
            </a:r>
          </a:p>
          <a:p>
            <a:endPar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endParaRPr lang="ru-RU" sz="16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6146" name="Picture 2" descr="Банк ПСБ, банк, Республиканская ул., 16, Ярославль — Яндекс Карты">
            <a:extLst>
              <a:ext uri="{FF2B5EF4-FFF2-40B4-BE49-F238E27FC236}">
                <a16:creationId xmlns:a16="http://schemas.microsoft.com/office/drawing/2014/main" id="{FD4B839E-1736-4F2E-A335-9D27C83FDB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2960" y="1933155"/>
            <a:ext cx="4796308" cy="3597231"/>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D0237A30-000D-8B61-38B2-50D64270617D}"/>
              </a:ext>
            </a:extLst>
          </p:cNvPr>
          <p:cNvSpPr>
            <a:spLocks noGrp="1"/>
          </p:cNvSpPr>
          <p:nvPr>
            <p:ph type="sldNum" sz="quarter" idx="10"/>
          </p:nvPr>
        </p:nvSpPr>
        <p:spPr/>
        <p:txBody>
          <a:bodyPr/>
          <a:lstStyle/>
          <a:p>
            <a:pPr>
              <a:defRPr/>
            </a:pPr>
            <a:fld id="{7DCEE9E7-25AF-42DF-86F1-84EFCBA56EFC}" type="slidenum">
              <a:rPr lang="ru-RU" smtClean="0"/>
              <a:pPr>
                <a:defRPr/>
              </a:pPr>
              <a:t>17</a:t>
            </a:fld>
            <a:endParaRPr lang="ru-RU" dirty="0"/>
          </a:p>
        </p:txBody>
      </p:sp>
    </p:spTree>
    <p:extLst>
      <p:ext uri="{BB962C8B-B14F-4D97-AF65-F5344CB8AC3E}">
        <p14:creationId xmlns:p14="http://schemas.microsoft.com/office/powerpoint/2010/main" val="428247316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90AE6908-88FF-40B0-B1E9-6EED4D691962}"/>
              </a:ext>
            </a:extLst>
          </p:cNvPr>
          <p:cNvSpPr txBox="1"/>
          <p:nvPr/>
        </p:nvSpPr>
        <p:spPr>
          <a:xfrm>
            <a:off x="100236" y="3167390"/>
            <a:ext cx="9705528" cy="523220"/>
          </a:xfrm>
          <a:prstGeom prst="rect">
            <a:avLst/>
          </a:prstGeom>
          <a:noFill/>
        </p:spPr>
        <p:txBody>
          <a:bodyPr wrap="square">
            <a:spAutoFit/>
          </a:bodyPr>
          <a:lstStyle/>
          <a:p>
            <a:pPr algn="ctr"/>
            <a:r>
              <a:rPr lang="ru-RU" sz="2800" dirty="0">
                <a:solidFill>
                  <a:srgbClr val="002394"/>
                </a:solidFill>
                <a:latin typeface="Tahoma" panose="020B0604030504040204" pitchFamily="34" charset="0"/>
                <a:ea typeface="Tahoma" panose="020B0604030504040204" pitchFamily="34" charset="0"/>
                <a:cs typeface="Tahoma" panose="020B0604030504040204" pitchFamily="34" charset="0"/>
              </a:rPr>
              <a:t>Спасибо за внимание!</a:t>
            </a:r>
          </a:p>
        </p:txBody>
      </p:sp>
      <p:sp>
        <p:nvSpPr>
          <p:cNvPr id="2" name="Номер слайда 1">
            <a:extLst>
              <a:ext uri="{FF2B5EF4-FFF2-40B4-BE49-F238E27FC236}">
                <a16:creationId xmlns:a16="http://schemas.microsoft.com/office/drawing/2014/main" id="{8E7FDC8F-1CAA-8006-D1EE-0B123CECD817}"/>
              </a:ext>
            </a:extLst>
          </p:cNvPr>
          <p:cNvSpPr>
            <a:spLocks noGrp="1"/>
          </p:cNvSpPr>
          <p:nvPr>
            <p:ph type="sldNum" sz="quarter" idx="10"/>
          </p:nvPr>
        </p:nvSpPr>
        <p:spPr/>
        <p:txBody>
          <a:bodyPr/>
          <a:lstStyle/>
          <a:p>
            <a:pPr>
              <a:defRPr/>
            </a:pPr>
            <a:fld id="{7DCEE9E7-25AF-42DF-86F1-84EFCBA56EFC}" type="slidenum">
              <a:rPr lang="ru-RU" smtClean="0"/>
              <a:pPr>
                <a:defRPr/>
              </a:pPr>
              <a:t>18</a:t>
            </a:fld>
            <a:endParaRPr lang="ru-RU" dirty="0"/>
          </a:p>
        </p:txBody>
      </p:sp>
    </p:spTree>
    <p:extLst>
      <p:ext uri="{BB962C8B-B14F-4D97-AF65-F5344CB8AC3E}">
        <p14:creationId xmlns:p14="http://schemas.microsoft.com/office/powerpoint/2010/main" val="1261634516"/>
      </p:ext>
    </p:extLst>
  </p:cSld>
  <p:clrMapOvr>
    <a:masterClrMapping/>
  </p:clrMapOvr>
  <p:transition/>
</p:sld>
</file>

<file path=ppt/theme/theme1.xml><?xml version="1.0" encoding="utf-8"?>
<a:theme xmlns:a="http://schemas.openxmlformats.org/drawingml/2006/main" name="Презентация-rus">
  <a:themeElements>
    <a:clrScheme name="Презентация-ru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Презентация-rus">
      <a:majorFont>
        <a:latin typeface="Myriad Pro Light"/>
        <a:ea typeface=""/>
        <a:cs typeface=""/>
      </a:majorFont>
      <a:minorFont>
        <a:latin typeface="Myriad Pro"/>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резентация-ru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Презентация-ru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Презентация-ru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Презентация-ru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Презентация-ru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Презентация-ru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Презентация-ru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Презентация-ru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Презентация-ru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Презентация-ru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Презентация-ru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Презентация-ru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иповой слайд-Промсвязьбанк">
  <a:themeElements>
    <a:clrScheme name="Типовой слайд-Промсвязьбанк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Типовой слайд-Промсвязьбанк">
      <a:majorFont>
        <a:latin typeface="Myriad Pro"/>
        <a:ea typeface=""/>
        <a:cs typeface=""/>
      </a:majorFont>
      <a:minorFont>
        <a:latin typeface="Myriad Pro"/>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Типовой слайд-Промсвязьбанк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Типовой слайд-Промсвязьбан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Типовой слайд-Промсвязьбанк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Типовой слайд-Промсвязьбан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Типовой слайд-Промсвязьбан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Типовой слайд-Промсвязьбан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Типовой слайд-Промсвязьбан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Типовой слайд-Промсвязьбан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Типовой слайд-Промсвязьбан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Типовой слайд-Промсвязьбан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Типовой слайд-Промсвязьбан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Типовой слайд-Промсвязьбан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Презентация-rus</Template>
  <TotalTime>22181</TotalTime>
  <Words>4010</Words>
  <Application>Microsoft Office PowerPoint</Application>
  <PresentationFormat>Лист A4 (210x297 мм)</PresentationFormat>
  <Paragraphs>237</Paragraphs>
  <Slides>18</Slides>
  <Notes>16</Notes>
  <HiddenSlides>0</HiddenSlides>
  <MMClips>0</MMClips>
  <ScaleCrop>false</ScaleCrop>
  <HeadingPairs>
    <vt:vector size="8" baseType="variant">
      <vt:variant>
        <vt:lpstr>Использованные шрифты</vt:lpstr>
      </vt:variant>
      <vt:variant>
        <vt:i4>7</vt:i4>
      </vt:variant>
      <vt:variant>
        <vt:lpstr>Тема</vt:lpstr>
      </vt:variant>
      <vt:variant>
        <vt:i4>2</vt:i4>
      </vt:variant>
      <vt:variant>
        <vt:lpstr>Внедренные серверы OLE</vt:lpstr>
      </vt:variant>
      <vt:variant>
        <vt:i4>1</vt:i4>
      </vt:variant>
      <vt:variant>
        <vt:lpstr>Заголовки слайдов</vt:lpstr>
      </vt:variant>
      <vt:variant>
        <vt:i4>18</vt:i4>
      </vt:variant>
    </vt:vector>
  </HeadingPairs>
  <TitlesOfParts>
    <vt:vector size="28" baseType="lpstr">
      <vt:lpstr>Arial</vt:lpstr>
      <vt:lpstr>Courier New</vt:lpstr>
      <vt:lpstr>Myriad Pro</vt:lpstr>
      <vt:lpstr>Myriad Pro Light</vt:lpstr>
      <vt:lpstr>quote-cjk-patch</vt:lpstr>
      <vt:lpstr>Tahoma</vt:lpstr>
      <vt:lpstr>Wingdings</vt:lpstr>
      <vt:lpstr>Презентация-rus</vt:lpstr>
      <vt:lpstr>Типовой слайд-Промсвязьбанк</vt:lpstr>
      <vt:lpstr>CorelDRAW</vt:lpstr>
      <vt:lpstr>Имидж компании: ПСБ.                                      ББМО-01-25      Голованов К.Е.                                                                    Железняков Р.А.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PSB</dc:creator>
  <cp:lastModifiedBy>Родион Железняков</cp:lastModifiedBy>
  <cp:revision>985</cp:revision>
  <cp:lastPrinted>2018-09-10T10:20:36Z</cp:lastPrinted>
  <dcterms:created xsi:type="dcterms:W3CDTF">2008-04-23T05:57:59Z</dcterms:created>
  <dcterms:modified xsi:type="dcterms:W3CDTF">2025-12-10T09:10:28Z</dcterms:modified>
</cp:coreProperties>
</file>