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50" r:id="rId2"/>
  </p:sldMasterIdLst>
  <p:notesMasterIdLst>
    <p:notesMasterId r:id="rId20"/>
  </p:notesMasterIdLst>
  <p:handoutMasterIdLst>
    <p:handoutMasterId r:id="rId21"/>
  </p:handoutMasterIdLst>
  <p:sldIdLst>
    <p:sldId id="386" r:id="rId3"/>
    <p:sldId id="388" r:id="rId4"/>
    <p:sldId id="1067" r:id="rId5"/>
    <p:sldId id="1068" r:id="rId6"/>
    <p:sldId id="1069" r:id="rId7"/>
    <p:sldId id="367" r:id="rId8"/>
    <p:sldId id="1070" r:id="rId9"/>
    <p:sldId id="1072" r:id="rId10"/>
    <p:sldId id="1073" r:id="rId11"/>
    <p:sldId id="1075" r:id="rId12"/>
    <p:sldId id="1074" r:id="rId13"/>
    <p:sldId id="1079" r:id="rId14"/>
    <p:sldId id="1077" r:id="rId15"/>
    <p:sldId id="1078" r:id="rId16"/>
    <p:sldId id="1076" r:id="rId17"/>
    <p:sldId id="368" r:id="rId18"/>
    <p:sldId id="1066" r:id="rId19"/>
  </p:sldIdLst>
  <p:sldSz cx="9906000" cy="6858000" type="A4"/>
  <p:notesSz cx="6797675" cy="9874250"/>
  <p:defaultTextStyle>
    <a:defPPr>
      <a:defRPr lang="ru-RU"/>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395"/>
    <a:srgbClr val="DA5800"/>
    <a:srgbClr val="002394"/>
    <a:srgbClr val="AAAAAA"/>
    <a:srgbClr val="0E2B8D"/>
    <a:srgbClr val="00A0C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50" autoAdjust="0"/>
    <p:restoredTop sz="94900" autoAdjust="0"/>
  </p:normalViewPr>
  <p:slideViewPr>
    <p:cSldViewPr>
      <p:cViewPr varScale="1">
        <p:scale>
          <a:sx n="81" d="100"/>
          <a:sy n="81" d="100"/>
        </p:scale>
        <p:origin x="1378" y="53"/>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0882" name="Rectangle 2"/>
          <p:cNvSpPr>
            <a:spLocks noGrp="1" noChangeArrowheads="1"/>
          </p:cNvSpPr>
          <p:nvPr>
            <p:ph type="hdr" sz="quarter"/>
          </p:nvPr>
        </p:nvSpPr>
        <p:spPr bwMode="auto">
          <a:xfrm>
            <a:off x="0" y="0"/>
            <a:ext cx="2946400" cy="49426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ru-RU"/>
          </a:p>
        </p:txBody>
      </p:sp>
      <p:sp>
        <p:nvSpPr>
          <p:cNvPr id="250883" name="Rectangle 3"/>
          <p:cNvSpPr>
            <a:spLocks noGrp="1" noChangeArrowheads="1"/>
          </p:cNvSpPr>
          <p:nvPr>
            <p:ph type="dt" sz="quarter" idx="1"/>
          </p:nvPr>
        </p:nvSpPr>
        <p:spPr bwMode="auto">
          <a:xfrm>
            <a:off x="3849688" y="0"/>
            <a:ext cx="2946400" cy="49426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ru-RU"/>
          </a:p>
        </p:txBody>
      </p:sp>
      <p:sp>
        <p:nvSpPr>
          <p:cNvPr id="250884" name="Rectangle 4"/>
          <p:cNvSpPr>
            <a:spLocks noGrp="1" noChangeArrowheads="1"/>
          </p:cNvSpPr>
          <p:nvPr>
            <p:ph type="ftr" sz="quarter" idx="2"/>
          </p:nvPr>
        </p:nvSpPr>
        <p:spPr bwMode="auto">
          <a:xfrm>
            <a:off x="0" y="9378406"/>
            <a:ext cx="2946400" cy="49426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ru-RU"/>
          </a:p>
        </p:txBody>
      </p:sp>
      <p:sp>
        <p:nvSpPr>
          <p:cNvPr id="250885" name="Rectangle 5"/>
          <p:cNvSpPr>
            <a:spLocks noGrp="1" noChangeArrowheads="1"/>
          </p:cNvSpPr>
          <p:nvPr>
            <p:ph type="sldNum" sz="quarter" idx="3"/>
          </p:nvPr>
        </p:nvSpPr>
        <p:spPr bwMode="auto">
          <a:xfrm>
            <a:off x="3849688" y="9378406"/>
            <a:ext cx="2946400" cy="49426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6FE5CC2A-BBC4-4F54-9850-D647C6FDAC26}" type="slidenum">
              <a:rPr lang="ru-RU"/>
              <a:pPr>
                <a:defRPr/>
              </a:pPr>
              <a:t>‹#›</a:t>
            </a:fld>
            <a:endParaRPr lang="ru-RU"/>
          </a:p>
        </p:txBody>
      </p:sp>
    </p:spTree>
    <p:extLst>
      <p:ext uri="{BB962C8B-B14F-4D97-AF65-F5344CB8AC3E}">
        <p14:creationId xmlns:p14="http://schemas.microsoft.com/office/powerpoint/2010/main" val="292566474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2946400" cy="49426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ru-RU"/>
          </a:p>
        </p:txBody>
      </p:sp>
      <p:sp>
        <p:nvSpPr>
          <p:cNvPr id="10243" name="Rectangle 3"/>
          <p:cNvSpPr>
            <a:spLocks noGrp="1" noChangeArrowheads="1"/>
          </p:cNvSpPr>
          <p:nvPr>
            <p:ph type="dt" idx="1"/>
          </p:nvPr>
        </p:nvSpPr>
        <p:spPr bwMode="auto">
          <a:xfrm>
            <a:off x="3849688" y="0"/>
            <a:ext cx="2946400" cy="49426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ru-RU"/>
          </a:p>
        </p:txBody>
      </p:sp>
      <p:sp>
        <p:nvSpPr>
          <p:cNvPr id="21508" name="Rectangle 4"/>
          <p:cNvSpPr>
            <a:spLocks noGrp="1" noRot="1" noChangeAspect="1" noChangeArrowheads="1" noTextEdit="1"/>
          </p:cNvSpPr>
          <p:nvPr>
            <p:ph type="sldImg" idx="2"/>
          </p:nvPr>
        </p:nvSpPr>
        <p:spPr bwMode="auto">
          <a:xfrm>
            <a:off x="725488" y="741363"/>
            <a:ext cx="5346700" cy="37020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5" name="Rectangle 5"/>
          <p:cNvSpPr>
            <a:spLocks noGrp="1" noChangeArrowheads="1"/>
          </p:cNvSpPr>
          <p:nvPr>
            <p:ph type="body" sz="quarter" idx="3"/>
          </p:nvPr>
        </p:nvSpPr>
        <p:spPr bwMode="auto">
          <a:xfrm>
            <a:off x="679450" y="4689993"/>
            <a:ext cx="5438775" cy="4443649"/>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ru-RU" noProof="0"/>
              <a:t>Образец текста</a:t>
            </a:r>
          </a:p>
          <a:p>
            <a:pPr lvl="1"/>
            <a:r>
              <a:rPr lang="ru-RU" noProof="0"/>
              <a:t>Второй уровень</a:t>
            </a:r>
          </a:p>
          <a:p>
            <a:pPr lvl="2"/>
            <a:r>
              <a:rPr lang="ru-RU" noProof="0"/>
              <a:t>Третий уровень</a:t>
            </a:r>
          </a:p>
          <a:p>
            <a:pPr lvl="3"/>
            <a:r>
              <a:rPr lang="ru-RU" noProof="0"/>
              <a:t>Четвертый уровень</a:t>
            </a:r>
          </a:p>
          <a:p>
            <a:pPr lvl="4"/>
            <a:r>
              <a:rPr lang="ru-RU" noProof="0"/>
              <a:t>Пятый уровень</a:t>
            </a:r>
          </a:p>
        </p:txBody>
      </p:sp>
      <p:sp>
        <p:nvSpPr>
          <p:cNvPr id="10246" name="Rectangle 6"/>
          <p:cNvSpPr>
            <a:spLocks noGrp="1" noChangeArrowheads="1"/>
          </p:cNvSpPr>
          <p:nvPr>
            <p:ph type="ftr" sz="quarter" idx="4"/>
          </p:nvPr>
        </p:nvSpPr>
        <p:spPr bwMode="auto">
          <a:xfrm>
            <a:off x="0" y="9378406"/>
            <a:ext cx="2946400" cy="49426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ru-RU"/>
          </a:p>
        </p:txBody>
      </p:sp>
      <p:sp>
        <p:nvSpPr>
          <p:cNvPr id="10247" name="Rectangle 7"/>
          <p:cNvSpPr>
            <a:spLocks noGrp="1" noChangeArrowheads="1"/>
          </p:cNvSpPr>
          <p:nvPr>
            <p:ph type="sldNum" sz="quarter" idx="5"/>
          </p:nvPr>
        </p:nvSpPr>
        <p:spPr bwMode="auto">
          <a:xfrm>
            <a:off x="3849688" y="9378406"/>
            <a:ext cx="2946400" cy="49426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31A73C05-F021-4679-8F9D-253E26256044}" type="slidenum">
              <a:rPr lang="ru-RU"/>
              <a:pPr>
                <a:defRPr/>
              </a:pPr>
              <a:t>‹#›</a:t>
            </a:fld>
            <a:endParaRPr lang="ru-RU"/>
          </a:p>
        </p:txBody>
      </p:sp>
    </p:spTree>
    <p:extLst>
      <p:ext uri="{BB962C8B-B14F-4D97-AF65-F5344CB8AC3E}">
        <p14:creationId xmlns:p14="http://schemas.microsoft.com/office/powerpoint/2010/main" val="13884993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p>
            <a:fld id="{4CC2597B-FC3B-4A19-A702-00F271193F60}" type="slidenum">
              <a:rPr lang="ru-RU" smtClean="0"/>
              <a:pPr/>
              <a:t>1</a:t>
            </a:fld>
            <a:endParaRPr lang="ru-RU" dirty="0"/>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p:spPr>
        <p:txBody>
          <a:bodyPr/>
          <a:lstStyle/>
          <a:p>
            <a:pPr eaLnBrk="1" hangingPunct="1"/>
            <a:endParaRPr lang="ru-RU"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txBox="1">
            <a:spLocks noGrp="1" noChangeArrowheads="1"/>
          </p:cNvSpPr>
          <p:nvPr/>
        </p:nvSpPr>
        <p:spPr bwMode="auto">
          <a:xfrm>
            <a:off x="3849688" y="9378406"/>
            <a:ext cx="2946400" cy="494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fld id="{653590E2-8120-40D0-A91C-FB28B012C90B}" type="slidenum">
              <a:rPr lang="ru-RU" altLang="ru-RU" sz="1200"/>
              <a:pPr algn="r" eaLnBrk="1" hangingPunct="1"/>
              <a:t>2</a:t>
            </a:fld>
            <a:endParaRPr lang="ru-RU" altLang="ru-RU" sz="1200"/>
          </a:p>
        </p:txBody>
      </p:sp>
      <p:sp>
        <p:nvSpPr>
          <p:cNvPr id="23555" name="Rectangle 2"/>
          <p:cNvSpPr>
            <a:spLocks noGrp="1" noRot="1" noChangeAspect="1" noChangeArrowheads="1" noTextEdit="1"/>
          </p:cNvSpPr>
          <p:nvPr>
            <p:ph type="sldImg"/>
          </p:nvPr>
        </p:nvSpPr>
        <p:spPr>
          <a:xfrm>
            <a:off x="393700" y="414338"/>
            <a:ext cx="6043613" cy="4184650"/>
          </a:xfrm>
          <a:ln/>
        </p:spPr>
      </p:sp>
      <p:sp>
        <p:nvSpPr>
          <p:cNvPr id="23556" name="Rectangle 3"/>
          <p:cNvSpPr>
            <a:spLocks noGrp="1" noChangeArrowheads="1"/>
          </p:cNvSpPr>
          <p:nvPr>
            <p:ph type="body" idx="1"/>
          </p:nvPr>
        </p:nvSpPr>
        <p:spPr bwMode="gray">
          <a:xfrm>
            <a:off x="619125" y="4688414"/>
            <a:ext cx="5661025" cy="44420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15" tIns="44910" rIns="89815" bIns="44910"/>
          <a:lstStyle/>
          <a:p>
            <a:pPr marL="190500" indent="-190500" algn="just">
              <a:spcBef>
                <a:spcPts val="500"/>
              </a:spcBef>
              <a:buClr>
                <a:srgbClr val="003399"/>
              </a:buClr>
              <a:buSzPct val="60000"/>
              <a:buFontTx/>
              <a:buChar char="•"/>
            </a:pPr>
            <a:r>
              <a:rPr lang="en-GB" altLang="ru-RU"/>
              <a:t>Since its foundation, PSB has developed a network of 43 offices in Moscow and Moscow region </a:t>
            </a:r>
            <a:r>
              <a:rPr lang="en-US" altLang="ru-RU"/>
              <a:t>(which is geographically our most important market) and has offices in almost all major Russian major cities mainly in the European part of the country, but also in the Far East and Siberia. </a:t>
            </a:r>
          </a:p>
          <a:p>
            <a:pPr marL="190500" indent="-190500" algn="just">
              <a:spcBef>
                <a:spcPts val="500"/>
              </a:spcBef>
              <a:buClr>
                <a:srgbClr val="003399"/>
              </a:buClr>
              <a:buSzPct val="60000"/>
              <a:buFontTx/>
              <a:buChar char="•"/>
            </a:pPr>
            <a:r>
              <a:rPr lang="en-US" altLang="ru-RU"/>
              <a:t>As of end of June 2007 we had a total of 150 outlets</a:t>
            </a:r>
          </a:p>
          <a:p>
            <a:pPr marL="190500" indent="-190500" algn="just">
              <a:spcBef>
                <a:spcPts val="500"/>
              </a:spcBef>
              <a:buClr>
                <a:srgbClr val="003399"/>
              </a:buClr>
              <a:buSzPct val="60000"/>
              <a:buFontTx/>
              <a:buChar char="•"/>
            </a:pPr>
            <a:r>
              <a:rPr lang="en-US" altLang="ru-RU"/>
              <a:t>This network enables us to operate during business hours in all time zones of the Russian Federation.</a:t>
            </a:r>
          </a:p>
          <a:p>
            <a:pPr marL="190500" indent="-190500" algn="just">
              <a:spcBef>
                <a:spcPts val="500"/>
              </a:spcBef>
              <a:buClr>
                <a:srgbClr val="003399"/>
              </a:buClr>
              <a:buSzPct val="60000"/>
              <a:buFontTx/>
              <a:buChar char="•"/>
            </a:pPr>
            <a:r>
              <a:rPr lang="en-GB" altLang="ru-RU"/>
              <a:t>As part of our strategy of strengthening our position as a full scale universal bank, we intend to further grow our regional network and increase our presence across Russian regions.</a:t>
            </a:r>
          </a:p>
          <a:p>
            <a:pPr marL="563563" lvl="1" indent="-179388" algn="just">
              <a:spcBef>
                <a:spcPts val="500"/>
              </a:spcBef>
              <a:buClr>
                <a:srgbClr val="003399"/>
              </a:buClr>
              <a:buSzPct val="60000"/>
              <a:buFont typeface="Arial" charset="0"/>
              <a:buChar char="–"/>
            </a:pPr>
            <a:r>
              <a:rPr lang="en-GB" altLang="ja-JP"/>
              <a:t>We plan to have </a:t>
            </a:r>
            <a:r>
              <a:rPr lang="en-GB" altLang="ja-JP">
                <a:solidFill>
                  <a:srgbClr val="FF0000"/>
                </a:solidFill>
              </a:rPr>
              <a:t>[XX]</a:t>
            </a:r>
            <a:r>
              <a:rPr lang="en-GB" altLang="ja-JP"/>
              <a:t> offices and branches by the end of this year, compared to </a:t>
            </a:r>
            <a:r>
              <a:rPr lang="en-GB" altLang="ja-JP">
                <a:solidFill>
                  <a:srgbClr val="FF0000"/>
                </a:solidFill>
              </a:rPr>
              <a:t>[XX]</a:t>
            </a:r>
            <a:r>
              <a:rPr lang="en-GB" altLang="ja-JP"/>
              <a:t> we have now.  </a:t>
            </a:r>
          </a:p>
          <a:p>
            <a:pPr marL="190500" indent="-190500" algn="just">
              <a:spcBef>
                <a:spcPts val="500"/>
              </a:spcBef>
              <a:buClr>
                <a:srgbClr val="003399"/>
              </a:buClr>
              <a:buSzPct val="60000"/>
              <a:buFontTx/>
              <a:buChar char="•"/>
            </a:pPr>
            <a:r>
              <a:rPr lang="en-US" altLang="ru-RU"/>
              <a:t>In addition to our domestic presence, we have foreign representative offices in Cyprus, China, India and Ukraine and a network of corresponding banking relations, which allows us to maintain a leading position in clearing services. </a:t>
            </a:r>
            <a:endParaRPr lang="en-GB" altLang="ru-RU"/>
          </a:p>
        </p:txBody>
      </p:sp>
    </p:spTree>
    <p:extLst>
      <p:ext uri="{BB962C8B-B14F-4D97-AF65-F5344CB8AC3E}">
        <p14:creationId xmlns:p14="http://schemas.microsoft.com/office/powerpoint/2010/main" val="1988019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txBox="1">
            <a:spLocks noGrp="1" noChangeArrowheads="1"/>
          </p:cNvSpPr>
          <p:nvPr/>
        </p:nvSpPr>
        <p:spPr bwMode="auto">
          <a:xfrm>
            <a:off x="3849688" y="9378406"/>
            <a:ext cx="2946400" cy="494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fld id="{653590E2-8120-40D0-A91C-FB28B012C90B}" type="slidenum">
              <a:rPr lang="ru-RU" altLang="ru-RU" sz="1200"/>
              <a:pPr algn="r" eaLnBrk="1" hangingPunct="1"/>
              <a:t>3</a:t>
            </a:fld>
            <a:endParaRPr lang="ru-RU" altLang="ru-RU" sz="1200"/>
          </a:p>
        </p:txBody>
      </p:sp>
      <p:sp>
        <p:nvSpPr>
          <p:cNvPr id="23555" name="Rectangle 2"/>
          <p:cNvSpPr>
            <a:spLocks noGrp="1" noRot="1" noChangeAspect="1" noChangeArrowheads="1" noTextEdit="1"/>
          </p:cNvSpPr>
          <p:nvPr>
            <p:ph type="sldImg"/>
          </p:nvPr>
        </p:nvSpPr>
        <p:spPr>
          <a:xfrm>
            <a:off x="393700" y="414338"/>
            <a:ext cx="6043613" cy="4184650"/>
          </a:xfrm>
          <a:ln/>
        </p:spPr>
      </p:sp>
      <p:sp>
        <p:nvSpPr>
          <p:cNvPr id="23556" name="Rectangle 3"/>
          <p:cNvSpPr>
            <a:spLocks noGrp="1" noChangeArrowheads="1"/>
          </p:cNvSpPr>
          <p:nvPr>
            <p:ph type="body" idx="1"/>
          </p:nvPr>
        </p:nvSpPr>
        <p:spPr bwMode="gray">
          <a:xfrm>
            <a:off x="619125" y="4688414"/>
            <a:ext cx="5661025" cy="44420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15" tIns="44910" rIns="89815" bIns="44910"/>
          <a:lstStyle/>
          <a:p>
            <a:pPr marL="190500" indent="-190500" algn="just">
              <a:spcBef>
                <a:spcPts val="500"/>
              </a:spcBef>
              <a:buClr>
                <a:srgbClr val="003399"/>
              </a:buClr>
              <a:buSzPct val="60000"/>
              <a:buFontTx/>
              <a:buChar char="•"/>
            </a:pPr>
            <a:r>
              <a:rPr lang="en-GB" altLang="ru-RU"/>
              <a:t>Since its foundation, PSB has developed a network of 43 offices in Moscow and Moscow region </a:t>
            </a:r>
            <a:r>
              <a:rPr lang="en-US" altLang="ru-RU"/>
              <a:t>(which is geographically our most important market) and has offices in almost all major Russian major cities mainly in the European part of the country, but also in the Far East and Siberia. </a:t>
            </a:r>
          </a:p>
          <a:p>
            <a:pPr marL="190500" indent="-190500" algn="just">
              <a:spcBef>
                <a:spcPts val="500"/>
              </a:spcBef>
              <a:buClr>
                <a:srgbClr val="003399"/>
              </a:buClr>
              <a:buSzPct val="60000"/>
              <a:buFontTx/>
              <a:buChar char="•"/>
            </a:pPr>
            <a:r>
              <a:rPr lang="en-US" altLang="ru-RU"/>
              <a:t>As of end of June 2007 we had a total of 150 outlets</a:t>
            </a:r>
          </a:p>
          <a:p>
            <a:pPr marL="190500" indent="-190500" algn="just">
              <a:spcBef>
                <a:spcPts val="500"/>
              </a:spcBef>
              <a:buClr>
                <a:srgbClr val="003399"/>
              </a:buClr>
              <a:buSzPct val="60000"/>
              <a:buFontTx/>
              <a:buChar char="•"/>
            </a:pPr>
            <a:r>
              <a:rPr lang="en-US" altLang="ru-RU"/>
              <a:t>This network enables us to operate during business hours in all time zones of the Russian Federation.</a:t>
            </a:r>
          </a:p>
          <a:p>
            <a:pPr marL="190500" indent="-190500" algn="just">
              <a:spcBef>
                <a:spcPts val="500"/>
              </a:spcBef>
              <a:buClr>
                <a:srgbClr val="003399"/>
              </a:buClr>
              <a:buSzPct val="60000"/>
              <a:buFontTx/>
              <a:buChar char="•"/>
            </a:pPr>
            <a:r>
              <a:rPr lang="en-GB" altLang="ru-RU"/>
              <a:t>As part of our strategy of strengthening our position as a full scale universal bank, we intend to further grow our regional network and increase our presence across Russian regions.</a:t>
            </a:r>
          </a:p>
          <a:p>
            <a:pPr marL="563563" lvl="1" indent="-179388" algn="just">
              <a:spcBef>
                <a:spcPts val="500"/>
              </a:spcBef>
              <a:buClr>
                <a:srgbClr val="003399"/>
              </a:buClr>
              <a:buSzPct val="60000"/>
              <a:buFont typeface="Arial" charset="0"/>
              <a:buChar char="–"/>
            </a:pPr>
            <a:r>
              <a:rPr lang="en-GB" altLang="ja-JP"/>
              <a:t>We plan to have </a:t>
            </a:r>
            <a:r>
              <a:rPr lang="en-GB" altLang="ja-JP">
                <a:solidFill>
                  <a:srgbClr val="FF0000"/>
                </a:solidFill>
              </a:rPr>
              <a:t>[XX]</a:t>
            </a:r>
            <a:r>
              <a:rPr lang="en-GB" altLang="ja-JP"/>
              <a:t> offices and branches by the end of this year, compared to </a:t>
            </a:r>
            <a:r>
              <a:rPr lang="en-GB" altLang="ja-JP">
                <a:solidFill>
                  <a:srgbClr val="FF0000"/>
                </a:solidFill>
              </a:rPr>
              <a:t>[XX]</a:t>
            </a:r>
            <a:r>
              <a:rPr lang="en-GB" altLang="ja-JP"/>
              <a:t> we have now.  </a:t>
            </a:r>
          </a:p>
          <a:p>
            <a:pPr marL="190500" indent="-190500" algn="just">
              <a:spcBef>
                <a:spcPts val="500"/>
              </a:spcBef>
              <a:buClr>
                <a:srgbClr val="003399"/>
              </a:buClr>
              <a:buSzPct val="60000"/>
              <a:buFontTx/>
              <a:buChar char="•"/>
            </a:pPr>
            <a:r>
              <a:rPr lang="en-US" altLang="ru-RU"/>
              <a:t>In addition to our domestic presence, we have foreign representative offices in Cyprus, China, India and Ukraine and a network of corresponding banking relations, which allows us to maintain a leading position in clearing services. </a:t>
            </a:r>
            <a:endParaRPr lang="en-GB" altLang="ru-RU"/>
          </a:p>
        </p:txBody>
      </p:sp>
    </p:spTree>
    <p:extLst>
      <p:ext uri="{BB962C8B-B14F-4D97-AF65-F5344CB8AC3E}">
        <p14:creationId xmlns:p14="http://schemas.microsoft.com/office/powerpoint/2010/main" val="42789302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txBox="1">
            <a:spLocks noGrp="1" noChangeArrowheads="1"/>
          </p:cNvSpPr>
          <p:nvPr/>
        </p:nvSpPr>
        <p:spPr bwMode="auto">
          <a:xfrm>
            <a:off x="3849688" y="9378406"/>
            <a:ext cx="2946400" cy="494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fld id="{653590E2-8120-40D0-A91C-FB28B012C90B}" type="slidenum">
              <a:rPr lang="ru-RU" altLang="ru-RU" sz="1200"/>
              <a:pPr algn="r" eaLnBrk="1" hangingPunct="1"/>
              <a:t>4</a:t>
            </a:fld>
            <a:endParaRPr lang="ru-RU" altLang="ru-RU" sz="1200"/>
          </a:p>
        </p:txBody>
      </p:sp>
      <p:sp>
        <p:nvSpPr>
          <p:cNvPr id="23555" name="Rectangle 2"/>
          <p:cNvSpPr>
            <a:spLocks noGrp="1" noRot="1" noChangeAspect="1" noChangeArrowheads="1" noTextEdit="1"/>
          </p:cNvSpPr>
          <p:nvPr>
            <p:ph type="sldImg"/>
          </p:nvPr>
        </p:nvSpPr>
        <p:spPr>
          <a:xfrm>
            <a:off x="393700" y="414338"/>
            <a:ext cx="6043613" cy="4184650"/>
          </a:xfrm>
          <a:ln/>
        </p:spPr>
      </p:sp>
      <p:sp>
        <p:nvSpPr>
          <p:cNvPr id="23556" name="Rectangle 3"/>
          <p:cNvSpPr>
            <a:spLocks noGrp="1" noChangeArrowheads="1"/>
          </p:cNvSpPr>
          <p:nvPr>
            <p:ph type="body" idx="1"/>
          </p:nvPr>
        </p:nvSpPr>
        <p:spPr bwMode="gray">
          <a:xfrm>
            <a:off x="619125" y="4688414"/>
            <a:ext cx="5661025" cy="44420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15" tIns="44910" rIns="89815" bIns="44910"/>
          <a:lstStyle/>
          <a:p>
            <a:pPr marL="190500" indent="-190500" algn="just">
              <a:spcBef>
                <a:spcPts val="500"/>
              </a:spcBef>
              <a:buClr>
                <a:srgbClr val="003399"/>
              </a:buClr>
              <a:buSzPct val="60000"/>
              <a:buFontTx/>
              <a:buChar char="•"/>
            </a:pPr>
            <a:r>
              <a:rPr lang="en-GB" altLang="ru-RU"/>
              <a:t>Since its foundation, PSB has developed a network of 43 offices in Moscow and Moscow region </a:t>
            </a:r>
            <a:r>
              <a:rPr lang="en-US" altLang="ru-RU"/>
              <a:t>(which is geographically our most important market) and has offices in almost all major Russian major cities mainly in the European part of the country, but also in the Far East and Siberia. </a:t>
            </a:r>
          </a:p>
          <a:p>
            <a:pPr marL="190500" indent="-190500" algn="just">
              <a:spcBef>
                <a:spcPts val="500"/>
              </a:spcBef>
              <a:buClr>
                <a:srgbClr val="003399"/>
              </a:buClr>
              <a:buSzPct val="60000"/>
              <a:buFontTx/>
              <a:buChar char="•"/>
            </a:pPr>
            <a:r>
              <a:rPr lang="en-US" altLang="ru-RU"/>
              <a:t>As of end of June 2007 we had a total of 150 outlets</a:t>
            </a:r>
          </a:p>
          <a:p>
            <a:pPr marL="190500" indent="-190500" algn="just">
              <a:spcBef>
                <a:spcPts val="500"/>
              </a:spcBef>
              <a:buClr>
                <a:srgbClr val="003399"/>
              </a:buClr>
              <a:buSzPct val="60000"/>
              <a:buFontTx/>
              <a:buChar char="•"/>
            </a:pPr>
            <a:r>
              <a:rPr lang="en-US" altLang="ru-RU"/>
              <a:t>This network enables us to operate during business hours in all time zones of the Russian Federation.</a:t>
            </a:r>
          </a:p>
          <a:p>
            <a:pPr marL="190500" indent="-190500" algn="just">
              <a:spcBef>
                <a:spcPts val="500"/>
              </a:spcBef>
              <a:buClr>
                <a:srgbClr val="003399"/>
              </a:buClr>
              <a:buSzPct val="60000"/>
              <a:buFontTx/>
              <a:buChar char="•"/>
            </a:pPr>
            <a:r>
              <a:rPr lang="en-GB" altLang="ru-RU"/>
              <a:t>As part of our strategy of strengthening our position as a full scale universal bank, we intend to further grow our regional network and increase our presence across Russian regions.</a:t>
            </a:r>
          </a:p>
          <a:p>
            <a:pPr marL="563563" lvl="1" indent="-179388" algn="just">
              <a:spcBef>
                <a:spcPts val="500"/>
              </a:spcBef>
              <a:buClr>
                <a:srgbClr val="003399"/>
              </a:buClr>
              <a:buSzPct val="60000"/>
              <a:buFont typeface="Arial" charset="0"/>
              <a:buChar char="–"/>
            </a:pPr>
            <a:r>
              <a:rPr lang="en-GB" altLang="ja-JP"/>
              <a:t>We plan to have </a:t>
            </a:r>
            <a:r>
              <a:rPr lang="en-GB" altLang="ja-JP">
                <a:solidFill>
                  <a:srgbClr val="FF0000"/>
                </a:solidFill>
              </a:rPr>
              <a:t>[XX]</a:t>
            </a:r>
            <a:r>
              <a:rPr lang="en-GB" altLang="ja-JP"/>
              <a:t> offices and branches by the end of this year, compared to </a:t>
            </a:r>
            <a:r>
              <a:rPr lang="en-GB" altLang="ja-JP">
                <a:solidFill>
                  <a:srgbClr val="FF0000"/>
                </a:solidFill>
              </a:rPr>
              <a:t>[XX]</a:t>
            </a:r>
            <a:r>
              <a:rPr lang="en-GB" altLang="ja-JP"/>
              <a:t> we have now.  </a:t>
            </a:r>
          </a:p>
          <a:p>
            <a:pPr marL="190500" indent="-190500" algn="just">
              <a:spcBef>
                <a:spcPts val="500"/>
              </a:spcBef>
              <a:buClr>
                <a:srgbClr val="003399"/>
              </a:buClr>
              <a:buSzPct val="60000"/>
              <a:buFontTx/>
              <a:buChar char="•"/>
            </a:pPr>
            <a:r>
              <a:rPr lang="en-US" altLang="ru-RU"/>
              <a:t>In addition to our domestic presence, we have foreign representative offices in Cyprus, China, India and Ukraine and a network of corresponding banking relations, which allows us to maintain a leading position in clearing services. </a:t>
            </a:r>
            <a:endParaRPr lang="en-GB" altLang="ru-RU"/>
          </a:p>
        </p:txBody>
      </p:sp>
    </p:spTree>
    <p:extLst>
      <p:ext uri="{BB962C8B-B14F-4D97-AF65-F5344CB8AC3E}">
        <p14:creationId xmlns:p14="http://schemas.microsoft.com/office/powerpoint/2010/main" val="3436716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txBox="1">
            <a:spLocks noGrp="1" noChangeArrowheads="1"/>
          </p:cNvSpPr>
          <p:nvPr/>
        </p:nvSpPr>
        <p:spPr bwMode="auto">
          <a:xfrm>
            <a:off x="3849688" y="9378406"/>
            <a:ext cx="2946400" cy="494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fld id="{653590E2-8120-40D0-A91C-FB28B012C90B}" type="slidenum">
              <a:rPr lang="ru-RU" altLang="ru-RU" sz="1200"/>
              <a:pPr algn="r" eaLnBrk="1" hangingPunct="1"/>
              <a:t>5</a:t>
            </a:fld>
            <a:endParaRPr lang="ru-RU" altLang="ru-RU" sz="1200"/>
          </a:p>
        </p:txBody>
      </p:sp>
      <p:sp>
        <p:nvSpPr>
          <p:cNvPr id="23555" name="Rectangle 2"/>
          <p:cNvSpPr>
            <a:spLocks noGrp="1" noRot="1" noChangeAspect="1" noChangeArrowheads="1" noTextEdit="1"/>
          </p:cNvSpPr>
          <p:nvPr>
            <p:ph type="sldImg"/>
          </p:nvPr>
        </p:nvSpPr>
        <p:spPr>
          <a:xfrm>
            <a:off x="393700" y="414338"/>
            <a:ext cx="6043613" cy="4184650"/>
          </a:xfrm>
          <a:ln/>
        </p:spPr>
      </p:sp>
      <p:sp>
        <p:nvSpPr>
          <p:cNvPr id="23556" name="Rectangle 3"/>
          <p:cNvSpPr>
            <a:spLocks noGrp="1" noChangeArrowheads="1"/>
          </p:cNvSpPr>
          <p:nvPr>
            <p:ph type="body" idx="1"/>
          </p:nvPr>
        </p:nvSpPr>
        <p:spPr bwMode="gray">
          <a:xfrm>
            <a:off x="619125" y="4688414"/>
            <a:ext cx="5661025" cy="44420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15" tIns="44910" rIns="89815" bIns="44910"/>
          <a:lstStyle/>
          <a:p>
            <a:pPr marL="190500" indent="-190500" algn="just">
              <a:spcBef>
                <a:spcPts val="500"/>
              </a:spcBef>
              <a:buClr>
                <a:srgbClr val="003399"/>
              </a:buClr>
              <a:buSzPct val="60000"/>
              <a:buFontTx/>
              <a:buChar char="•"/>
            </a:pPr>
            <a:r>
              <a:rPr lang="en-GB" altLang="ru-RU"/>
              <a:t>Since its foundation, PSB has developed a network of 43 offices in Moscow and Moscow region </a:t>
            </a:r>
            <a:r>
              <a:rPr lang="en-US" altLang="ru-RU"/>
              <a:t>(which is geographically our most important market) and has offices in almost all major Russian major cities mainly in the European part of the country, but also in the Far East and Siberia. </a:t>
            </a:r>
          </a:p>
          <a:p>
            <a:pPr marL="190500" indent="-190500" algn="just">
              <a:spcBef>
                <a:spcPts val="500"/>
              </a:spcBef>
              <a:buClr>
                <a:srgbClr val="003399"/>
              </a:buClr>
              <a:buSzPct val="60000"/>
              <a:buFontTx/>
              <a:buChar char="•"/>
            </a:pPr>
            <a:r>
              <a:rPr lang="en-US" altLang="ru-RU"/>
              <a:t>As of end of June 2007 we had a total of 150 outlets</a:t>
            </a:r>
          </a:p>
          <a:p>
            <a:pPr marL="190500" indent="-190500" algn="just">
              <a:spcBef>
                <a:spcPts val="500"/>
              </a:spcBef>
              <a:buClr>
                <a:srgbClr val="003399"/>
              </a:buClr>
              <a:buSzPct val="60000"/>
              <a:buFontTx/>
              <a:buChar char="•"/>
            </a:pPr>
            <a:r>
              <a:rPr lang="en-US" altLang="ru-RU"/>
              <a:t>This network enables us to operate during business hours in all time zones of the Russian Federation.</a:t>
            </a:r>
          </a:p>
          <a:p>
            <a:pPr marL="190500" indent="-190500" algn="just">
              <a:spcBef>
                <a:spcPts val="500"/>
              </a:spcBef>
              <a:buClr>
                <a:srgbClr val="003399"/>
              </a:buClr>
              <a:buSzPct val="60000"/>
              <a:buFontTx/>
              <a:buChar char="•"/>
            </a:pPr>
            <a:r>
              <a:rPr lang="en-GB" altLang="ru-RU"/>
              <a:t>As part of our strategy of strengthening our position as a full scale universal bank, we intend to further grow our regional network and increase our presence across Russian regions.</a:t>
            </a:r>
          </a:p>
          <a:p>
            <a:pPr marL="563563" lvl="1" indent="-179388" algn="just">
              <a:spcBef>
                <a:spcPts val="500"/>
              </a:spcBef>
              <a:buClr>
                <a:srgbClr val="003399"/>
              </a:buClr>
              <a:buSzPct val="60000"/>
              <a:buFont typeface="Arial" charset="0"/>
              <a:buChar char="–"/>
            </a:pPr>
            <a:r>
              <a:rPr lang="en-GB" altLang="ja-JP"/>
              <a:t>We plan to have </a:t>
            </a:r>
            <a:r>
              <a:rPr lang="en-GB" altLang="ja-JP">
                <a:solidFill>
                  <a:srgbClr val="FF0000"/>
                </a:solidFill>
              </a:rPr>
              <a:t>[XX]</a:t>
            </a:r>
            <a:r>
              <a:rPr lang="en-GB" altLang="ja-JP"/>
              <a:t> offices and branches by the end of this year, compared to </a:t>
            </a:r>
            <a:r>
              <a:rPr lang="en-GB" altLang="ja-JP">
                <a:solidFill>
                  <a:srgbClr val="FF0000"/>
                </a:solidFill>
              </a:rPr>
              <a:t>[XX]</a:t>
            </a:r>
            <a:r>
              <a:rPr lang="en-GB" altLang="ja-JP"/>
              <a:t> we have now.  </a:t>
            </a:r>
          </a:p>
          <a:p>
            <a:pPr marL="190500" indent="-190500" algn="just">
              <a:spcBef>
                <a:spcPts val="500"/>
              </a:spcBef>
              <a:buClr>
                <a:srgbClr val="003399"/>
              </a:buClr>
              <a:buSzPct val="60000"/>
              <a:buFontTx/>
              <a:buChar char="•"/>
            </a:pPr>
            <a:r>
              <a:rPr lang="en-US" altLang="ru-RU"/>
              <a:t>In addition to our domestic presence, we have foreign representative offices in Cyprus, China, India and Ukraine and a network of corresponding banking relations, which allows us to maintain a leading position in clearing services. </a:t>
            </a:r>
            <a:endParaRPr lang="en-GB" altLang="ru-RU"/>
          </a:p>
        </p:txBody>
      </p:sp>
    </p:spTree>
    <p:extLst>
      <p:ext uri="{BB962C8B-B14F-4D97-AF65-F5344CB8AC3E}">
        <p14:creationId xmlns:p14="http://schemas.microsoft.com/office/powerpoint/2010/main" val="9769255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txBox="1">
            <a:spLocks noGrp="1" noChangeArrowheads="1"/>
          </p:cNvSpPr>
          <p:nvPr/>
        </p:nvSpPr>
        <p:spPr bwMode="auto">
          <a:xfrm>
            <a:off x="3849688" y="9378406"/>
            <a:ext cx="2946400" cy="494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fld id="{653590E2-8120-40D0-A91C-FB28B012C90B}" type="slidenum">
              <a:rPr lang="ru-RU" altLang="ru-RU" sz="1200"/>
              <a:pPr algn="r" eaLnBrk="1" hangingPunct="1"/>
              <a:t>6</a:t>
            </a:fld>
            <a:endParaRPr lang="ru-RU" altLang="ru-RU" sz="1200"/>
          </a:p>
        </p:txBody>
      </p:sp>
      <p:sp>
        <p:nvSpPr>
          <p:cNvPr id="23555" name="Rectangle 2"/>
          <p:cNvSpPr>
            <a:spLocks noGrp="1" noRot="1" noChangeAspect="1" noChangeArrowheads="1" noTextEdit="1"/>
          </p:cNvSpPr>
          <p:nvPr>
            <p:ph type="sldImg"/>
          </p:nvPr>
        </p:nvSpPr>
        <p:spPr>
          <a:xfrm>
            <a:off x="393700" y="414338"/>
            <a:ext cx="6043613" cy="4184650"/>
          </a:xfrm>
          <a:ln/>
        </p:spPr>
      </p:sp>
      <p:sp>
        <p:nvSpPr>
          <p:cNvPr id="23556" name="Rectangle 3"/>
          <p:cNvSpPr>
            <a:spLocks noGrp="1" noChangeArrowheads="1"/>
          </p:cNvSpPr>
          <p:nvPr>
            <p:ph type="body" idx="1"/>
          </p:nvPr>
        </p:nvSpPr>
        <p:spPr bwMode="gray">
          <a:xfrm>
            <a:off x="619125" y="4688414"/>
            <a:ext cx="5661025" cy="44420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15" tIns="44910" rIns="89815" bIns="44910"/>
          <a:lstStyle/>
          <a:p>
            <a:pPr marL="190500" indent="-190500" algn="just">
              <a:spcBef>
                <a:spcPts val="500"/>
              </a:spcBef>
              <a:buClr>
                <a:srgbClr val="003399"/>
              </a:buClr>
              <a:buSzPct val="60000"/>
              <a:buFontTx/>
              <a:buChar char="•"/>
            </a:pPr>
            <a:r>
              <a:rPr lang="en-GB" altLang="ru-RU"/>
              <a:t>Since its foundation, PSB has developed a network of 43 offices in Moscow and Moscow region </a:t>
            </a:r>
            <a:r>
              <a:rPr lang="en-US" altLang="ru-RU"/>
              <a:t>(which is geographically our most important market) and has offices in almost all major Russian major cities mainly in the European part of the country, but also in the Far East and Siberia. </a:t>
            </a:r>
          </a:p>
          <a:p>
            <a:pPr marL="190500" indent="-190500" algn="just">
              <a:spcBef>
                <a:spcPts val="500"/>
              </a:spcBef>
              <a:buClr>
                <a:srgbClr val="003399"/>
              </a:buClr>
              <a:buSzPct val="60000"/>
              <a:buFontTx/>
              <a:buChar char="•"/>
            </a:pPr>
            <a:r>
              <a:rPr lang="en-US" altLang="ru-RU"/>
              <a:t>As of end of June 2007 we had a total of 150 outlets</a:t>
            </a:r>
          </a:p>
          <a:p>
            <a:pPr marL="190500" indent="-190500" algn="just">
              <a:spcBef>
                <a:spcPts val="500"/>
              </a:spcBef>
              <a:buClr>
                <a:srgbClr val="003399"/>
              </a:buClr>
              <a:buSzPct val="60000"/>
              <a:buFontTx/>
              <a:buChar char="•"/>
            </a:pPr>
            <a:r>
              <a:rPr lang="en-US" altLang="ru-RU"/>
              <a:t>This network enables us to operate during business hours in all time zones of the Russian Federation.</a:t>
            </a:r>
          </a:p>
          <a:p>
            <a:pPr marL="190500" indent="-190500" algn="just">
              <a:spcBef>
                <a:spcPts val="500"/>
              </a:spcBef>
              <a:buClr>
                <a:srgbClr val="003399"/>
              </a:buClr>
              <a:buSzPct val="60000"/>
              <a:buFontTx/>
              <a:buChar char="•"/>
            </a:pPr>
            <a:r>
              <a:rPr lang="en-GB" altLang="ru-RU"/>
              <a:t>As part of our strategy of strengthening our position as a full scale universal bank, we intend to further grow our regional network and increase our presence across Russian regions.</a:t>
            </a:r>
          </a:p>
          <a:p>
            <a:pPr marL="563563" lvl="1" indent="-179388" algn="just">
              <a:spcBef>
                <a:spcPts val="500"/>
              </a:spcBef>
              <a:buClr>
                <a:srgbClr val="003399"/>
              </a:buClr>
              <a:buSzPct val="60000"/>
              <a:buFont typeface="Arial" charset="0"/>
              <a:buChar char="–"/>
            </a:pPr>
            <a:r>
              <a:rPr lang="en-GB" altLang="ja-JP"/>
              <a:t>We plan to have </a:t>
            </a:r>
            <a:r>
              <a:rPr lang="en-GB" altLang="ja-JP">
                <a:solidFill>
                  <a:srgbClr val="FF0000"/>
                </a:solidFill>
              </a:rPr>
              <a:t>[XX]</a:t>
            </a:r>
            <a:r>
              <a:rPr lang="en-GB" altLang="ja-JP"/>
              <a:t> offices and branches by the end of this year, compared to </a:t>
            </a:r>
            <a:r>
              <a:rPr lang="en-GB" altLang="ja-JP">
                <a:solidFill>
                  <a:srgbClr val="FF0000"/>
                </a:solidFill>
              </a:rPr>
              <a:t>[XX]</a:t>
            </a:r>
            <a:r>
              <a:rPr lang="en-GB" altLang="ja-JP"/>
              <a:t> we have now.  </a:t>
            </a:r>
          </a:p>
          <a:p>
            <a:pPr marL="190500" indent="-190500" algn="just">
              <a:spcBef>
                <a:spcPts val="500"/>
              </a:spcBef>
              <a:buClr>
                <a:srgbClr val="003399"/>
              </a:buClr>
              <a:buSzPct val="60000"/>
              <a:buFontTx/>
              <a:buChar char="•"/>
            </a:pPr>
            <a:r>
              <a:rPr lang="en-US" altLang="ru-RU"/>
              <a:t>In addition to our domestic presence, we have foreign representative offices in Cyprus, China, India and Ukraine and a network of corresponding banking relations, which allows us to maintain a leading position in clearing services. </a:t>
            </a:r>
            <a:endParaRPr lang="en-GB" altLang="ru-RU"/>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txBox="1">
            <a:spLocks noGrp="1" noChangeArrowheads="1"/>
          </p:cNvSpPr>
          <p:nvPr/>
        </p:nvSpPr>
        <p:spPr bwMode="auto">
          <a:xfrm>
            <a:off x="3849688" y="9378406"/>
            <a:ext cx="2946400" cy="494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fld id="{653590E2-8120-40D0-A91C-FB28B012C90B}" type="slidenum">
              <a:rPr lang="ru-RU" altLang="ru-RU" sz="1200"/>
              <a:pPr algn="r" eaLnBrk="1" hangingPunct="1"/>
              <a:t>7</a:t>
            </a:fld>
            <a:endParaRPr lang="ru-RU" altLang="ru-RU" sz="1200"/>
          </a:p>
        </p:txBody>
      </p:sp>
      <p:sp>
        <p:nvSpPr>
          <p:cNvPr id="23555" name="Rectangle 2"/>
          <p:cNvSpPr>
            <a:spLocks noGrp="1" noRot="1" noChangeAspect="1" noChangeArrowheads="1" noTextEdit="1"/>
          </p:cNvSpPr>
          <p:nvPr>
            <p:ph type="sldImg"/>
          </p:nvPr>
        </p:nvSpPr>
        <p:spPr>
          <a:xfrm>
            <a:off x="393700" y="414338"/>
            <a:ext cx="6043613" cy="4184650"/>
          </a:xfrm>
          <a:ln/>
        </p:spPr>
      </p:sp>
      <p:sp>
        <p:nvSpPr>
          <p:cNvPr id="23556" name="Rectangle 3"/>
          <p:cNvSpPr>
            <a:spLocks noGrp="1" noChangeArrowheads="1"/>
          </p:cNvSpPr>
          <p:nvPr>
            <p:ph type="body" idx="1"/>
          </p:nvPr>
        </p:nvSpPr>
        <p:spPr bwMode="gray">
          <a:xfrm>
            <a:off x="619125" y="4688414"/>
            <a:ext cx="5661025" cy="44420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15" tIns="44910" rIns="89815" bIns="44910"/>
          <a:lstStyle/>
          <a:p>
            <a:pPr marL="190500" indent="-190500" algn="just">
              <a:spcBef>
                <a:spcPts val="500"/>
              </a:spcBef>
              <a:buClr>
                <a:srgbClr val="003399"/>
              </a:buClr>
              <a:buSzPct val="60000"/>
              <a:buFontTx/>
              <a:buChar char="•"/>
            </a:pPr>
            <a:r>
              <a:rPr lang="en-GB" altLang="ru-RU"/>
              <a:t>Since its foundation, PSB has developed a network of 43 offices in Moscow and Moscow region </a:t>
            </a:r>
            <a:r>
              <a:rPr lang="en-US" altLang="ru-RU"/>
              <a:t>(which is geographically our most important market) and has offices in almost all major Russian major cities mainly in the European part of the country, but also in the Far East and Siberia. </a:t>
            </a:r>
          </a:p>
          <a:p>
            <a:pPr marL="190500" indent="-190500" algn="just">
              <a:spcBef>
                <a:spcPts val="500"/>
              </a:spcBef>
              <a:buClr>
                <a:srgbClr val="003399"/>
              </a:buClr>
              <a:buSzPct val="60000"/>
              <a:buFontTx/>
              <a:buChar char="•"/>
            </a:pPr>
            <a:r>
              <a:rPr lang="en-US" altLang="ru-RU"/>
              <a:t>As of end of June 2007 we had a total of 150 outlets</a:t>
            </a:r>
          </a:p>
          <a:p>
            <a:pPr marL="190500" indent="-190500" algn="just">
              <a:spcBef>
                <a:spcPts val="500"/>
              </a:spcBef>
              <a:buClr>
                <a:srgbClr val="003399"/>
              </a:buClr>
              <a:buSzPct val="60000"/>
              <a:buFontTx/>
              <a:buChar char="•"/>
            </a:pPr>
            <a:r>
              <a:rPr lang="en-US" altLang="ru-RU"/>
              <a:t>This network enables us to operate during business hours in all time zones of the Russian Federation.</a:t>
            </a:r>
          </a:p>
          <a:p>
            <a:pPr marL="190500" indent="-190500" algn="just">
              <a:spcBef>
                <a:spcPts val="500"/>
              </a:spcBef>
              <a:buClr>
                <a:srgbClr val="003399"/>
              </a:buClr>
              <a:buSzPct val="60000"/>
              <a:buFontTx/>
              <a:buChar char="•"/>
            </a:pPr>
            <a:r>
              <a:rPr lang="en-GB" altLang="ru-RU"/>
              <a:t>As part of our strategy of strengthening our position as a full scale universal bank, we intend to further grow our regional network and increase our presence across Russian regions.</a:t>
            </a:r>
          </a:p>
          <a:p>
            <a:pPr marL="563563" lvl="1" indent="-179388" algn="just">
              <a:spcBef>
                <a:spcPts val="500"/>
              </a:spcBef>
              <a:buClr>
                <a:srgbClr val="003399"/>
              </a:buClr>
              <a:buSzPct val="60000"/>
              <a:buFont typeface="Arial" charset="0"/>
              <a:buChar char="–"/>
            </a:pPr>
            <a:r>
              <a:rPr lang="en-GB" altLang="ja-JP"/>
              <a:t>We plan to have </a:t>
            </a:r>
            <a:r>
              <a:rPr lang="en-GB" altLang="ja-JP">
                <a:solidFill>
                  <a:srgbClr val="FF0000"/>
                </a:solidFill>
              </a:rPr>
              <a:t>[XX]</a:t>
            </a:r>
            <a:r>
              <a:rPr lang="en-GB" altLang="ja-JP"/>
              <a:t> offices and branches by the end of this year, compared to </a:t>
            </a:r>
            <a:r>
              <a:rPr lang="en-GB" altLang="ja-JP">
                <a:solidFill>
                  <a:srgbClr val="FF0000"/>
                </a:solidFill>
              </a:rPr>
              <a:t>[XX]</a:t>
            </a:r>
            <a:r>
              <a:rPr lang="en-GB" altLang="ja-JP"/>
              <a:t> we have now.  </a:t>
            </a:r>
          </a:p>
          <a:p>
            <a:pPr marL="190500" indent="-190500" algn="just">
              <a:spcBef>
                <a:spcPts val="500"/>
              </a:spcBef>
              <a:buClr>
                <a:srgbClr val="003399"/>
              </a:buClr>
              <a:buSzPct val="60000"/>
              <a:buFontTx/>
              <a:buChar char="•"/>
            </a:pPr>
            <a:r>
              <a:rPr lang="en-US" altLang="ru-RU"/>
              <a:t>In addition to our domestic presence, we have foreign representative offices in Cyprus, China, India and Ukraine and a network of corresponding banking relations, which allows us to maintain a leading position in clearing services. </a:t>
            </a:r>
            <a:endParaRPr lang="en-GB" altLang="ru-RU"/>
          </a:p>
        </p:txBody>
      </p:sp>
    </p:spTree>
    <p:extLst>
      <p:ext uri="{BB962C8B-B14F-4D97-AF65-F5344CB8AC3E}">
        <p14:creationId xmlns:p14="http://schemas.microsoft.com/office/powerpoint/2010/main" val="19549715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txBox="1">
            <a:spLocks noGrp="1" noChangeArrowheads="1"/>
          </p:cNvSpPr>
          <p:nvPr/>
        </p:nvSpPr>
        <p:spPr bwMode="auto">
          <a:xfrm>
            <a:off x="3849688" y="9378406"/>
            <a:ext cx="2946400" cy="494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fld id="{653590E2-8120-40D0-A91C-FB28B012C90B}" type="slidenum">
              <a:rPr lang="ru-RU" altLang="ru-RU" sz="1200"/>
              <a:pPr algn="r" eaLnBrk="1" hangingPunct="1"/>
              <a:t>9</a:t>
            </a:fld>
            <a:endParaRPr lang="ru-RU" altLang="ru-RU" sz="1200"/>
          </a:p>
        </p:txBody>
      </p:sp>
      <p:sp>
        <p:nvSpPr>
          <p:cNvPr id="23555" name="Rectangle 2"/>
          <p:cNvSpPr>
            <a:spLocks noGrp="1" noRot="1" noChangeAspect="1" noChangeArrowheads="1" noTextEdit="1"/>
          </p:cNvSpPr>
          <p:nvPr>
            <p:ph type="sldImg"/>
          </p:nvPr>
        </p:nvSpPr>
        <p:spPr>
          <a:xfrm>
            <a:off x="393700" y="414338"/>
            <a:ext cx="6043613" cy="4184650"/>
          </a:xfrm>
          <a:ln/>
        </p:spPr>
      </p:sp>
      <p:sp>
        <p:nvSpPr>
          <p:cNvPr id="23556" name="Rectangle 3"/>
          <p:cNvSpPr>
            <a:spLocks noGrp="1" noChangeArrowheads="1"/>
          </p:cNvSpPr>
          <p:nvPr>
            <p:ph type="body" idx="1"/>
          </p:nvPr>
        </p:nvSpPr>
        <p:spPr bwMode="gray">
          <a:xfrm>
            <a:off x="619125" y="4688414"/>
            <a:ext cx="5661025" cy="44420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15" tIns="44910" rIns="89815" bIns="44910"/>
          <a:lstStyle/>
          <a:p>
            <a:pPr marL="190500" indent="-190500" algn="just">
              <a:spcBef>
                <a:spcPts val="500"/>
              </a:spcBef>
              <a:buClr>
                <a:srgbClr val="003399"/>
              </a:buClr>
              <a:buSzPct val="60000"/>
              <a:buFontTx/>
              <a:buChar char="•"/>
            </a:pPr>
            <a:r>
              <a:rPr lang="en-GB" altLang="ru-RU"/>
              <a:t>Since its foundation, PSB has developed a network of 43 offices in Moscow and Moscow region </a:t>
            </a:r>
            <a:r>
              <a:rPr lang="en-US" altLang="ru-RU"/>
              <a:t>(which is geographically our most important market) and has offices in almost all major Russian major cities mainly in the European part of the country, but also in the Far East and Siberia. </a:t>
            </a:r>
          </a:p>
          <a:p>
            <a:pPr marL="190500" indent="-190500" algn="just">
              <a:spcBef>
                <a:spcPts val="500"/>
              </a:spcBef>
              <a:buClr>
                <a:srgbClr val="003399"/>
              </a:buClr>
              <a:buSzPct val="60000"/>
              <a:buFontTx/>
              <a:buChar char="•"/>
            </a:pPr>
            <a:r>
              <a:rPr lang="en-US" altLang="ru-RU"/>
              <a:t>As of end of June 2007 we had a total of 150 outlets</a:t>
            </a:r>
          </a:p>
          <a:p>
            <a:pPr marL="190500" indent="-190500" algn="just">
              <a:spcBef>
                <a:spcPts val="500"/>
              </a:spcBef>
              <a:buClr>
                <a:srgbClr val="003399"/>
              </a:buClr>
              <a:buSzPct val="60000"/>
              <a:buFontTx/>
              <a:buChar char="•"/>
            </a:pPr>
            <a:r>
              <a:rPr lang="en-US" altLang="ru-RU"/>
              <a:t>This network enables us to operate during business hours in all time zones of the Russian Federation.</a:t>
            </a:r>
          </a:p>
          <a:p>
            <a:pPr marL="190500" indent="-190500" algn="just">
              <a:spcBef>
                <a:spcPts val="500"/>
              </a:spcBef>
              <a:buClr>
                <a:srgbClr val="003399"/>
              </a:buClr>
              <a:buSzPct val="60000"/>
              <a:buFontTx/>
              <a:buChar char="•"/>
            </a:pPr>
            <a:r>
              <a:rPr lang="en-GB" altLang="ru-RU"/>
              <a:t>As part of our strategy of strengthening our position as a full scale universal bank, we intend to further grow our regional network and increase our presence across Russian regions.</a:t>
            </a:r>
          </a:p>
          <a:p>
            <a:pPr marL="563563" lvl="1" indent="-179388" algn="just">
              <a:spcBef>
                <a:spcPts val="500"/>
              </a:spcBef>
              <a:buClr>
                <a:srgbClr val="003399"/>
              </a:buClr>
              <a:buSzPct val="60000"/>
              <a:buFont typeface="Arial" charset="0"/>
              <a:buChar char="–"/>
            </a:pPr>
            <a:r>
              <a:rPr lang="en-GB" altLang="ja-JP"/>
              <a:t>We plan to have </a:t>
            </a:r>
            <a:r>
              <a:rPr lang="en-GB" altLang="ja-JP">
                <a:solidFill>
                  <a:srgbClr val="FF0000"/>
                </a:solidFill>
              </a:rPr>
              <a:t>[XX]</a:t>
            </a:r>
            <a:r>
              <a:rPr lang="en-GB" altLang="ja-JP"/>
              <a:t> offices and branches by the end of this year, compared to </a:t>
            </a:r>
            <a:r>
              <a:rPr lang="en-GB" altLang="ja-JP">
                <a:solidFill>
                  <a:srgbClr val="FF0000"/>
                </a:solidFill>
              </a:rPr>
              <a:t>[XX]</a:t>
            </a:r>
            <a:r>
              <a:rPr lang="en-GB" altLang="ja-JP"/>
              <a:t> we have now.  </a:t>
            </a:r>
          </a:p>
          <a:p>
            <a:pPr marL="190500" indent="-190500" algn="just">
              <a:spcBef>
                <a:spcPts val="500"/>
              </a:spcBef>
              <a:buClr>
                <a:srgbClr val="003399"/>
              </a:buClr>
              <a:buSzPct val="60000"/>
              <a:buFontTx/>
              <a:buChar char="•"/>
            </a:pPr>
            <a:r>
              <a:rPr lang="en-US" altLang="ru-RU"/>
              <a:t>In addition to our domestic presence, we have foreign representative offices in Cyprus, China, India and Ukraine and a network of corresponding banking relations, which allows us to maintain a leading position in clearing services. </a:t>
            </a:r>
            <a:endParaRPr lang="en-GB" altLang="ru-RU"/>
          </a:p>
        </p:txBody>
      </p:sp>
    </p:spTree>
    <p:extLst>
      <p:ext uri="{BB962C8B-B14F-4D97-AF65-F5344CB8AC3E}">
        <p14:creationId xmlns:p14="http://schemas.microsoft.com/office/powerpoint/2010/main" val="30815616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txBox="1">
            <a:spLocks noGrp="1" noChangeArrowheads="1"/>
          </p:cNvSpPr>
          <p:nvPr/>
        </p:nvSpPr>
        <p:spPr bwMode="auto">
          <a:xfrm>
            <a:off x="3849688" y="9378406"/>
            <a:ext cx="2946400" cy="494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fld id="{653590E2-8120-40D0-A91C-FB28B012C90B}" type="slidenum">
              <a:rPr lang="ru-RU" altLang="ru-RU" sz="1200"/>
              <a:pPr algn="r" eaLnBrk="1" hangingPunct="1"/>
              <a:t>11</a:t>
            </a:fld>
            <a:endParaRPr lang="ru-RU" altLang="ru-RU" sz="1200"/>
          </a:p>
        </p:txBody>
      </p:sp>
      <p:sp>
        <p:nvSpPr>
          <p:cNvPr id="23555" name="Rectangle 2"/>
          <p:cNvSpPr>
            <a:spLocks noGrp="1" noRot="1" noChangeAspect="1" noChangeArrowheads="1" noTextEdit="1"/>
          </p:cNvSpPr>
          <p:nvPr>
            <p:ph type="sldImg"/>
          </p:nvPr>
        </p:nvSpPr>
        <p:spPr>
          <a:xfrm>
            <a:off x="393700" y="414338"/>
            <a:ext cx="6043613" cy="4184650"/>
          </a:xfrm>
          <a:ln/>
        </p:spPr>
      </p:sp>
      <p:sp>
        <p:nvSpPr>
          <p:cNvPr id="23556" name="Rectangle 3"/>
          <p:cNvSpPr>
            <a:spLocks noGrp="1" noChangeArrowheads="1"/>
          </p:cNvSpPr>
          <p:nvPr>
            <p:ph type="body" idx="1"/>
          </p:nvPr>
        </p:nvSpPr>
        <p:spPr bwMode="gray">
          <a:xfrm>
            <a:off x="619125" y="4688414"/>
            <a:ext cx="5661025" cy="44420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15" tIns="44910" rIns="89815" bIns="44910"/>
          <a:lstStyle/>
          <a:p>
            <a:pPr marL="190500" indent="-190500" algn="just">
              <a:spcBef>
                <a:spcPts val="500"/>
              </a:spcBef>
              <a:buClr>
                <a:srgbClr val="003399"/>
              </a:buClr>
              <a:buSzPct val="60000"/>
              <a:buFontTx/>
              <a:buChar char="•"/>
            </a:pPr>
            <a:r>
              <a:rPr lang="en-GB" altLang="ru-RU" dirty="0"/>
              <a:t>Since its foundation, PSB has developed a network of 43 offices in Moscow and Moscow region </a:t>
            </a:r>
            <a:r>
              <a:rPr lang="en-US" altLang="ru-RU" dirty="0"/>
              <a:t>(which is geographically our most important market) and has offices in almost all major Russian major cities mainly in the European part of the country, but also in the Far East and Siberia. </a:t>
            </a:r>
          </a:p>
          <a:p>
            <a:pPr marL="190500" indent="-190500" algn="just">
              <a:spcBef>
                <a:spcPts val="500"/>
              </a:spcBef>
              <a:buClr>
                <a:srgbClr val="003399"/>
              </a:buClr>
              <a:buSzPct val="60000"/>
              <a:buFontTx/>
              <a:buChar char="•"/>
            </a:pPr>
            <a:r>
              <a:rPr lang="en-US" altLang="ru-RU" dirty="0"/>
              <a:t>As of end of June 2007 we had a total of 150 outlets</a:t>
            </a:r>
          </a:p>
          <a:p>
            <a:pPr marL="190500" indent="-190500" algn="just">
              <a:spcBef>
                <a:spcPts val="500"/>
              </a:spcBef>
              <a:buClr>
                <a:srgbClr val="003399"/>
              </a:buClr>
              <a:buSzPct val="60000"/>
              <a:buFontTx/>
              <a:buChar char="•"/>
            </a:pPr>
            <a:r>
              <a:rPr lang="en-US" altLang="ru-RU" dirty="0"/>
              <a:t>This network enables us to operate during business hours in all time zones of the Russian Federation.</a:t>
            </a:r>
          </a:p>
          <a:p>
            <a:pPr marL="190500" indent="-190500" algn="just">
              <a:spcBef>
                <a:spcPts val="500"/>
              </a:spcBef>
              <a:buClr>
                <a:srgbClr val="003399"/>
              </a:buClr>
              <a:buSzPct val="60000"/>
              <a:buFontTx/>
              <a:buChar char="•"/>
            </a:pPr>
            <a:r>
              <a:rPr lang="en-GB" altLang="ru-RU" dirty="0"/>
              <a:t>As part of our strategy of strengthening our position as a full scale universal bank, we intend to further grow our regional network and increase our presence across Russian regions.</a:t>
            </a:r>
          </a:p>
          <a:p>
            <a:pPr marL="563563" lvl="1" indent="-179388" algn="just">
              <a:spcBef>
                <a:spcPts val="500"/>
              </a:spcBef>
              <a:buClr>
                <a:srgbClr val="003399"/>
              </a:buClr>
              <a:buSzPct val="60000"/>
              <a:buFont typeface="Arial" charset="0"/>
              <a:buChar char="–"/>
            </a:pPr>
            <a:r>
              <a:rPr lang="en-GB" altLang="ja-JP" dirty="0"/>
              <a:t>We plan to have </a:t>
            </a:r>
            <a:r>
              <a:rPr lang="en-GB" altLang="ja-JP" dirty="0">
                <a:solidFill>
                  <a:srgbClr val="FF0000"/>
                </a:solidFill>
              </a:rPr>
              <a:t>[XX]</a:t>
            </a:r>
            <a:r>
              <a:rPr lang="en-GB" altLang="ja-JP" dirty="0"/>
              <a:t> offices and branches by the end of this year, compared to </a:t>
            </a:r>
            <a:r>
              <a:rPr lang="en-GB" altLang="ja-JP" dirty="0">
                <a:solidFill>
                  <a:srgbClr val="FF0000"/>
                </a:solidFill>
              </a:rPr>
              <a:t>[XX]</a:t>
            </a:r>
            <a:r>
              <a:rPr lang="en-GB" altLang="ja-JP" dirty="0"/>
              <a:t> we have now.  </a:t>
            </a:r>
          </a:p>
          <a:p>
            <a:pPr marL="190500" indent="-190500" algn="just">
              <a:spcBef>
                <a:spcPts val="500"/>
              </a:spcBef>
              <a:buClr>
                <a:srgbClr val="003399"/>
              </a:buClr>
              <a:buSzPct val="60000"/>
              <a:buFontTx/>
              <a:buChar char="•"/>
            </a:pPr>
            <a:r>
              <a:rPr lang="en-US" altLang="ru-RU" dirty="0"/>
              <a:t>In addition to our domestic presence, we have foreign representative offices in Cyprus, China, India and Ukraine and a network of corresponding banking relations, which allows us to maintain a leading position in clearing services. </a:t>
            </a:r>
            <a:endParaRPr lang="en-GB" altLang="ru-RU" dirty="0"/>
          </a:p>
        </p:txBody>
      </p:sp>
    </p:spTree>
    <p:extLst>
      <p:ext uri="{BB962C8B-B14F-4D97-AF65-F5344CB8AC3E}">
        <p14:creationId xmlns:p14="http://schemas.microsoft.com/office/powerpoint/2010/main" val="18188091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7FF70-0299-AF72-E770-C945981DABA5}"/>
            </a:ext>
          </a:extLst>
        </p:cNvPr>
        <p:cNvGrpSpPr/>
        <p:nvPr/>
      </p:nvGrpSpPr>
      <p:grpSpPr>
        <a:xfrm>
          <a:off x="0" y="0"/>
          <a:ext cx="0" cy="0"/>
          <a:chOff x="0" y="0"/>
          <a:chExt cx="0" cy="0"/>
        </a:xfrm>
      </p:grpSpPr>
      <p:sp>
        <p:nvSpPr>
          <p:cNvPr id="23554" name="Rectangle 7">
            <a:extLst>
              <a:ext uri="{FF2B5EF4-FFF2-40B4-BE49-F238E27FC236}">
                <a16:creationId xmlns:a16="http://schemas.microsoft.com/office/drawing/2014/main" id="{9953E08A-2356-450E-41F1-D293719DD315}"/>
              </a:ext>
            </a:extLst>
          </p:cNvPr>
          <p:cNvSpPr txBox="1">
            <a:spLocks noGrp="1" noChangeArrowheads="1"/>
          </p:cNvSpPr>
          <p:nvPr/>
        </p:nvSpPr>
        <p:spPr bwMode="auto">
          <a:xfrm>
            <a:off x="3849688" y="9378406"/>
            <a:ext cx="2946400" cy="494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fld id="{653590E2-8120-40D0-A91C-FB28B012C90B}" type="slidenum">
              <a:rPr lang="ru-RU" altLang="ru-RU" sz="1200"/>
              <a:pPr algn="r" eaLnBrk="1" hangingPunct="1"/>
              <a:t>12</a:t>
            </a:fld>
            <a:endParaRPr lang="ru-RU" altLang="ru-RU" sz="1200"/>
          </a:p>
        </p:txBody>
      </p:sp>
      <p:sp>
        <p:nvSpPr>
          <p:cNvPr id="23555" name="Rectangle 2">
            <a:extLst>
              <a:ext uri="{FF2B5EF4-FFF2-40B4-BE49-F238E27FC236}">
                <a16:creationId xmlns:a16="http://schemas.microsoft.com/office/drawing/2014/main" id="{C59B14AC-4228-0C72-7A6E-7A456823B686}"/>
              </a:ext>
            </a:extLst>
          </p:cNvPr>
          <p:cNvSpPr>
            <a:spLocks noGrp="1" noRot="1" noChangeAspect="1" noChangeArrowheads="1" noTextEdit="1"/>
          </p:cNvSpPr>
          <p:nvPr>
            <p:ph type="sldImg"/>
          </p:nvPr>
        </p:nvSpPr>
        <p:spPr>
          <a:xfrm>
            <a:off x="393700" y="414338"/>
            <a:ext cx="6043613" cy="4184650"/>
          </a:xfrm>
          <a:ln/>
        </p:spPr>
      </p:sp>
      <p:sp>
        <p:nvSpPr>
          <p:cNvPr id="23556" name="Rectangle 3">
            <a:extLst>
              <a:ext uri="{FF2B5EF4-FFF2-40B4-BE49-F238E27FC236}">
                <a16:creationId xmlns:a16="http://schemas.microsoft.com/office/drawing/2014/main" id="{4897F4B1-DA38-ED28-40CF-2A5A0E995D84}"/>
              </a:ext>
            </a:extLst>
          </p:cNvPr>
          <p:cNvSpPr>
            <a:spLocks noGrp="1" noChangeArrowheads="1"/>
          </p:cNvSpPr>
          <p:nvPr>
            <p:ph type="body" idx="1"/>
          </p:nvPr>
        </p:nvSpPr>
        <p:spPr bwMode="gray">
          <a:xfrm>
            <a:off x="619125" y="4688414"/>
            <a:ext cx="5661025" cy="44420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15" tIns="44910" rIns="89815" bIns="44910"/>
          <a:lstStyle/>
          <a:p>
            <a:pPr marL="190500" indent="-190500" algn="just">
              <a:spcBef>
                <a:spcPts val="500"/>
              </a:spcBef>
              <a:buClr>
                <a:srgbClr val="003399"/>
              </a:buClr>
              <a:buSzPct val="60000"/>
              <a:buFontTx/>
              <a:buChar char="•"/>
            </a:pPr>
            <a:r>
              <a:rPr lang="en-GB" altLang="ru-RU"/>
              <a:t>Since its foundation, PSB has developed a network of 43 offices in Moscow and Moscow region </a:t>
            </a:r>
            <a:r>
              <a:rPr lang="en-US" altLang="ru-RU"/>
              <a:t>(which is geographically our most important market) and has offices in almost all major Russian major cities mainly in the European part of the country, but also in the Far East and Siberia. </a:t>
            </a:r>
          </a:p>
          <a:p>
            <a:pPr marL="190500" indent="-190500" algn="just">
              <a:spcBef>
                <a:spcPts val="500"/>
              </a:spcBef>
              <a:buClr>
                <a:srgbClr val="003399"/>
              </a:buClr>
              <a:buSzPct val="60000"/>
              <a:buFontTx/>
              <a:buChar char="•"/>
            </a:pPr>
            <a:r>
              <a:rPr lang="en-US" altLang="ru-RU"/>
              <a:t>As of end of June 2007 we had a total of 150 outlets</a:t>
            </a:r>
          </a:p>
          <a:p>
            <a:pPr marL="190500" indent="-190500" algn="just">
              <a:spcBef>
                <a:spcPts val="500"/>
              </a:spcBef>
              <a:buClr>
                <a:srgbClr val="003399"/>
              </a:buClr>
              <a:buSzPct val="60000"/>
              <a:buFontTx/>
              <a:buChar char="•"/>
            </a:pPr>
            <a:r>
              <a:rPr lang="en-US" altLang="ru-RU"/>
              <a:t>This network enables us to operate during business hours in all time zones of the Russian Federation.</a:t>
            </a:r>
          </a:p>
          <a:p>
            <a:pPr marL="190500" indent="-190500" algn="just">
              <a:spcBef>
                <a:spcPts val="500"/>
              </a:spcBef>
              <a:buClr>
                <a:srgbClr val="003399"/>
              </a:buClr>
              <a:buSzPct val="60000"/>
              <a:buFontTx/>
              <a:buChar char="•"/>
            </a:pPr>
            <a:r>
              <a:rPr lang="en-GB" altLang="ru-RU"/>
              <a:t>As part of our strategy of strengthening our position as a full scale universal bank, we intend to further grow our regional network and increase our presence across Russian regions.</a:t>
            </a:r>
          </a:p>
          <a:p>
            <a:pPr marL="563563" lvl="1" indent="-179388" algn="just">
              <a:spcBef>
                <a:spcPts val="500"/>
              </a:spcBef>
              <a:buClr>
                <a:srgbClr val="003399"/>
              </a:buClr>
              <a:buSzPct val="60000"/>
              <a:buFont typeface="Arial" charset="0"/>
              <a:buChar char="–"/>
            </a:pPr>
            <a:r>
              <a:rPr lang="en-GB" altLang="ja-JP"/>
              <a:t>We plan to have </a:t>
            </a:r>
            <a:r>
              <a:rPr lang="en-GB" altLang="ja-JP">
                <a:solidFill>
                  <a:srgbClr val="FF0000"/>
                </a:solidFill>
              </a:rPr>
              <a:t>[XX]</a:t>
            </a:r>
            <a:r>
              <a:rPr lang="en-GB" altLang="ja-JP"/>
              <a:t> offices and branches by the end of this year, compared to </a:t>
            </a:r>
            <a:r>
              <a:rPr lang="en-GB" altLang="ja-JP">
                <a:solidFill>
                  <a:srgbClr val="FF0000"/>
                </a:solidFill>
              </a:rPr>
              <a:t>[XX]</a:t>
            </a:r>
            <a:r>
              <a:rPr lang="en-GB" altLang="ja-JP"/>
              <a:t> we have now.  </a:t>
            </a:r>
          </a:p>
          <a:p>
            <a:pPr marL="190500" indent="-190500" algn="just">
              <a:spcBef>
                <a:spcPts val="500"/>
              </a:spcBef>
              <a:buClr>
                <a:srgbClr val="003399"/>
              </a:buClr>
              <a:buSzPct val="60000"/>
              <a:buFontTx/>
              <a:buChar char="•"/>
            </a:pPr>
            <a:r>
              <a:rPr lang="en-US" altLang="ru-RU"/>
              <a:t>In addition to our domestic presence, we have foreign representative offices in Cyprus, China, India and Ukraine and a network of corresponding banking relations, which allows us to maintain a leading position in clearing services. </a:t>
            </a:r>
            <a:endParaRPr lang="en-GB" altLang="ru-RU"/>
          </a:p>
        </p:txBody>
      </p:sp>
    </p:spTree>
    <p:extLst>
      <p:ext uri="{BB962C8B-B14F-4D97-AF65-F5344CB8AC3E}">
        <p14:creationId xmlns:p14="http://schemas.microsoft.com/office/powerpoint/2010/main" val="6151106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txBox="1">
            <a:spLocks noGrp="1" noChangeArrowheads="1"/>
          </p:cNvSpPr>
          <p:nvPr/>
        </p:nvSpPr>
        <p:spPr bwMode="auto">
          <a:xfrm>
            <a:off x="3849688" y="9378406"/>
            <a:ext cx="2946400" cy="494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fld id="{653590E2-8120-40D0-A91C-FB28B012C90B}" type="slidenum">
              <a:rPr lang="ru-RU" altLang="ru-RU" sz="1200"/>
              <a:pPr algn="r" eaLnBrk="1" hangingPunct="1"/>
              <a:t>13</a:t>
            </a:fld>
            <a:endParaRPr lang="ru-RU" altLang="ru-RU" sz="1200"/>
          </a:p>
        </p:txBody>
      </p:sp>
      <p:sp>
        <p:nvSpPr>
          <p:cNvPr id="23555" name="Rectangle 2"/>
          <p:cNvSpPr>
            <a:spLocks noGrp="1" noRot="1" noChangeAspect="1" noChangeArrowheads="1" noTextEdit="1"/>
          </p:cNvSpPr>
          <p:nvPr>
            <p:ph type="sldImg"/>
          </p:nvPr>
        </p:nvSpPr>
        <p:spPr>
          <a:xfrm>
            <a:off x="393700" y="414338"/>
            <a:ext cx="6043613" cy="4184650"/>
          </a:xfrm>
          <a:ln/>
        </p:spPr>
      </p:sp>
      <p:sp>
        <p:nvSpPr>
          <p:cNvPr id="23556" name="Rectangle 3"/>
          <p:cNvSpPr>
            <a:spLocks noGrp="1" noChangeArrowheads="1"/>
          </p:cNvSpPr>
          <p:nvPr>
            <p:ph type="body" idx="1"/>
          </p:nvPr>
        </p:nvSpPr>
        <p:spPr bwMode="gray">
          <a:xfrm>
            <a:off x="619125" y="4688414"/>
            <a:ext cx="5661025" cy="44420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15" tIns="44910" rIns="89815" bIns="44910"/>
          <a:lstStyle/>
          <a:p>
            <a:pPr marL="190500" indent="-190500" algn="just">
              <a:spcBef>
                <a:spcPts val="500"/>
              </a:spcBef>
              <a:buClr>
                <a:srgbClr val="003399"/>
              </a:buClr>
              <a:buSzPct val="60000"/>
              <a:buFontTx/>
              <a:buChar char="•"/>
            </a:pPr>
            <a:r>
              <a:rPr lang="en-GB" altLang="ru-RU"/>
              <a:t>Since its foundation, PSB has developed a network of 43 offices in Moscow and Moscow region </a:t>
            </a:r>
            <a:r>
              <a:rPr lang="en-US" altLang="ru-RU"/>
              <a:t>(which is geographically our most important market) and has offices in almost all major Russian major cities mainly in the European part of the country, but also in the Far East and Siberia. </a:t>
            </a:r>
          </a:p>
          <a:p>
            <a:pPr marL="190500" indent="-190500" algn="just">
              <a:spcBef>
                <a:spcPts val="500"/>
              </a:spcBef>
              <a:buClr>
                <a:srgbClr val="003399"/>
              </a:buClr>
              <a:buSzPct val="60000"/>
              <a:buFontTx/>
              <a:buChar char="•"/>
            </a:pPr>
            <a:r>
              <a:rPr lang="en-US" altLang="ru-RU"/>
              <a:t>As of end of June 2007 we had a total of 150 outlets</a:t>
            </a:r>
          </a:p>
          <a:p>
            <a:pPr marL="190500" indent="-190500" algn="just">
              <a:spcBef>
                <a:spcPts val="500"/>
              </a:spcBef>
              <a:buClr>
                <a:srgbClr val="003399"/>
              </a:buClr>
              <a:buSzPct val="60000"/>
              <a:buFontTx/>
              <a:buChar char="•"/>
            </a:pPr>
            <a:r>
              <a:rPr lang="en-US" altLang="ru-RU"/>
              <a:t>This network enables us to operate during business hours in all time zones of the Russian Federation.</a:t>
            </a:r>
          </a:p>
          <a:p>
            <a:pPr marL="190500" indent="-190500" algn="just">
              <a:spcBef>
                <a:spcPts val="500"/>
              </a:spcBef>
              <a:buClr>
                <a:srgbClr val="003399"/>
              </a:buClr>
              <a:buSzPct val="60000"/>
              <a:buFontTx/>
              <a:buChar char="•"/>
            </a:pPr>
            <a:r>
              <a:rPr lang="en-GB" altLang="ru-RU"/>
              <a:t>As part of our strategy of strengthening our position as a full scale universal bank, we intend to further grow our regional network and increase our presence across Russian regions.</a:t>
            </a:r>
          </a:p>
          <a:p>
            <a:pPr marL="563563" lvl="1" indent="-179388" algn="just">
              <a:spcBef>
                <a:spcPts val="500"/>
              </a:spcBef>
              <a:buClr>
                <a:srgbClr val="003399"/>
              </a:buClr>
              <a:buSzPct val="60000"/>
              <a:buFont typeface="Arial" charset="0"/>
              <a:buChar char="–"/>
            </a:pPr>
            <a:r>
              <a:rPr lang="en-GB" altLang="ja-JP"/>
              <a:t>We plan to have </a:t>
            </a:r>
            <a:r>
              <a:rPr lang="en-GB" altLang="ja-JP">
                <a:solidFill>
                  <a:srgbClr val="FF0000"/>
                </a:solidFill>
              </a:rPr>
              <a:t>[XX]</a:t>
            </a:r>
            <a:r>
              <a:rPr lang="en-GB" altLang="ja-JP"/>
              <a:t> offices and branches by the end of this year, compared to </a:t>
            </a:r>
            <a:r>
              <a:rPr lang="en-GB" altLang="ja-JP">
                <a:solidFill>
                  <a:srgbClr val="FF0000"/>
                </a:solidFill>
              </a:rPr>
              <a:t>[XX]</a:t>
            </a:r>
            <a:r>
              <a:rPr lang="en-GB" altLang="ja-JP"/>
              <a:t> we have now.  </a:t>
            </a:r>
          </a:p>
          <a:p>
            <a:pPr marL="190500" indent="-190500" algn="just">
              <a:spcBef>
                <a:spcPts val="500"/>
              </a:spcBef>
              <a:buClr>
                <a:srgbClr val="003399"/>
              </a:buClr>
              <a:buSzPct val="60000"/>
              <a:buFontTx/>
              <a:buChar char="•"/>
            </a:pPr>
            <a:r>
              <a:rPr lang="en-US" altLang="ru-RU"/>
              <a:t>In addition to our domestic presence, we have foreign representative offices in Cyprus, China, India and Ukraine and a network of corresponding banking relations, which allows us to maintain a leading position in clearing services. </a:t>
            </a:r>
            <a:endParaRPr lang="en-GB" altLang="ru-RU"/>
          </a:p>
        </p:txBody>
      </p:sp>
    </p:spTree>
    <p:extLst>
      <p:ext uri="{BB962C8B-B14F-4D97-AF65-F5344CB8AC3E}">
        <p14:creationId xmlns:p14="http://schemas.microsoft.com/office/powerpoint/2010/main" val="12896175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txBox="1">
            <a:spLocks noGrp="1" noChangeArrowheads="1"/>
          </p:cNvSpPr>
          <p:nvPr/>
        </p:nvSpPr>
        <p:spPr bwMode="auto">
          <a:xfrm>
            <a:off x="3849688" y="9378406"/>
            <a:ext cx="2946400" cy="494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fld id="{653590E2-8120-40D0-A91C-FB28B012C90B}" type="slidenum">
              <a:rPr lang="ru-RU" altLang="ru-RU" sz="1200"/>
              <a:pPr algn="r" eaLnBrk="1" hangingPunct="1"/>
              <a:t>14</a:t>
            </a:fld>
            <a:endParaRPr lang="ru-RU" altLang="ru-RU" sz="1200"/>
          </a:p>
        </p:txBody>
      </p:sp>
      <p:sp>
        <p:nvSpPr>
          <p:cNvPr id="23555" name="Rectangle 2"/>
          <p:cNvSpPr>
            <a:spLocks noGrp="1" noRot="1" noChangeAspect="1" noChangeArrowheads="1" noTextEdit="1"/>
          </p:cNvSpPr>
          <p:nvPr>
            <p:ph type="sldImg"/>
          </p:nvPr>
        </p:nvSpPr>
        <p:spPr>
          <a:xfrm>
            <a:off x="393700" y="414338"/>
            <a:ext cx="6043613" cy="4184650"/>
          </a:xfrm>
          <a:ln/>
        </p:spPr>
      </p:sp>
      <p:sp>
        <p:nvSpPr>
          <p:cNvPr id="23556" name="Rectangle 3"/>
          <p:cNvSpPr>
            <a:spLocks noGrp="1" noChangeArrowheads="1"/>
          </p:cNvSpPr>
          <p:nvPr>
            <p:ph type="body" idx="1"/>
          </p:nvPr>
        </p:nvSpPr>
        <p:spPr bwMode="gray">
          <a:xfrm>
            <a:off x="619125" y="4688414"/>
            <a:ext cx="5661025" cy="44420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15" tIns="44910" rIns="89815" bIns="44910"/>
          <a:lstStyle/>
          <a:p>
            <a:pPr marL="190500" indent="-190500" algn="just">
              <a:spcBef>
                <a:spcPts val="500"/>
              </a:spcBef>
              <a:buClr>
                <a:srgbClr val="003399"/>
              </a:buClr>
              <a:buSzPct val="60000"/>
              <a:buFontTx/>
              <a:buChar char="•"/>
            </a:pPr>
            <a:r>
              <a:rPr lang="en-GB" altLang="ru-RU"/>
              <a:t>Since its foundation, PSB has developed a network of 43 offices in Moscow and Moscow region </a:t>
            </a:r>
            <a:r>
              <a:rPr lang="en-US" altLang="ru-RU"/>
              <a:t>(which is geographically our most important market) and has offices in almost all major Russian major cities mainly in the European part of the country, but also in the Far East and Siberia. </a:t>
            </a:r>
          </a:p>
          <a:p>
            <a:pPr marL="190500" indent="-190500" algn="just">
              <a:spcBef>
                <a:spcPts val="500"/>
              </a:spcBef>
              <a:buClr>
                <a:srgbClr val="003399"/>
              </a:buClr>
              <a:buSzPct val="60000"/>
              <a:buFontTx/>
              <a:buChar char="•"/>
            </a:pPr>
            <a:r>
              <a:rPr lang="en-US" altLang="ru-RU"/>
              <a:t>As of end of June 2007 we had a total of 150 outlets</a:t>
            </a:r>
          </a:p>
          <a:p>
            <a:pPr marL="190500" indent="-190500" algn="just">
              <a:spcBef>
                <a:spcPts val="500"/>
              </a:spcBef>
              <a:buClr>
                <a:srgbClr val="003399"/>
              </a:buClr>
              <a:buSzPct val="60000"/>
              <a:buFontTx/>
              <a:buChar char="•"/>
            </a:pPr>
            <a:r>
              <a:rPr lang="en-US" altLang="ru-RU"/>
              <a:t>This network enables us to operate during business hours in all time zones of the Russian Federation.</a:t>
            </a:r>
          </a:p>
          <a:p>
            <a:pPr marL="190500" indent="-190500" algn="just">
              <a:spcBef>
                <a:spcPts val="500"/>
              </a:spcBef>
              <a:buClr>
                <a:srgbClr val="003399"/>
              </a:buClr>
              <a:buSzPct val="60000"/>
              <a:buFontTx/>
              <a:buChar char="•"/>
            </a:pPr>
            <a:r>
              <a:rPr lang="en-GB" altLang="ru-RU"/>
              <a:t>As part of our strategy of strengthening our position as a full scale universal bank, we intend to further grow our regional network and increase our presence across Russian regions.</a:t>
            </a:r>
          </a:p>
          <a:p>
            <a:pPr marL="563563" lvl="1" indent="-179388" algn="just">
              <a:spcBef>
                <a:spcPts val="500"/>
              </a:spcBef>
              <a:buClr>
                <a:srgbClr val="003399"/>
              </a:buClr>
              <a:buSzPct val="60000"/>
              <a:buFont typeface="Arial" charset="0"/>
              <a:buChar char="–"/>
            </a:pPr>
            <a:r>
              <a:rPr lang="en-GB" altLang="ja-JP"/>
              <a:t>We plan to have </a:t>
            </a:r>
            <a:r>
              <a:rPr lang="en-GB" altLang="ja-JP">
                <a:solidFill>
                  <a:srgbClr val="FF0000"/>
                </a:solidFill>
              </a:rPr>
              <a:t>[XX]</a:t>
            </a:r>
            <a:r>
              <a:rPr lang="en-GB" altLang="ja-JP"/>
              <a:t> offices and branches by the end of this year, compared to </a:t>
            </a:r>
            <a:r>
              <a:rPr lang="en-GB" altLang="ja-JP">
                <a:solidFill>
                  <a:srgbClr val="FF0000"/>
                </a:solidFill>
              </a:rPr>
              <a:t>[XX]</a:t>
            </a:r>
            <a:r>
              <a:rPr lang="en-GB" altLang="ja-JP"/>
              <a:t> we have now.  </a:t>
            </a:r>
          </a:p>
          <a:p>
            <a:pPr marL="190500" indent="-190500" algn="just">
              <a:spcBef>
                <a:spcPts val="500"/>
              </a:spcBef>
              <a:buClr>
                <a:srgbClr val="003399"/>
              </a:buClr>
              <a:buSzPct val="60000"/>
              <a:buFontTx/>
              <a:buChar char="•"/>
            </a:pPr>
            <a:r>
              <a:rPr lang="en-US" altLang="ru-RU"/>
              <a:t>In addition to our domestic presence, we have foreign representative offices in Cyprus, China, India and Ukraine and a network of corresponding banking relations, which allows us to maintain a leading position in clearing services. </a:t>
            </a:r>
            <a:endParaRPr lang="en-GB" altLang="ru-RU"/>
          </a:p>
        </p:txBody>
      </p:sp>
    </p:spTree>
    <p:extLst>
      <p:ext uri="{BB962C8B-B14F-4D97-AF65-F5344CB8AC3E}">
        <p14:creationId xmlns:p14="http://schemas.microsoft.com/office/powerpoint/2010/main" val="12413368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txBox="1">
            <a:spLocks noGrp="1" noChangeArrowheads="1"/>
          </p:cNvSpPr>
          <p:nvPr/>
        </p:nvSpPr>
        <p:spPr bwMode="auto">
          <a:xfrm>
            <a:off x="3849688" y="9378406"/>
            <a:ext cx="2946400" cy="494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fld id="{653590E2-8120-40D0-A91C-FB28B012C90B}" type="slidenum">
              <a:rPr lang="ru-RU" altLang="ru-RU" sz="1200"/>
              <a:pPr algn="r" eaLnBrk="1" hangingPunct="1"/>
              <a:t>16</a:t>
            </a:fld>
            <a:endParaRPr lang="ru-RU" altLang="ru-RU" sz="1200"/>
          </a:p>
        </p:txBody>
      </p:sp>
      <p:sp>
        <p:nvSpPr>
          <p:cNvPr id="23555" name="Rectangle 2"/>
          <p:cNvSpPr>
            <a:spLocks noGrp="1" noRot="1" noChangeAspect="1" noChangeArrowheads="1" noTextEdit="1"/>
          </p:cNvSpPr>
          <p:nvPr>
            <p:ph type="sldImg"/>
          </p:nvPr>
        </p:nvSpPr>
        <p:spPr>
          <a:xfrm>
            <a:off x="393700" y="414338"/>
            <a:ext cx="6043613" cy="4184650"/>
          </a:xfrm>
          <a:ln/>
        </p:spPr>
      </p:sp>
      <p:sp>
        <p:nvSpPr>
          <p:cNvPr id="23556" name="Rectangle 3"/>
          <p:cNvSpPr>
            <a:spLocks noGrp="1" noChangeArrowheads="1"/>
          </p:cNvSpPr>
          <p:nvPr>
            <p:ph type="body" idx="1"/>
          </p:nvPr>
        </p:nvSpPr>
        <p:spPr bwMode="gray">
          <a:xfrm>
            <a:off x="619125" y="4688414"/>
            <a:ext cx="5661025" cy="44420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15" tIns="44910" rIns="89815" bIns="44910"/>
          <a:lstStyle/>
          <a:p>
            <a:pPr marL="190500" indent="-190500" algn="just">
              <a:spcBef>
                <a:spcPts val="500"/>
              </a:spcBef>
              <a:buClr>
                <a:srgbClr val="003399"/>
              </a:buClr>
              <a:buSzPct val="60000"/>
              <a:buFontTx/>
              <a:buChar char="•"/>
            </a:pPr>
            <a:r>
              <a:rPr lang="en-GB" altLang="ru-RU"/>
              <a:t>Since its foundation, PSB has developed a network of 43 offices in Moscow and Moscow region </a:t>
            </a:r>
            <a:r>
              <a:rPr lang="en-US" altLang="ru-RU"/>
              <a:t>(which is geographically our most important market) and has offices in almost all major Russian major cities mainly in the European part of the country, but also in the Far East and Siberia. </a:t>
            </a:r>
          </a:p>
          <a:p>
            <a:pPr marL="190500" indent="-190500" algn="just">
              <a:spcBef>
                <a:spcPts val="500"/>
              </a:spcBef>
              <a:buClr>
                <a:srgbClr val="003399"/>
              </a:buClr>
              <a:buSzPct val="60000"/>
              <a:buFontTx/>
              <a:buChar char="•"/>
            </a:pPr>
            <a:r>
              <a:rPr lang="en-US" altLang="ru-RU"/>
              <a:t>As of end of June 2007 we had a total of 150 outlets</a:t>
            </a:r>
          </a:p>
          <a:p>
            <a:pPr marL="190500" indent="-190500" algn="just">
              <a:spcBef>
                <a:spcPts val="500"/>
              </a:spcBef>
              <a:buClr>
                <a:srgbClr val="003399"/>
              </a:buClr>
              <a:buSzPct val="60000"/>
              <a:buFontTx/>
              <a:buChar char="•"/>
            </a:pPr>
            <a:r>
              <a:rPr lang="en-US" altLang="ru-RU"/>
              <a:t>This network enables us to operate during business hours in all time zones of the Russian Federation.</a:t>
            </a:r>
          </a:p>
          <a:p>
            <a:pPr marL="190500" indent="-190500" algn="just">
              <a:spcBef>
                <a:spcPts val="500"/>
              </a:spcBef>
              <a:buClr>
                <a:srgbClr val="003399"/>
              </a:buClr>
              <a:buSzPct val="60000"/>
              <a:buFontTx/>
              <a:buChar char="•"/>
            </a:pPr>
            <a:r>
              <a:rPr lang="en-GB" altLang="ru-RU"/>
              <a:t>As part of our strategy of strengthening our position as a full scale universal bank, we intend to further grow our regional network and increase our presence across Russian regions.</a:t>
            </a:r>
          </a:p>
          <a:p>
            <a:pPr marL="563563" lvl="1" indent="-179388" algn="just">
              <a:spcBef>
                <a:spcPts val="500"/>
              </a:spcBef>
              <a:buClr>
                <a:srgbClr val="003399"/>
              </a:buClr>
              <a:buSzPct val="60000"/>
              <a:buFont typeface="Arial" charset="0"/>
              <a:buChar char="–"/>
            </a:pPr>
            <a:r>
              <a:rPr lang="en-GB" altLang="ja-JP"/>
              <a:t>We plan to have </a:t>
            </a:r>
            <a:r>
              <a:rPr lang="en-GB" altLang="ja-JP">
                <a:solidFill>
                  <a:srgbClr val="FF0000"/>
                </a:solidFill>
              </a:rPr>
              <a:t>[XX]</a:t>
            </a:r>
            <a:r>
              <a:rPr lang="en-GB" altLang="ja-JP"/>
              <a:t> offices and branches by the end of this year, compared to </a:t>
            </a:r>
            <a:r>
              <a:rPr lang="en-GB" altLang="ja-JP">
                <a:solidFill>
                  <a:srgbClr val="FF0000"/>
                </a:solidFill>
              </a:rPr>
              <a:t>[XX]</a:t>
            </a:r>
            <a:r>
              <a:rPr lang="en-GB" altLang="ja-JP"/>
              <a:t> we have now.  </a:t>
            </a:r>
          </a:p>
          <a:p>
            <a:pPr marL="190500" indent="-190500" algn="just">
              <a:spcBef>
                <a:spcPts val="500"/>
              </a:spcBef>
              <a:buClr>
                <a:srgbClr val="003399"/>
              </a:buClr>
              <a:buSzPct val="60000"/>
              <a:buFontTx/>
              <a:buChar char="•"/>
            </a:pPr>
            <a:r>
              <a:rPr lang="en-US" altLang="ru-RU"/>
              <a:t>In addition to our domestic presence, we have foreign representative offices in Cyprus, China, India and Ukraine and a network of corresponding banking relations, which allows us to maintain a leading position in clearing services. </a:t>
            </a:r>
            <a:endParaRPr lang="en-GB" altLang="ru-RU"/>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txBox="1">
            <a:spLocks noGrp="1" noChangeArrowheads="1"/>
          </p:cNvSpPr>
          <p:nvPr/>
        </p:nvSpPr>
        <p:spPr bwMode="auto">
          <a:xfrm>
            <a:off x="3849688" y="9378406"/>
            <a:ext cx="2946400" cy="494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fld id="{653590E2-8120-40D0-A91C-FB28B012C90B}" type="slidenum">
              <a:rPr lang="ru-RU" altLang="ru-RU" sz="1200"/>
              <a:pPr algn="r" eaLnBrk="1" hangingPunct="1"/>
              <a:t>17</a:t>
            </a:fld>
            <a:endParaRPr lang="ru-RU" altLang="ru-RU" sz="1200"/>
          </a:p>
        </p:txBody>
      </p:sp>
      <p:sp>
        <p:nvSpPr>
          <p:cNvPr id="23555" name="Rectangle 2"/>
          <p:cNvSpPr>
            <a:spLocks noGrp="1" noRot="1" noChangeAspect="1" noChangeArrowheads="1" noTextEdit="1"/>
          </p:cNvSpPr>
          <p:nvPr>
            <p:ph type="sldImg"/>
          </p:nvPr>
        </p:nvSpPr>
        <p:spPr>
          <a:xfrm>
            <a:off x="393700" y="414338"/>
            <a:ext cx="6043613" cy="4184650"/>
          </a:xfrm>
          <a:ln/>
        </p:spPr>
      </p:sp>
      <p:sp>
        <p:nvSpPr>
          <p:cNvPr id="23556" name="Rectangle 3"/>
          <p:cNvSpPr>
            <a:spLocks noGrp="1" noChangeArrowheads="1"/>
          </p:cNvSpPr>
          <p:nvPr>
            <p:ph type="body" idx="1"/>
          </p:nvPr>
        </p:nvSpPr>
        <p:spPr bwMode="gray">
          <a:xfrm>
            <a:off x="619125" y="4688414"/>
            <a:ext cx="5661025" cy="444207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15" tIns="44910" rIns="89815" bIns="44910"/>
          <a:lstStyle/>
          <a:p>
            <a:pPr marL="190500" indent="-190500" algn="just">
              <a:spcBef>
                <a:spcPts val="500"/>
              </a:spcBef>
              <a:buClr>
                <a:srgbClr val="003399"/>
              </a:buClr>
              <a:buSzPct val="60000"/>
              <a:buFontTx/>
              <a:buChar char="•"/>
            </a:pPr>
            <a:r>
              <a:rPr lang="en-GB" altLang="ru-RU"/>
              <a:t>Since its foundation, PSB has developed a network of 43 offices in Moscow and Moscow region </a:t>
            </a:r>
            <a:r>
              <a:rPr lang="en-US" altLang="ru-RU"/>
              <a:t>(which is geographically our most important market) and has offices in almost all major Russian major cities mainly in the European part of the country, but also in the Far East and Siberia. </a:t>
            </a:r>
          </a:p>
          <a:p>
            <a:pPr marL="190500" indent="-190500" algn="just">
              <a:spcBef>
                <a:spcPts val="500"/>
              </a:spcBef>
              <a:buClr>
                <a:srgbClr val="003399"/>
              </a:buClr>
              <a:buSzPct val="60000"/>
              <a:buFontTx/>
              <a:buChar char="•"/>
            </a:pPr>
            <a:r>
              <a:rPr lang="en-US" altLang="ru-RU"/>
              <a:t>As of end of June 2007 we had a total of 150 outlets</a:t>
            </a:r>
          </a:p>
          <a:p>
            <a:pPr marL="190500" indent="-190500" algn="just">
              <a:spcBef>
                <a:spcPts val="500"/>
              </a:spcBef>
              <a:buClr>
                <a:srgbClr val="003399"/>
              </a:buClr>
              <a:buSzPct val="60000"/>
              <a:buFontTx/>
              <a:buChar char="•"/>
            </a:pPr>
            <a:r>
              <a:rPr lang="en-US" altLang="ru-RU"/>
              <a:t>This network enables us to operate during business hours in all time zones of the Russian Federation.</a:t>
            </a:r>
          </a:p>
          <a:p>
            <a:pPr marL="190500" indent="-190500" algn="just">
              <a:spcBef>
                <a:spcPts val="500"/>
              </a:spcBef>
              <a:buClr>
                <a:srgbClr val="003399"/>
              </a:buClr>
              <a:buSzPct val="60000"/>
              <a:buFontTx/>
              <a:buChar char="•"/>
            </a:pPr>
            <a:r>
              <a:rPr lang="en-GB" altLang="ru-RU"/>
              <a:t>As part of our strategy of strengthening our position as a full scale universal bank, we intend to further grow our regional network and increase our presence across Russian regions.</a:t>
            </a:r>
          </a:p>
          <a:p>
            <a:pPr marL="563563" lvl="1" indent="-179388" algn="just">
              <a:spcBef>
                <a:spcPts val="500"/>
              </a:spcBef>
              <a:buClr>
                <a:srgbClr val="003399"/>
              </a:buClr>
              <a:buSzPct val="60000"/>
              <a:buFont typeface="Arial" charset="0"/>
              <a:buChar char="–"/>
            </a:pPr>
            <a:r>
              <a:rPr lang="en-GB" altLang="ja-JP"/>
              <a:t>We plan to have </a:t>
            </a:r>
            <a:r>
              <a:rPr lang="en-GB" altLang="ja-JP">
                <a:solidFill>
                  <a:srgbClr val="FF0000"/>
                </a:solidFill>
              </a:rPr>
              <a:t>[XX]</a:t>
            </a:r>
            <a:r>
              <a:rPr lang="en-GB" altLang="ja-JP"/>
              <a:t> offices and branches by the end of this year, compared to </a:t>
            </a:r>
            <a:r>
              <a:rPr lang="en-GB" altLang="ja-JP">
                <a:solidFill>
                  <a:srgbClr val="FF0000"/>
                </a:solidFill>
              </a:rPr>
              <a:t>[XX]</a:t>
            </a:r>
            <a:r>
              <a:rPr lang="en-GB" altLang="ja-JP"/>
              <a:t> we have now.  </a:t>
            </a:r>
          </a:p>
          <a:p>
            <a:pPr marL="190500" indent="-190500" algn="just">
              <a:spcBef>
                <a:spcPts val="500"/>
              </a:spcBef>
              <a:buClr>
                <a:srgbClr val="003399"/>
              </a:buClr>
              <a:buSzPct val="60000"/>
              <a:buFontTx/>
              <a:buChar char="•"/>
            </a:pPr>
            <a:r>
              <a:rPr lang="en-US" altLang="ru-RU"/>
              <a:t>In addition to our domestic presence, we have foreign representative offices in Cyprus, China, India and Ukraine and a network of corresponding banking relations, which allows us to maintain a leading position in clearing services. </a:t>
            </a:r>
            <a:endParaRPr lang="en-GB" altLang="ru-RU"/>
          </a:p>
        </p:txBody>
      </p:sp>
    </p:spTree>
    <p:extLst>
      <p:ext uri="{BB962C8B-B14F-4D97-AF65-F5344CB8AC3E}">
        <p14:creationId xmlns:p14="http://schemas.microsoft.com/office/powerpoint/2010/main" val="15281520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742950" y="2130425"/>
            <a:ext cx="8420100" cy="1470025"/>
          </a:xfrm>
        </p:spPr>
        <p:txBody>
          <a:bodyPr/>
          <a:lstStyle/>
          <a:p>
            <a:r>
              <a:rPr lang="ru-RU"/>
              <a:t>Образец заголовка</a:t>
            </a:r>
          </a:p>
        </p:txBody>
      </p:sp>
      <p:sp>
        <p:nvSpPr>
          <p:cNvPr id="3" name="Подзаголовок 2"/>
          <p:cNvSpPr>
            <a:spLocks noGrp="1"/>
          </p:cNvSpPr>
          <p:nvPr>
            <p:ph type="subTitle" idx="1"/>
          </p:nvPr>
        </p:nvSpPr>
        <p:spPr>
          <a:xfrm>
            <a:off x="1485900" y="3886200"/>
            <a:ext cx="69342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ru-RU"/>
              <a:t>Образец подзаголовка</a:t>
            </a:r>
          </a:p>
        </p:txBody>
      </p:sp>
    </p:spTree>
    <p:extLst>
      <p:ext uri="{BB962C8B-B14F-4D97-AF65-F5344CB8AC3E}">
        <p14:creationId xmlns:p14="http://schemas.microsoft.com/office/powerpoint/2010/main" val="41835852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Tree>
    <p:extLst>
      <p:ext uri="{BB962C8B-B14F-4D97-AF65-F5344CB8AC3E}">
        <p14:creationId xmlns:p14="http://schemas.microsoft.com/office/powerpoint/2010/main" val="1011002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82638" y="4406900"/>
            <a:ext cx="84201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ru-RU"/>
              <a:t>Образец текста</a:t>
            </a:r>
          </a:p>
        </p:txBody>
      </p:sp>
    </p:spTree>
    <p:extLst>
      <p:ext uri="{BB962C8B-B14F-4D97-AF65-F5344CB8AC3E}">
        <p14:creationId xmlns:p14="http://schemas.microsoft.com/office/powerpoint/2010/main" val="42817528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sz="half" idx="1"/>
          </p:nvPr>
        </p:nvSpPr>
        <p:spPr>
          <a:xfrm>
            <a:off x="495300" y="6238875"/>
            <a:ext cx="4381500" cy="358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Содержимое 3"/>
          <p:cNvSpPr>
            <a:spLocks noGrp="1"/>
          </p:cNvSpPr>
          <p:nvPr>
            <p:ph sz="half" idx="2"/>
          </p:nvPr>
        </p:nvSpPr>
        <p:spPr>
          <a:xfrm>
            <a:off x="5029200" y="6238875"/>
            <a:ext cx="4381500" cy="3587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Tree>
    <p:extLst>
      <p:ext uri="{BB962C8B-B14F-4D97-AF65-F5344CB8AC3E}">
        <p14:creationId xmlns:p14="http://schemas.microsoft.com/office/powerpoint/2010/main" val="2282021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95300" y="274638"/>
            <a:ext cx="8915400" cy="1143000"/>
          </a:xfrm>
        </p:spPr>
        <p:txBody>
          <a:bodyPr/>
          <a:lstStyle>
            <a:lvl1pPr>
              <a:defRPr/>
            </a:lvl1pPr>
          </a:lstStyle>
          <a:p>
            <a:r>
              <a:rPr lang="ru-RU"/>
              <a:t>Образец заголовка</a:t>
            </a:r>
          </a:p>
        </p:txBody>
      </p:sp>
      <p:sp>
        <p:nvSpPr>
          <p:cNvPr id="3" name="Текст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Содержимое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Содержимое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Tree>
    <p:extLst>
      <p:ext uri="{BB962C8B-B14F-4D97-AF65-F5344CB8AC3E}">
        <p14:creationId xmlns:p14="http://schemas.microsoft.com/office/powerpoint/2010/main" val="33906124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Tree>
    <p:extLst>
      <p:ext uri="{BB962C8B-B14F-4D97-AF65-F5344CB8AC3E}">
        <p14:creationId xmlns:p14="http://schemas.microsoft.com/office/powerpoint/2010/main" val="3630007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24559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95300" y="273050"/>
            <a:ext cx="3259138" cy="1162050"/>
          </a:xfrm>
        </p:spPr>
        <p:txBody>
          <a:bodyPr anchor="b"/>
          <a:lstStyle>
            <a:lvl1pPr algn="l">
              <a:defRPr sz="2000" b="1"/>
            </a:lvl1pPr>
          </a:lstStyle>
          <a:p>
            <a:r>
              <a:rPr lang="ru-RU"/>
              <a:t>Образец заголовка</a:t>
            </a:r>
          </a:p>
        </p:txBody>
      </p:sp>
      <p:sp>
        <p:nvSpPr>
          <p:cNvPr id="3" name="Содержимое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Tree>
    <p:extLst>
      <p:ext uri="{BB962C8B-B14F-4D97-AF65-F5344CB8AC3E}">
        <p14:creationId xmlns:p14="http://schemas.microsoft.com/office/powerpoint/2010/main" val="37213167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941513" y="4800600"/>
            <a:ext cx="5943600" cy="566738"/>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ru-RU" noProof="0"/>
          </a:p>
        </p:txBody>
      </p:sp>
      <p:sp>
        <p:nvSpPr>
          <p:cNvPr id="4" name="Текст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Tree>
    <p:extLst>
      <p:ext uri="{BB962C8B-B14F-4D97-AF65-F5344CB8AC3E}">
        <p14:creationId xmlns:p14="http://schemas.microsoft.com/office/powerpoint/2010/main" val="3510380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Tree>
    <p:extLst>
      <p:ext uri="{BB962C8B-B14F-4D97-AF65-F5344CB8AC3E}">
        <p14:creationId xmlns:p14="http://schemas.microsoft.com/office/powerpoint/2010/main" val="2881714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7181850" y="2708275"/>
            <a:ext cx="2228850" cy="3889375"/>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495300" y="2708275"/>
            <a:ext cx="6534150" cy="388937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Tree>
    <p:extLst>
      <p:ext uri="{BB962C8B-B14F-4D97-AF65-F5344CB8AC3E}">
        <p14:creationId xmlns:p14="http://schemas.microsoft.com/office/powerpoint/2010/main" val="25750968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reserve="1">
  <p:cSld name="Заголовок, схема или организационная диаграмм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8000" y="2708275"/>
            <a:ext cx="8836025" cy="2160588"/>
          </a:xfrm>
        </p:spPr>
        <p:txBody>
          <a:bodyPr/>
          <a:lstStyle/>
          <a:p>
            <a:r>
              <a:rPr lang="ru-RU"/>
              <a:t>Образец заголовка</a:t>
            </a:r>
          </a:p>
        </p:txBody>
      </p:sp>
      <p:sp>
        <p:nvSpPr>
          <p:cNvPr id="3" name="Рисунок SmartArt 2"/>
          <p:cNvSpPr>
            <a:spLocks noGrp="1"/>
          </p:cNvSpPr>
          <p:nvPr>
            <p:ph type="dgm" idx="1"/>
          </p:nvPr>
        </p:nvSpPr>
        <p:spPr>
          <a:xfrm>
            <a:off x="495300" y="6238875"/>
            <a:ext cx="8915400" cy="358775"/>
          </a:xfrm>
        </p:spPr>
        <p:txBody>
          <a:bodyPr/>
          <a:lstStyle/>
          <a:p>
            <a:pPr lvl="0"/>
            <a:endParaRPr lang="ru-RU" noProof="0"/>
          </a:p>
        </p:txBody>
      </p:sp>
    </p:spTree>
    <p:extLst>
      <p:ext uri="{BB962C8B-B14F-4D97-AF65-F5344CB8AC3E}">
        <p14:creationId xmlns:p14="http://schemas.microsoft.com/office/powerpoint/2010/main" val="3363728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742950" y="2130425"/>
            <a:ext cx="8420100" cy="1470025"/>
          </a:xfrm>
        </p:spPr>
        <p:txBody>
          <a:bodyPr/>
          <a:lstStyle/>
          <a:p>
            <a:r>
              <a:rPr lang="ru-RU"/>
              <a:t>Образец заголовка</a:t>
            </a:r>
          </a:p>
        </p:txBody>
      </p:sp>
      <p:sp>
        <p:nvSpPr>
          <p:cNvPr id="3" name="Подзаголовок 2"/>
          <p:cNvSpPr>
            <a:spLocks noGrp="1"/>
          </p:cNvSpPr>
          <p:nvPr>
            <p:ph type="subTitle" idx="1"/>
          </p:nvPr>
        </p:nvSpPr>
        <p:spPr>
          <a:xfrm>
            <a:off x="1485900" y="3886200"/>
            <a:ext cx="69342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ru-RU"/>
              <a:t>Образец подзаголовка</a:t>
            </a:r>
          </a:p>
        </p:txBody>
      </p:sp>
      <p:sp>
        <p:nvSpPr>
          <p:cNvPr id="4" name="Rectangle 6"/>
          <p:cNvSpPr>
            <a:spLocks noGrp="1" noChangeArrowheads="1"/>
          </p:cNvSpPr>
          <p:nvPr>
            <p:ph type="sldNum" sz="quarter" idx="10"/>
          </p:nvPr>
        </p:nvSpPr>
        <p:spPr>
          <a:ln/>
        </p:spPr>
        <p:txBody>
          <a:bodyPr/>
          <a:lstStyle>
            <a:lvl1pPr>
              <a:defRPr/>
            </a:lvl1pPr>
          </a:lstStyle>
          <a:p>
            <a:pPr>
              <a:defRPr/>
            </a:pPr>
            <a:r>
              <a:rPr lang="ru-RU"/>
              <a:t>Слайд </a:t>
            </a:r>
            <a:fld id="{5129F8BE-4E8B-42E3-B351-36ED8F85CF74}" type="slidenum">
              <a:rPr lang="ru-RU"/>
              <a:pPr>
                <a:defRPr/>
              </a:pPr>
              <a:t>‹#›</a:t>
            </a:fld>
            <a:endParaRPr lang="ru-RU"/>
          </a:p>
        </p:txBody>
      </p:sp>
    </p:spTree>
    <p:extLst>
      <p:ext uri="{BB962C8B-B14F-4D97-AF65-F5344CB8AC3E}">
        <p14:creationId xmlns:p14="http://schemas.microsoft.com/office/powerpoint/2010/main" val="40287767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6"/>
          <p:cNvSpPr>
            <a:spLocks noGrp="1" noChangeArrowheads="1"/>
          </p:cNvSpPr>
          <p:nvPr>
            <p:ph type="sldNum" sz="quarter" idx="10"/>
          </p:nvPr>
        </p:nvSpPr>
        <p:spPr>
          <a:ln/>
        </p:spPr>
        <p:txBody>
          <a:bodyPr/>
          <a:lstStyle>
            <a:lvl1pPr>
              <a:defRPr/>
            </a:lvl1pPr>
          </a:lstStyle>
          <a:p>
            <a:pPr>
              <a:defRPr/>
            </a:pPr>
            <a:r>
              <a:rPr lang="ru-RU"/>
              <a:t>Слайд </a:t>
            </a:r>
            <a:fld id="{2BCD04C3-96C2-43EE-BCA1-D4DF9E0BDC91}" type="slidenum">
              <a:rPr lang="ru-RU"/>
              <a:pPr>
                <a:defRPr/>
              </a:pPr>
              <a:t>‹#›</a:t>
            </a:fld>
            <a:endParaRPr lang="ru-RU"/>
          </a:p>
        </p:txBody>
      </p:sp>
    </p:spTree>
    <p:extLst>
      <p:ext uri="{BB962C8B-B14F-4D97-AF65-F5344CB8AC3E}">
        <p14:creationId xmlns:p14="http://schemas.microsoft.com/office/powerpoint/2010/main" val="14742315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82638" y="4406900"/>
            <a:ext cx="84201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ru-RU"/>
              <a:t>Образец текста</a:t>
            </a:r>
          </a:p>
        </p:txBody>
      </p:sp>
      <p:sp>
        <p:nvSpPr>
          <p:cNvPr id="4" name="Rectangle 6"/>
          <p:cNvSpPr>
            <a:spLocks noGrp="1" noChangeArrowheads="1"/>
          </p:cNvSpPr>
          <p:nvPr>
            <p:ph type="sldNum" sz="quarter" idx="10"/>
          </p:nvPr>
        </p:nvSpPr>
        <p:spPr>
          <a:ln/>
        </p:spPr>
        <p:txBody>
          <a:bodyPr/>
          <a:lstStyle>
            <a:lvl1pPr>
              <a:defRPr/>
            </a:lvl1pPr>
          </a:lstStyle>
          <a:p>
            <a:pPr>
              <a:defRPr/>
            </a:pPr>
            <a:r>
              <a:rPr lang="ru-RU"/>
              <a:t>Слайд </a:t>
            </a:r>
            <a:fld id="{14B93598-CA68-423E-9172-991CC6388D3B}" type="slidenum">
              <a:rPr lang="ru-RU"/>
              <a:pPr>
                <a:defRPr/>
              </a:pPr>
              <a:t>‹#›</a:t>
            </a:fld>
            <a:endParaRPr lang="ru-RU"/>
          </a:p>
        </p:txBody>
      </p:sp>
    </p:spTree>
    <p:extLst>
      <p:ext uri="{BB962C8B-B14F-4D97-AF65-F5344CB8AC3E}">
        <p14:creationId xmlns:p14="http://schemas.microsoft.com/office/powerpoint/2010/main" val="12845692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sz="half" idx="1"/>
          </p:nvPr>
        </p:nvSpPr>
        <p:spPr>
          <a:xfrm>
            <a:off x="495300" y="1125538"/>
            <a:ext cx="4381500" cy="50006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Содержимое 3"/>
          <p:cNvSpPr>
            <a:spLocks noGrp="1"/>
          </p:cNvSpPr>
          <p:nvPr>
            <p:ph sz="half" idx="2"/>
          </p:nvPr>
        </p:nvSpPr>
        <p:spPr>
          <a:xfrm>
            <a:off x="5029200" y="1125538"/>
            <a:ext cx="4381500" cy="50006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Rectangle 6"/>
          <p:cNvSpPr>
            <a:spLocks noGrp="1" noChangeArrowheads="1"/>
          </p:cNvSpPr>
          <p:nvPr>
            <p:ph type="sldNum" sz="quarter" idx="10"/>
          </p:nvPr>
        </p:nvSpPr>
        <p:spPr>
          <a:ln/>
        </p:spPr>
        <p:txBody>
          <a:bodyPr/>
          <a:lstStyle>
            <a:lvl1pPr>
              <a:defRPr/>
            </a:lvl1pPr>
          </a:lstStyle>
          <a:p>
            <a:pPr>
              <a:defRPr/>
            </a:pPr>
            <a:r>
              <a:rPr lang="ru-RU"/>
              <a:t>Слайд </a:t>
            </a:r>
            <a:fld id="{79E211C8-AA0B-4A82-9714-560AC98B840D}" type="slidenum">
              <a:rPr lang="ru-RU"/>
              <a:pPr>
                <a:defRPr/>
              </a:pPr>
              <a:t>‹#›</a:t>
            </a:fld>
            <a:endParaRPr lang="ru-RU"/>
          </a:p>
        </p:txBody>
      </p:sp>
    </p:spTree>
    <p:extLst>
      <p:ext uri="{BB962C8B-B14F-4D97-AF65-F5344CB8AC3E}">
        <p14:creationId xmlns:p14="http://schemas.microsoft.com/office/powerpoint/2010/main" val="21387576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95300" y="274638"/>
            <a:ext cx="8915400" cy="1143000"/>
          </a:xfrm>
        </p:spPr>
        <p:txBody>
          <a:bodyPr/>
          <a:lstStyle>
            <a:lvl1pPr>
              <a:defRPr/>
            </a:lvl1pPr>
          </a:lstStyle>
          <a:p>
            <a:r>
              <a:rPr lang="ru-RU"/>
              <a:t>Образец заголовка</a:t>
            </a:r>
          </a:p>
        </p:txBody>
      </p:sp>
      <p:sp>
        <p:nvSpPr>
          <p:cNvPr id="3" name="Текст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Содержимое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Содержимое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Rectangle 6"/>
          <p:cNvSpPr>
            <a:spLocks noGrp="1" noChangeArrowheads="1"/>
          </p:cNvSpPr>
          <p:nvPr>
            <p:ph type="sldNum" sz="quarter" idx="10"/>
          </p:nvPr>
        </p:nvSpPr>
        <p:spPr>
          <a:ln/>
        </p:spPr>
        <p:txBody>
          <a:bodyPr/>
          <a:lstStyle>
            <a:lvl1pPr>
              <a:defRPr/>
            </a:lvl1pPr>
          </a:lstStyle>
          <a:p>
            <a:pPr>
              <a:defRPr/>
            </a:pPr>
            <a:r>
              <a:rPr lang="ru-RU"/>
              <a:t>Слайд </a:t>
            </a:r>
            <a:fld id="{27D497DD-A4B2-4E6F-A62E-E029AF255A7A}" type="slidenum">
              <a:rPr lang="ru-RU"/>
              <a:pPr>
                <a:defRPr/>
              </a:pPr>
              <a:t>‹#›</a:t>
            </a:fld>
            <a:endParaRPr lang="ru-RU"/>
          </a:p>
        </p:txBody>
      </p:sp>
    </p:spTree>
    <p:extLst>
      <p:ext uri="{BB962C8B-B14F-4D97-AF65-F5344CB8AC3E}">
        <p14:creationId xmlns:p14="http://schemas.microsoft.com/office/powerpoint/2010/main" val="21961098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Rectangle 6"/>
          <p:cNvSpPr>
            <a:spLocks noGrp="1" noChangeArrowheads="1"/>
          </p:cNvSpPr>
          <p:nvPr>
            <p:ph type="sldNum" sz="quarter" idx="10"/>
          </p:nvPr>
        </p:nvSpPr>
        <p:spPr>
          <a:ln/>
        </p:spPr>
        <p:txBody>
          <a:bodyPr/>
          <a:lstStyle>
            <a:lvl1pPr>
              <a:defRPr/>
            </a:lvl1pPr>
          </a:lstStyle>
          <a:p>
            <a:pPr>
              <a:defRPr/>
            </a:pPr>
            <a:r>
              <a:rPr lang="ru-RU"/>
              <a:t>Слайд </a:t>
            </a:r>
            <a:fld id="{B254B7F8-7478-46A6-AA7E-1FB659CD732B}" type="slidenum">
              <a:rPr lang="ru-RU"/>
              <a:pPr>
                <a:defRPr/>
              </a:pPr>
              <a:t>‹#›</a:t>
            </a:fld>
            <a:endParaRPr lang="ru-RU"/>
          </a:p>
        </p:txBody>
      </p:sp>
    </p:spTree>
    <p:extLst>
      <p:ext uri="{BB962C8B-B14F-4D97-AF65-F5344CB8AC3E}">
        <p14:creationId xmlns:p14="http://schemas.microsoft.com/office/powerpoint/2010/main" val="7897284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r>
              <a:rPr lang="ru-RU"/>
              <a:t>Слайд </a:t>
            </a:r>
            <a:fld id="{7DCEE9E7-25AF-42DF-86F1-84EFCBA56EFC}" type="slidenum">
              <a:rPr lang="ru-RU"/>
              <a:pPr>
                <a:defRPr/>
              </a:pPr>
              <a:t>‹#›</a:t>
            </a:fld>
            <a:endParaRPr lang="ru-RU"/>
          </a:p>
        </p:txBody>
      </p:sp>
    </p:spTree>
    <p:extLst>
      <p:ext uri="{BB962C8B-B14F-4D97-AF65-F5344CB8AC3E}">
        <p14:creationId xmlns:p14="http://schemas.microsoft.com/office/powerpoint/2010/main" val="38695803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95300" y="273050"/>
            <a:ext cx="3259138" cy="1162050"/>
          </a:xfrm>
        </p:spPr>
        <p:txBody>
          <a:bodyPr anchor="b"/>
          <a:lstStyle>
            <a:lvl1pPr algn="l">
              <a:defRPr sz="2000" b="1"/>
            </a:lvl1pPr>
          </a:lstStyle>
          <a:p>
            <a:r>
              <a:rPr lang="ru-RU"/>
              <a:t>Образец заголовка</a:t>
            </a:r>
          </a:p>
        </p:txBody>
      </p:sp>
      <p:sp>
        <p:nvSpPr>
          <p:cNvPr id="3" name="Содержимое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Rectangle 6"/>
          <p:cNvSpPr>
            <a:spLocks noGrp="1" noChangeArrowheads="1"/>
          </p:cNvSpPr>
          <p:nvPr>
            <p:ph type="sldNum" sz="quarter" idx="10"/>
          </p:nvPr>
        </p:nvSpPr>
        <p:spPr>
          <a:ln/>
        </p:spPr>
        <p:txBody>
          <a:bodyPr/>
          <a:lstStyle>
            <a:lvl1pPr>
              <a:defRPr/>
            </a:lvl1pPr>
          </a:lstStyle>
          <a:p>
            <a:pPr>
              <a:defRPr/>
            </a:pPr>
            <a:r>
              <a:rPr lang="ru-RU"/>
              <a:t>Слайд </a:t>
            </a:r>
            <a:fld id="{BC820D94-7D32-4C15-8440-67F8AB1A026F}" type="slidenum">
              <a:rPr lang="ru-RU"/>
              <a:pPr>
                <a:defRPr/>
              </a:pPr>
              <a:t>‹#›</a:t>
            </a:fld>
            <a:endParaRPr lang="ru-RU"/>
          </a:p>
        </p:txBody>
      </p:sp>
    </p:spTree>
    <p:extLst>
      <p:ext uri="{BB962C8B-B14F-4D97-AF65-F5344CB8AC3E}">
        <p14:creationId xmlns:p14="http://schemas.microsoft.com/office/powerpoint/2010/main" val="9422947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941513" y="4800600"/>
            <a:ext cx="5943600" cy="566738"/>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ru-RU" noProof="0"/>
          </a:p>
        </p:txBody>
      </p:sp>
      <p:sp>
        <p:nvSpPr>
          <p:cNvPr id="4" name="Текст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Rectangle 6"/>
          <p:cNvSpPr>
            <a:spLocks noGrp="1" noChangeArrowheads="1"/>
          </p:cNvSpPr>
          <p:nvPr>
            <p:ph type="sldNum" sz="quarter" idx="10"/>
          </p:nvPr>
        </p:nvSpPr>
        <p:spPr>
          <a:ln/>
        </p:spPr>
        <p:txBody>
          <a:bodyPr/>
          <a:lstStyle>
            <a:lvl1pPr>
              <a:defRPr/>
            </a:lvl1pPr>
          </a:lstStyle>
          <a:p>
            <a:pPr>
              <a:defRPr/>
            </a:pPr>
            <a:r>
              <a:rPr lang="ru-RU"/>
              <a:t>Слайд </a:t>
            </a:r>
            <a:fld id="{72200ABA-DA4C-494C-9C34-F15D719BE5E8}" type="slidenum">
              <a:rPr lang="ru-RU"/>
              <a:pPr>
                <a:defRPr/>
              </a:pPr>
              <a:t>‹#›</a:t>
            </a:fld>
            <a:endParaRPr lang="ru-RU"/>
          </a:p>
        </p:txBody>
      </p:sp>
    </p:spTree>
    <p:extLst>
      <p:ext uri="{BB962C8B-B14F-4D97-AF65-F5344CB8AC3E}">
        <p14:creationId xmlns:p14="http://schemas.microsoft.com/office/powerpoint/2010/main" val="36600118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6"/>
          <p:cNvSpPr>
            <a:spLocks noGrp="1" noChangeArrowheads="1"/>
          </p:cNvSpPr>
          <p:nvPr>
            <p:ph type="sldNum" sz="quarter" idx="10"/>
          </p:nvPr>
        </p:nvSpPr>
        <p:spPr>
          <a:ln/>
        </p:spPr>
        <p:txBody>
          <a:bodyPr/>
          <a:lstStyle>
            <a:lvl1pPr>
              <a:defRPr/>
            </a:lvl1pPr>
          </a:lstStyle>
          <a:p>
            <a:pPr>
              <a:defRPr/>
            </a:pPr>
            <a:r>
              <a:rPr lang="ru-RU"/>
              <a:t>Слайд </a:t>
            </a:r>
            <a:fld id="{4EED46E6-4E81-4797-B0EF-6DD291D0746D}" type="slidenum">
              <a:rPr lang="ru-RU"/>
              <a:pPr>
                <a:defRPr/>
              </a:pPr>
              <a:t>‹#›</a:t>
            </a:fld>
            <a:endParaRPr lang="ru-RU"/>
          </a:p>
        </p:txBody>
      </p:sp>
    </p:spTree>
    <p:extLst>
      <p:ext uri="{BB962C8B-B14F-4D97-AF65-F5344CB8AC3E}">
        <p14:creationId xmlns:p14="http://schemas.microsoft.com/office/powerpoint/2010/main" val="10107414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7162800" y="260350"/>
            <a:ext cx="2247900" cy="5865813"/>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415925" y="260350"/>
            <a:ext cx="6594475" cy="5865813"/>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6"/>
          <p:cNvSpPr>
            <a:spLocks noGrp="1" noChangeArrowheads="1"/>
          </p:cNvSpPr>
          <p:nvPr>
            <p:ph type="sldNum" sz="quarter" idx="10"/>
          </p:nvPr>
        </p:nvSpPr>
        <p:spPr>
          <a:ln/>
        </p:spPr>
        <p:txBody>
          <a:bodyPr/>
          <a:lstStyle>
            <a:lvl1pPr>
              <a:defRPr/>
            </a:lvl1pPr>
          </a:lstStyle>
          <a:p>
            <a:pPr>
              <a:defRPr/>
            </a:pPr>
            <a:r>
              <a:rPr lang="ru-RU"/>
              <a:t>Слайд </a:t>
            </a:r>
            <a:fld id="{6FC359C9-E7C6-4B36-A047-3CF84D00171C}" type="slidenum">
              <a:rPr lang="ru-RU"/>
              <a:pPr>
                <a:defRPr/>
              </a:pPr>
              <a:t>‹#›</a:t>
            </a:fld>
            <a:endParaRPr lang="ru-RU"/>
          </a:p>
        </p:txBody>
      </p:sp>
    </p:spTree>
    <p:extLst>
      <p:ext uri="{BB962C8B-B14F-4D97-AF65-F5344CB8AC3E}">
        <p14:creationId xmlns:p14="http://schemas.microsoft.com/office/powerpoint/2010/main" val="38233397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Заголовок и таблиц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15925" y="260350"/>
            <a:ext cx="5616575" cy="576263"/>
          </a:xfrm>
        </p:spPr>
        <p:txBody>
          <a:bodyPr/>
          <a:lstStyle/>
          <a:p>
            <a:r>
              <a:rPr lang="ru-RU"/>
              <a:t>Образец заголовка</a:t>
            </a:r>
          </a:p>
        </p:txBody>
      </p:sp>
      <p:sp>
        <p:nvSpPr>
          <p:cNvPr id="3" name="Таблица 2"/>
          <p:cNvSpPr>
            <a:spLocks noGrp="1"/>
          </p:cNvSpPr>
          <p:nvPr>
            <p:ph type="tbl" idx="1"/>
          </p:nvPr>
        </p:nvSpPr>
        <p:spPr>
          <a:xfrm>
            <a:off x="495300" y="1125538"/>
            <a:ext cx="8915400" cy="5000625"/>
          </a:xfrm>
        </p:spPr>
        <p:txBody>
          <a:bodyPr/>
          <a:lstStyle/>
          <a:p>
            <a:pPr lvl="0"/>
            <a:endParaRPr lang="ru-RU" noProof="0"/>
          </a:p>
        </p:txBody>
      </p:sp>
      <p:sp>
        <p:nvSpPr>
          <p:cNvPr id="4" name="Rectangle 6"/>
          <p:cNvSpPr>
            <a:spLocks noGrp="1" noChangeArrowheads="1"/>
          </p:cNvSpPr>
          <p:nvPr>
            <p:ph type="sldNum" sz="quarter" idx="10"/>
          </p:nvPr>
        </p:nvSpPr>
        <p:spPr>
          <a:ln/>
        </p:spPr>
        <p:txBody>
          <a:bodyPr/>
          <a:lstStyle>
            <a:lvl1pPr>
              <a:defRPr/>
            </a:lvl1pPr>
          </a:lstStyle>
          <a:p>
            <a:pPr>
              <a:defRPr/>
            </a:pPr>
            <a:r>
              <a:rPr lang="ru-RU"/>
              <a:t>Слайд </a:t>
            </a:r>
            <a:fld id="{425058C1-6B04-4E14-87F8-20FBFF008F35}" type="slidenum">
              <a:rPr lang="ru-RU"/>
              <a:pPr>
                <a:defRPr/>
              </a:pPr>
              <a:t>‹#›</a:t>
            </a:fld>
            <a:endParaRPr lang="ru-RU"/>
          </a:p>
        </p:txBody>
      </p:sp>
    </p:spTree>
    <p:extLst>
      <p:ext uri="{BB962C8B-B14F-4D97-AF65-F5344CB8AC3E}">
        <p14:creationId xmlns:p14="http://schemas.microsoft.com/office/powerpoint/2010/main" val="39501065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Only" preserve="1">
  <p:cSld name="Объект">
    <p:spTree>
      <p:nvGrpSpPr>
        <p:cNvPr id="1" name=""/>
        <p:cNvGrpSpPr/>
        <p:nvPr/>
      </p:nvGrpSpPr>
      <p:grpSpPr>
        <a:xfrm>
          <a:off x="0" y="0"/>
          <a:ext cx="0" cy="0"/>
          <a:chOff x="0" y="0"/>
          <a:chExt cx="0" cy="0"/>
        </a:xfrm>
      </p:grpSpPr>
      <p:sp>
        <p:nvSpPr>
          <p:cNvPr id="2" name="Содержимое 1"/>
          <p:cNvSpPr>
            <a:spLocks noGrp="1"/>
          </p:cNvSpPr>
          <p:nvPr>
            <p:ph/>
          </p:nvPr>
        </p:nvSpPr>
        <p:spPr>
          <a:xfrm>
            <a:off x="415925" y="260350"/>
            <a:ext cx="8994775" cy="5865813"/>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3" name="Rectangle 6"/>
          <p:cNvSpPr>
            <a:spLocks noGrp="1" noChangeArrowheads="1"/>
          </p:cNvSpPr>
          <p:nvPr>
            <p:ph type="sldNum" sz="quarter" idx="10"/>
          </p:nvPr>
        </p:nvSpPr>
        <p:spPr>
          <a:ln/>
        </p:spPr>
        <p:txBody>
          <a:bodyPr/>
          <a:lstStyle>
            <a:lvl1pPr>
              <a:defRPr/>
            </a:lvl1pPr>
          </a:lstStyle>
          <a:p>
            <a:pPr>
              <a:defRPr/>
            </a:pPr>
            <a:r>
              <a:rPr lang="ru-RU"/>
              <a:t>Слайд </a:t>
            </a:r>
            <a:fld id="{CC501A47-8E3C-4C6A-9557-E6B3E128E068}" type="slidenum">
              <a:rPr lang="ru-RU"/>
              <a:pPr>
                <a:defRPr/>
              </a:pPr>
              <a:t>‹#›</a:t>
            </a:fld>
            <a:endParaRPr lang="ru-RU"/>
          </a:p>
        </p:txBody>
      </p:sp>
    </p:spTree>
    <p:extLst>
      <p:ext uri="{BB962C8B-B14F-4D97-AF65-F5344CB8AC3E}">
        <p14:creationId xmlns:p14="http://schemas.microsoft.com/office/powerpoint/2010/main" val="29259351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1.emf"/><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oleObject" Target="../embeddings/oleObject2.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2395"/>
        </a:solidFill>
        <a:effectLst/>
      </p:bgPr>
    </p:bg>
    <p:spTree>
      <p:nvGrpSpPr>
        <p:cNvPr id="1" name=""/>
        <p:cNvGrpSpPr/>
        <p:nvPr/>
      </p:nvGrpSpPr>
      <p:grpSpPr>
        <a:xfrm>
          <a:off x="0" y="0"/>
          <a:ext cx="0" cy="0"/>
          <a:chOff x="0" y="0"/>
          <a:chExt cx="0" cy="0"/>
        </a:xfrm>
      </p:grpSpPr>
      <p:sp>
        <p:nvSpPr>
          <p:cNvPr id="1028" name="Rectangle 2"/>
          <p:cNvSpPr>
            <a:spLocks noGrp="1" noChangeArrowheads="1"/>
          </p:cNvSpPr>
          <p:nvPr>
            <p:ph type="title"/>
          </p:nvPr>
        </p:nvSpPr>
        <p:spPr bwMode="auto">
          <a:xfrm>
            <a:off x="508000" y="2708275"/>
            <a:ext cx="8836025"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8" rIns="91434" bIns="45718" numCol="1" anchor="ctr" anchorCtr="0" compatLnSpc="1">
            <a:prstTxWarp prst="textNoShape">
              <a:avLst/>
            </a:prstTxWarp>
          </a:bodyPr>
          <a:lstStyle/>
          <a:p>
            <a:pPr lvl="0"/>
            <a:r>
              <a:rPr lang="ru-RU" altLang="ru-RU"/>
              <a:t>Заголовок </a:t>
            </a:r>
            <a:br>
              <a:rPr lang="ru-RU" altLang="ru-RU"/>
            </a:br>
            <a:r>
              <a:rPr lang="ru-RU" altLang="ru-RU"/>
              <a:t>презентации</a:t>
            </a:r>
          </a:p>
        </p:txBody>
      </p:sp>
      <p:sp>
        <p:nvSpPr>
          <p:cNvPr id="1029" name="Rectangle 3"/>
          <p:cNvSpPr>
            <a:spLocks noGrp="1" noChangeArrowheads="1"/>
          </p:cNvSpPr>
          <p:nvPr>
            <p:ph type="body" idx="1"/>
          </p:nvPr>
        </p:nvSpPr>
        <p:spPr bwMode="auto">
          <a:xfrm>
            <a:off x="495300" y="6238875"/>
            <a:ext cx="891540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8" rIns="91434" bIns="45718" numCol="1" anchor="t" anchorCtr="0" compatLnSpc="1">
            <a:prstTxWarp prst="textNoShape">
              <a:avLst/>
            </a:prstTxWarp>
          </a:bodyPr>
          <a:lstStyle/>
          <a:p>
            <a:pPr lvl="0"/>
            <a:endParaRPr lang="ru-RU" altLang="ru-RU"/>
          </a:p>
        </p:txBody>
      </p:sp>
      <p:graphicFrame>
        <p:nvGraphicFramePr>
          <p:cNvPr id="1026" name="Object 12"/>
          <p:cNvGraphicFramePr>
            <a:graphicFrameLocks noChangeAspect="1"/>
          </p:cNvGraphicFramePr>
          <p:nvPr/>
        </p:nvGraphicFramePr>
        <p:xfrm>
          <a:off x="5459413" y="404813"/>
          <a:ext cx="4140200" cy="711200"/>
        </p:xfrm>
        <a:graphic>
          <a:graphicData uri="http://schemas.openxmlformats.org/presentationml/2006/ole">
            <mc:AlternateContent xmlns:mc="http://schemas.openxmlformats.org/markup-compatibility/2006">
              <mc:Choice xmlns:v="urn:schemas-microsoft-com:vml" Requires="v">
                <p:oleObj name="CorelDRAW" r:id="rId14" imgW="3912480" imgH="671760" progId="">
                  <p:embed/>
                </p:oleObj>
              </mc:Choice>
              <mc:Fallback>
                <p:oleObj name="CorelDRAW" r:id="rId14" imgW="3912480" imgH="671760" progId="">
                  <p:embed/>
                  <p:pic>
                    <p:nvPicPr>
                      <p:cNvPr id="0" name="Picture 11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459413" y="404813"/>
                        <a:ext cx="4140200" cy="71120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040" name="Rectangle 16"/>
          <p:cNvSpPr>
            <a:spLocks noChangeArrowheads="1"/>
          </p:cNvSpPr>
          <p:nvPr/>
        </p:nvSpPr>
        <p:spPr bwMode="auto">
          <a:xfrm>
            <a:off x="0" y="1339850"/>
            <a:ext cx="9906000" cy="73025"/>
          </a:xfrm>
          <a:prstGeom prst="rect">
            <a:avLst/>
          </a:prstGeom>
          <a:solidFill>
            <a:srgbClr val="DA5800"/>
          </a:solidFill>
          <a:ln w="9525">
            <a:noFill/>
            <a:miter lim="800000"/>
            <a:headEnd/>
            <a:tailEnd/>
          </a:ln>
          <a:effectLst/>
        </p:spPr>
        <p:txBody>
          <a:bodyPr wrap="none" anchor="ctr"/>
          <a:lstStyle/>
          <a:p>
            <a:pPr>
              <a:defRPr/>
            </a:pPr>
            <a:endParaRPr lang="ru-RU"/>
          </a:p>
        </p:txBody>
      </p:sp>
      <p:sp>
        <p:nvSpPr>
          <p:cNvPr id="1041" name="Rectangle 17"/>
          <p:cNvSpPr>
            <a:spLocks noChangeArrowheads="1"/>
          </p:cNvSpPr>
          <p:nvPr/>
        </p:nvSpPr>
        <p:spPr bwMode="auto">
          <a:xfrm>
            <a:off x="0" y="6165850"/>
            <a:ext cx="9906000" cy="36513"/>
          </a:xfrm>
          <a:prstGeom prst="rect">
            <a:avLst/>
          </a:prstGeom>
          <a:solidFill>
            <a:srgbClr val="DA5800"/>
          </a:solidFill>
          <a:ln w="9525">
            <a:noFill/>
            <a:miter lim="800000"/>
            <a:headEnd/>
            <a:tailEnd/>
          </a:ln>
          <a:effectLst/>
        </p:spPr>
        <p:txBody>
          <a:bodyPr wrap="none" anchor="ctr"/>
          <a:lstStyle/>
          <a:p>
            <a:pPr>
              <a:defRPr/>
            </a:pPr>
            <a:endParaRPr lang="ru-RU"/>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txStyles>
    <p:titleStyle>
      <a:lvl1pPr algn="ctr" rtl="0" eaLnBrk="0" fontAlgn="base" hangingPunct="0">
        <a:lnSpc>
          <a:spcPct val="75000"/>
        </a:lnSpc>
        <a:spcBef>
          <a:spcPct val="0"/>
        </a:spcBef>
        <a:spcAft>
          <a:spcPct val="0"/>
        </a:spcAft>
        <a:defRPr sz="5000">
          <a:solidFill>
            <a:schemeClr val="bg1"/>
          </a:solidFill>
          <a:latin typeface="+mj-lt"/>
          <a:ea typeface="+mj-ea"/>
          <a:cs typeface="+mj-cs"/>
        </a:defRPr>
      </a:lvl1pPr>
      <a:lvl2pPr algn="ctr" rtl="0" eaLnBrk="0" fontAlgn="base" hangingPunct="0">
        <a:lnSpc>
          <a:spcPct val="75000"/>
        </a:lnSpc>
        <a:spcBef>
          <a:spcPct val="0"/>
        </a:spcBef>
        <a:spcAft>
          <a:spcPct val="0"/>
        </a:spcAft>
        <a:defRPr sz="5000">
          <a:solidFill>
            <a:schemeClr val="bg1"/>
          </a:solidFill>
          <a:latin typeface="Myriad Pro Light" pitchFamily="34" charset="0"/>
        </a:defRPr>
      </a:lvl2pPr>
      <a:lvl3pPr algn="ctr" rtl="0" eaLnBrk="0" fontAlgn="base" hangingPunct="0">
        <a:lnSpc>
          <a:spcPct val="75000"/>
        </a:lnSpc>
        <a:spcBef>
          <a:spcPct val="0"/>
        </a:spcBef>
        <a:spcAft>
          <a:spcPct val="0"/>
        </a:spcAft>
        <a:defRPr sz="5000">
          <a:solidFill>
            <a:schemeClr val="bg1"/>
          </a:solidFill>
          <a:latin typeface="Myriad Pro Light" pitchFamily="34" charset="0"/>
        </a:defRPr>
      </a:lvl3pPr>
      <a:lvl4pPr algn="ctr" rtl="0" eaLnBrk="0" fontAlgn="base" hangingPunct="0">
        <a:lnSpc>
          <a:spcPct val="75000"/>
        </a:lnSpc>
        <a:spcBef>
          <a:spcPct val="0"/>
        </a:spcBef>
        <a:spcAft>
          <a:spcPct val="0"/>
        </a:spcAft>
        <a:defRPr sz="5000">
          <a:solidFill>
            <a:schemeClr val="bg1"/>
          </a:solidFill>
          <a:latin typeface="Myriad Pro Light" pitchFamily="34" charset="0"/>
        </a:defRPr>
      </a:lvl4pPr>
      <a:lvl5pPr algn="ctr" rtl="0" eaLnBrk="0" fontAlgn="base" hangingPunct="0">
        <a:lnSpc>
          <a:spcPct val="75000"/>
        </a:lnSpc>
        <a:spcBef>
          <a:spcPct val="0"/>
        </a:spcBef>
        <a:spcAft>
          <a:spcPct val="0"/>
        </a:spcAft>
        <a:defRPr sz="5000">
          <a:solidFill>
            <a:schemeClr val="bg1"/>
          </a:solidFill>
          <a:latin typeface="Myriad Pro Light" pitchFamily="34" charset="0"/>
        </a:defRPr>
      </a:lvl5pPr>
      <a:lvl6pPr marL="457200" algn="ctr" rtl="0" fontAlgn="base">
        <a:lnSpc>
          <a:spcPct val="75000"/>
        </a:lnSpc>
        <a:spcBef>
          <a:spcPct val="0"/>
        </a:spcBef>
        <a:spcAft>
          <a:spcPct val="0"/>
        </a:spcAft>
        <a:defRPr sz="5000">
          <a:solidFill>
            <a:schemeClr val="bg1"/>
          </a:solidFill>
          <a:latin typeface="Myriad Pro Light" pitchFamily="34" charset="0"/>
        </a:defRPr>
      </a:lvl6pPr>
      <a:lvl7pPr marL="914400" algn="ctr" rtl="0" fontAlgn="base">
        <a:lnSpc>
          <a:spcPct val="75000"/>
        </a:lnSpc>
        <a:spcBef>
          <a:spcPct val="0"/>
        </a:spcBef>
        <a:spcAft>
          <a:spcPct val="0"/>
        </a:spcAft>
        <a:defRPr sz="5000">
          <a:solidFill>
            <a:schemeClr val="bg1"/>
          </a:solidFill>
          <a:latin typeface="Myriad Pro Light" pitchFamily="34" charset="0"/>
        </a:defRPr>
      </a:lvl7pPr>
      <a:lvl8pPr marL="1371600" algn="ctr" rtl="0" fontAlgn="base">
        <a:lnSpc>
          <a:spcPct val="75000"/>
        </a:lnSpc>
        <a:spcBef>
          <a:spcPct val="0"/>
        </a:spcBef>
        <a:spcAft>
          <a:spcPct val="0"/>
        </a:spcAft>
        <a:defRPr sz="5000">
          <a:solidFill>
            <a:schemeClr val="bg1"/>
          </a:solidFill>
          <a:latin typeface="Myriad Pro Light" pitchFamily="34" charset="0"/>
        </a:defRPr>
      </a:lvl8pPr>
      <a:lvl9pPr marL="1828800" algn="ctr" rtl="0" fontAlgn="base">
        <a:lnSpc>
          <a:spcPct val="75000"/>
        </a:lnSpc>
        <a:spcBef>
          <a:spcPct val="0"/>
        </a:spcBef>
        <a:spcAft>
          <a:spcPct val="0"/>
        </a:spcAft>
        <a:defRPr sz="5000">
          <a:solidFill>
            <a:schemeClr val="bg1"/>
          </a:solidFill>
          <a:latin typeface="Myriad Pro Light" pitchFamily="34" charset="0"/>
        </a:defRPr>
      </a:lvl9pPr>
    </p:titleStyle>
    <p:bodyStyle>
      <a:lvl1pPr marL="342900" indent="-342900" algn="l" rtl="0" eaLnBrk="0" fontAlgn="base" hangingPunct="0">
        <a:spcBef>
          <a:spcPct val="20000"/>
        </a:spcBef>
        <a:spcAft>
          <a:spcPct val="0"/>
        </a:spcAft>
        <a:defRPr>
          <a:solidFill>
            <a:schemeClr val="bg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Arial" charset="0"/>
        </a:defRPr>
      </a:lvl2pPr>
      <a:lvl3pPr marL="1143000" indent="-228600" algn="l" rtl="0" eaLnBrk="0" fontAlgn="base" hangingPunct="0">
        <a:spcBef>
          <a:spcPct val="20000"/>
        </a:spcBef>
        <a:spcAft>
          <a:spcPct val="0"/>
        </a:spcAft>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6643" name="Rectangle 19"/>
          <p:cNvSpPr>
            <a:spLocks noChangeArrowheads="1"/>
          </p:cNvSpPr>
          <p:nvPr/>
        </p:nvSpPr>
        <p:spPr bwMode="auto">
          <a:xfrm>
            <a:off x="0" y="0"/>
            <a:ext cx="9906000" cy="908050"/>
          </a:xfrm>
          <a:prstGeom prst="rect">
            <a:avLst/>
          </a:prstGeom>
          <a:solidFill>
            <a:srgbClr val="002395"/>
          </a:solidFill>
          <a:ln w="9525">
            <a:noFill/>
            <a:miter lim="800000"/>
            <a:headEnd/>
            <a:tailEnd/>
          </a:ln>
          <a:effectLst/>
        </p:spPr>
        <p:txBody>
          <a:bodyPr wrap="none" anchor="ctr"/>
          <a:lstStyle/>
          <a:p>
            <a:pPr>
              <a:defRPr/>
            </a:pPr>
            <a:endParaRPr lang="ru-RU"/>
          </a:p>
        </p:txBody>
      </p:sp>
      <p:sp>
        <p:nvSpPr>
          <p:cNvPr id="2053" name="Rectangle 2"/>
          <p:cNvSpPr>
            <a:spLocks noGrp="1" noChangeArrowheads="1"/>
          </p:cNvSpPr>
          <p:nvPr>
            <p:ph type="title"/>
          </p:nvPr>
        </p:nvSpPr>
        <p:spPr bwMode="auto">
          <a:xfrm>
            <a:off x="415925" y="260350"/>
            <a:ext cx="56165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34" tIns="45718" rIns="91434" bIns="45718" numCol="1" anchor="ctr" anchorCtr="0" compatLnSpc="1">
            <a:prstTxWarp prst="textNoShape">
              <a:avLst/>
            </a:prstTxWarp>
          </a:bodyPr>
          <a:lstStyle/>
          <a:p>
            <a:pPr lvl="0"/>
            <a:r>
              <a:rPr lang="ru-RU" altLang="ru-RU"/>
              <a:t>Заголовок страницы</a:t>
            </a:r>
          </a:p>
        </p:txBody>
      </p:sp>
      <p:sp>
        <p:nvSpPr>
          <p:cNvPr id="2054" name="Rectangle 3"/>
          <p:cNvSpPr>
            <a:spLocks noGrp="1" noChangeArrowheads="1"/>
          </p:cNvSpPr>
          <p:nvPr>
            <p:ph type="body" idx="1"/>
          </p:nvPr>
        </p:nvSpPr>
        <p:spPr bwMode="auto">
          <a:xfrm>
            <a:off x="495300" y="1125538"/>
            <a:ext cx="8915400" cy="500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ru-RU" altLang="ru-RU"/>
              <a:t>Образец заголовка</a:t>
            </a:r>
          </a:p>
          <a:p>
            <a:pPr lvl="1"/>
            <a:r>
              <a:rPr lang="ru-RU" altLang="ru-RU"/>
              <a:t>Основной текст Основной текст Основной текст Основной текст Основной текст Основной текст Основной текст Основной текст Основной текст Основной текст Основной текст Основной текст Основной текст Основной текст</a:t>
            </a:r>
          </a:p>
          <a:p>
            <a:pPr lvl="2"/>
            <a:r>
              <a:rPr lang="ru-RU" altLang="ru-RU"/>
              <a:t>Список 1</a:t>
            </a:r>
          </a:p>
          <a:p>
            <a:pPr lvl="3"/>
            <a:r>
              <a:rPr lang="ru-RU" altLang="ru-RU"/>
              <a:t>Список 2</a:t>
            </a:r>
          </a:p>
          <a:p>
            <a:pPr lvl="4"/>
            <a:r>
              <a:rPr lang="ru-RU" altLang="ru-RU"/>
              <a:t>Пятый уровень</a:t>
            </a:r>
          </a:p>
        </p:txBody>
      </p:sp>
      <p:sp>
        <p:nvSpPr>
          <p:cNvPr id="26630" name="Rectangle 6"/>
          <p:cNvSpPr>
            <a:spLocks noGrp="1" noChangeArrowheads="1"/>
          </p:cNvSpPr>
          <p:nvPr>
            <p:ph type="sldNum" sz="quarter" idx="4"/>
          </p:nvPr>
        </p:nvSpPr>
        <p:spPr bwMode="auto">
          <a:xfrm>
            <a:off x="7099300" y="6453188"/>
            <a:ext cx="2311400" cy="2682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rgbClr val="002395"/>
                </a:solidFill>
                <a:latin typeface="+mn-lt"/>
              </a:defRPr>
            </a:lvl1pPr>
          </a:lstStyle>
          <a:p>
            <a:pPr>
              <a:defRPr/>
            </a:pPr>
            <a:r>
              <a:rPr lang="ru-RU"/>
              <a:t>Слайд </a:t>
            </a:r>
            <a:fld id="{7DF56EA3-43C7-46F1-8E69-8FB710BE3B7A}" type="slidenum">
              <a:rPr lang="ru-RU"/>
              <a:pPr>
                <a:defRPr/>
              </a:pPr>
              <a:t>‹#›</a:t>
            </a:fld>
            <a:endParaRPr lang="ru-RU"/>
          </a:p>
        </p:txBody>
      </p:sp>
      <p:graphicFrame>
        <p:nvGraphicFramePr>
          <p:cNvPr id="2050" name="Object 20"/>
          <p:cNvGraphicFramePr>
            <a:graphicFrameLocks noChangeAspect="1"/>
          </p:cNvGraphicFramePr>
          <p:nvPr/>
        </p:nvGraphicFramePr>
        <p:xfrm>
          <a:off x="6392863" y="260350"/>
          <a:ext cx="3205162" cy="552450"/>
        </p:xfrm>
        <a:graphic>
          <a:graphicData uri="http://schemas.openxmlformats.org/presentationml/2006/ole">
            <mc:AlternateContent xmlns:mc="http://schemas.openxmlformats.org/markup-compatibility/2006">
              <mc:Choice xmlns:v="urn:schemas-microsoft-com:vml" Requires="v">
                <p:oleObj name="CorelDRAW" r:id="rId15" imgW="3912480" imgH="671760" progId="">
                  <p:embed/>
                </p:oleObj>
              </mc:Choice>
              <mc:Fallback>
                <p:oleObj name="CorelDRAW" r:id="rId15" imgW="3912480" imgH="671760" progId="">
                  <p:embed/>
                  <p:pic>
                    <p:nvPicPr>
                      <p:cNvPr id="0" name="Picture 12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392863" y="260350"/>
                        <a:ext cx="3205162" cy="55245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6645" name="Rectangle 21"/>
          <p:cNvSpPr>
            <a:spLocks noChangeArrowheads="1"/>
          </p:cNvSpPr>
          <p:nvPr/>
        </p:nvSpPr>
        <p:spPr bwMode="auto">
          <a:xfrm>
            <a:off x="0" y="908050"/>
            <a:ext cx="9906000" cy="73025"/>
          </a:xfrm>
          <a:prstGeom prst="rect">
            <a:avLst/>
          </a:prstGeom>
          <a:solidFill>
            <a:srgbClr val="DA5800"/>
          </a:solidFill>
          <a:ln w="9525">
            <a:noFill/>
            <a:miter lim="800000"/>
            <a:headEnd/>
            <a:tailEnd/>
          </a:ln>
          <a:effectLst/>
        </p:spPr>
        <p:txBody>
          <a:bodyPr wrap="none" anchor="ctr"/>
          <a:lstStyle/>
          <a:p>
            <a:pPr>
              <a:defRPr/>
            </a:pPr>
            <a:endParaRPr lang="ru-RU"/>
          </a:p>
        </p:txBody>
      </p:sp>
      <p:sp>
        <p:nvSpPr>
          <p:cNvPr id="26648" name="Rectangle 24"/>
          <p:cNvSpPr>
            <a:spLocks noChangeArrowheads="1"/>
          </p:cNvSpPr>
          <p:nvPr/>
        </p:nvSpPr>
        <p:spPr bwMode="auto">
          <a:xfrm>
            <a:off x="0" y="6381750"/>
            <a:ext cx="9906000" cy="36513"/>
          </a:xfrm>
          <a:prstGeom prst="rect">
            <a:avLst/>
          </a:prstGeom>
          <a:solidFill>
            <a:srgbClr val="DA5800"/>
          </a:solidFill>
          <a:ln w="9525">
            <a:noFill/>
            <a:miter lim="800000"/>
            <a:headEnd/>
            <a:tailEnd/>
          </a:ln>
          <a:effectLst/>
        </p:spPr>
        <p:txBody>
          <a:bodyPr wrap="none" anchor="ctr"/>
          <a:lstStyle/>
          <a:p>
            <a:pPr>
              <a:defRPr/>
            </a:pPr>
            <a:endParaRPr lang="ru-RU"/>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hf hdr="0" ftr="0" dt="0"/>
  <p:txStyles>
    <p:titleStyle>
      <a:lvl1pPr algn="l" rtl="0" eaLnBrk="0" fontAlgn="base" hangingPunct="0">
        <a:lnSpc>
          <a:spcPct val="95000"/>
        </a:lnSpc>
        <a:spcBef>
          <a:spcPct val="0"/>
        </a:spcBef>
        <a:spcAft>
          <a:spcPct val="0"/>
        </a:spcAft>
        <a:defRPr sz="2000" b="1">
          <a:solidFill>
            <a:schemeClr val="bg1"/>
          </a:solidFill>
          <a:latin typeface="+mj-lt"/>
          <a:ea typeface="+mj-ea"/>
          <a:cs typeface="+mj-cs"/>
        </a:defRPr>
      </a:lvl1pPr>
      <a:lvl2pPr algn="l" rtl="0" eaLnBrk="0" fontAlgn="base" hangingPunct="0">
        <a:lnSpc>
          <a:spcPct val="95000"/>
        </a:lnSpc>
        <a:spcBef>
          <a:spcPct val="0"/>
        </a:spcBef>
        <a:spcAft>
          <a:spcPct val="0"/>
        </a:spcAft>
        <a:defRPr sz="2000" b="1">
          <a:solidFill>
            <a:schemeClr val="bg1"/>
          </a:solidFill>
          <a:latin typeface="Myriad Pro" pitchFamily="34" charset="0"/>
        </a:defRPr>
      </a:lvl2pPr>
      <a:lvl3pPr algn="l" rtl="0" eaLnBrk="0" fontAlgn="base" hangingPunct="0">
        <a:lnSpc>
          <a:spcPct val="95000"/>
        </a:lnSpc>
        <a:spcBef>
          <a:spcPct val="0"/>
        </a:spcBef>
        <a:spcAft>
          <a:spcPct val="0"/>
        </a:spcAft>
        <a:defRPr sz="2000" b="1">
          <a:solidFill>
            <a:schemeClr val="bg1"/>
          </a:solidFill>
          <a:latin typeface="Myriad Pro" pitchFamily="34" charset="0"/>
        </a:defRPr>
      </a:lvl3pPr>
      <a:lvl4pPr algn="l" rtl="0" eaLnBrk="0" fontAlgn="base" hangingPunct="0">
        <a:lnSpc>
          <a:spcPct val="95000"/>
        </a:lnSpc>
        <a:spcBef>
          <a:spcPct val="0"/>
        </a:spcBef>
        <a:spcAft>
          <a:spcPct val="0"/>
        </a:spcAft>
        <a:defRPr sz="2000" b="1">
          <a:solidFill>
            <a:schemeClr val="bg1"/>
          </a:solidFill>
          <a:latin typeface="Myriad Pro" pitchFamily="34" charset="0"/>
        </a:defRPr>
      </a:lvl4pPr>
      <a:lvl5pPr algn="l" rtl="0" eaLnBrk="0" fontAlgn="base" hangingPunct="0">
        <a:lnSpc>
          <a:spcPct val="95000"/>
        </a:lnSpc>
        <a:spcBef>
          <a:spcPct val="0"/>
        </a:spcBef>
        <a:spcAft>
          <a:spcPct val="0"/>
        </a:spcAft>
        <a:defRPr sz="2000" b="1">
          <a:solidFill>
            <a:schemeClr val="bg1"/>
          </a:solidFill>
          <a:latin typeface="Myriad Pro" pitchFamily="34" charset="0"/>
        </a:defRPr>
      </a:lvl5pPr>
      <a:lvl6pPr marL="457200" algn="l" rtl="0" fontAlgn="base">
        <a:lnSpc>
          <a:spcPct val="95000"/>
        </a:lnSpc>
        <a:spcBef>
          <a:spcPct val="0"/>
        </a:spcBef>
        <a:spcAft>
          <a:spcPct val="0"/>
        </a:spcAft>
        <a:defRPr sz="2000" b="1">
          <a:solidFill>
            <a:schemeClr val="bg1"/>
          </a:solidFill>
          <a:latin typeface="Myriad Pro" pitchFamily="34" charset="0"/>
        </a:defRPr>
      </a:lvl6pPr>
      <a:lvl7pPr marL="914400" algn="l" rtl="0" fontAlgn="base">
        <a:lnSpc>
          <a:spcPct val="95000"/>
        </a:lnSpc>
        <a:spcBef>
          <a:spcPct val="0"/>
        </a:spcBef>
        <a:spcAft>
          <a:spcPct val="0"/>
        </a:spcAft>
        <a:defRPr sz="2000" b="1">
          <a:solidFill>
            <a:schemeClr val="bg1"/>
          </a:solidFill>
          <a:latin typeface="Myriad Pro" pitchFamily="34" charset="0"/>
        </a:defRPr>
      </a:lvl7pPr>
      <a:lvl8pPr marL="1371600" algn="l" rtl="0" fontAlgn="base">
        <a:lnSpc>
          <a:spcPct val="95000"/>
        </a:lnSpc>
        <a:spcBef>
          <a:spcPct val="0"/>
        </a:spcBef>
        <a:spcAft>
          <a:spcPct val="0"/>
        </a:spcAft>
        <a:defRPr sz="2000" b="1">
          <a:solidFill>
            <a:schemeClr val="bg1"/>
          </a:solidFill>
          <a:latin typeface="Myriad Pro" pitchFamily="34" charset="0"/>
        </a:defRPr>
      </a:lvl8pPr>
      <a:lvl9pPr marL="1828800" algn="l" rtl="0" fontAlgn="base">
        <a:lnSpc>
          <a:spcPct val="95000"/>
        </a:lnSpc>
        <a:spcBef>
          <a:spcPct val="0"/>
        </a:spcBef>
        <a:spcAft>
          <a:spcPct val="0"/>
        </a:spcAft>
        <a:defRPr sz="2000" b="1">
          <a:solidFill>
            <a:schemeClr val="bg1"/>
          </a:solidFill>
          <a:latin typeface="Myriad Pro" pitchFamily="34" charset="0"/>
        </a:defRPr>
      </a:lvl9pPr>
    </p:titleStyle>
    <p:bodyStyle>
      <a:lvl1pPr marL="342900" indent="-342900" algn="l" rtl="0" eaLnBrk="0" fontAlgn="base" hangingPunct="0">
        <a:spcBef>
          <a:spcPct val="20000"/>
        </a:spcBef>
        <a:spcAft>
          <a:spcPct val="0"/>
        </a:spcAft>
        <a:defRPr sz="2000" b="1">
          <a:solidFill>
            <a:srgbClr val="002395"/>
          </a:solidFill>
          <a:latin typeface="+mn-lt"/>
          <a:ea typeface="+mn-ea"/>
          <a:cs typeface="+mn-cs"/>
        </a:defRPr>
      </a:lvl1pPr>
      <a:lvl2pPr marL="179388" indent="277813" algn="l" rtl="0" eaLnBrk="0" fontAlgn="base" hangingPunct="0">
        <a:spcBef>
          <a:spcPct val="20000"/>
        </a:spcBef>
        <a:spcAft>
          <a:spcPct val="0"/>
        </a:spcAft>
        <a:defRPr sz="1600">
          <a:solidFill>
            <a:schemeClr val="tx1"/>
          </a:solidFill>
          <a:latin typeface="+mn-lt"/>
        </a:defRPr>
      </a:lvl2pPr>
      <a:lvl3pPr marL="533400" indent="-174625" algn="l" rtl="0" eaLnBrk="0" fontAlgn="base" hangingPunct="0">
        <a:spcBef>
          <a:spcPct val="20000"/>
        </a:spcBef>
        <a:spcAft>
          <a:spcPct val="0"/>
        </a:spcAft>
        <a:buClr>
          <a:srgbClr val="DA5800"/>
        </a:buClr>
        <a:buFont typeface="Wingdings" pitchFamily="2" charset="2"/>
        <a:buChar char="§"/>
        <a:defRPr sz="1600">
          <a:solidFill>
            <a:schemeClr val="tx1"/>
          </a:solidFill>
          <a:latin typeface="+mn-lt"/>
        </a:defRPr>
      </a:lvl3pPr>
      <a:lvl4pPr marL="901700" indent="-188913" algn="l" rtl="0" eaLnBrk="0" fontAlgn="base" hangingPunct="0">
        <a:spcBef>
          <a:spcPct val="20000"/>
        </a:spcBef>
        <a:spcAft>
          <a:spcPct val="0"/>
        </a:spcAft>
        <a:buClr>
          <a:srgbClr val="002395"/>
        </a:buClr>
        <a:buFont typeface="Wingdings" pitchFamily="2" charset="2"/>
        <a:buChar char="§"/>
        <a:defRPr sz="1400">
          <a:solidFill>
            <a:schemeClr val="tx1"/>
          </a:solidFill>
          <a:latin typeface="+mn-lt"/>
        </a:defRPr>
      </a:lvl4pPr>
      <a:lvl5pPr marL="2109788" indent="-228600" algn="l" rtl="0" eaLnBrk="0" fontAlgn="base" hangingPunct="0">
        <a:spcBef>
          <a:spcPct val="20000"/>
        </a:spcBef>
        <a:spcAft>
          <a:spcPct val="0"/>
        </a:spcAft>
        <a:buChar char="»"/>
        <a:defRPr sz="2000">
          <a:solidFill>
            <a:schemeClr val="tx1"/>
          </a:solidFill>
          <a:latin typeface="+mn-lt"/>
        </a:defRPr>
      </a:lvl5pPr>
      <a:lvl6pPr marL="2566988" indent="-228600" algn="l" rtl="0" fontAlgn="base">
        <a:spcBef>
          <a:spcPct val="20000"/>
        </a:spcBef>
        <a:spcAft>
          <a:spcPct val="0"/>
        </a:spcAft>
        <a:buChar char="»"/>
        <a:defRPr sz="2000">
          <a:solidFill>
            <a:schemeClr val="tx1"/>
          </a:solidFill>
          <a:latin typeface="+mn-lt"/>
        </a:defRPr>
      </a:lvl6pPr>
      <a:lvl7pPr marL="3024188" indent="-228600" algn="l" rtl="0" fontAlgn="base">
        <a:spcBef>
          <a:spcPct val="20000"/>
        </a:spcBef>
        <a:spcAft>
          <a:spcPct val="0"/>
        </a:spcAft>
        <a:buChar char="»"/>
        <a:defRPr sz="2000">
          <a:solidFill>
            <a:schemeClr val="tx1"/>
          </a:solidFill>
          <a:latin typeface="+mn-lt"/>
        </a:defRPr>
      </a:lvl7pPr>
      <a:lvl8pPr marL="3481388" indent="-228600" algn="l" rtl="0" fontAlgn="base">
        <a:spcBef>
          <a:spcPct val="20000"/>
        </a:spcBef>
        <a:spcAft>
          <a:spcPct val="0"/>
        </a:spcAft>
        <a:buChar char="»"/>
        <a:defRPr sz="2000">
          <a:solidFill>
            <a:schemeClr val="tx1"/>
          </a:solidFill>
          <a:latin typeface="+mn-lt"/>
        </a:defRPr>
      </a:lvl8pPr>
      <a:lvl9pPr marL="3938588" indent="-228600" algn="l" rtl="0" fontAlgn="base">
        <a:spcBef>
          <a:spcPct val="20000"/>
        </a:spcBef>
        <a:spcAft>
          <a:spcPct val="0"/>
        </a:spcAft>
        <a:buChar char="»"/>
        <a:defRPr sz="2000">
          <a:solidFill>
            <a:schemeClr val="tx1"/>
          </a:solidFill>
          <a:latin typeface="+mn-lt"/>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9.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9.xml"/><Relationship Id="rId5" Type="http://schemas.openxmlformats.org/officeDocument/2006/relationships/image" Target="../media/image17.jpe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9.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Прямоугольник 7"/>
          <p:cNvSpPr/>
          <p:nvPr/>
        </p:nvSpPr>
        <p:spPr>
          <a:xfrm>
            <a:off x="0" y="0"/>
            <a:ext cx="9906000" cy="42862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075" name="Rectangle 2"/>
          <p:cNvSpPr>
            <a:spLocks noGrp="1" noChangeArrowheads="1"/>
          </p:cNvSpPr>
          <p:nvPr>
            <p:ph type="title"/>
          </p:nvPr>
        </p:nvSpPr>
        <p:spPr>
          <a:xfrm>
            <a:off x="0" y="2060848"/>
            <a:ext cx="9906000" cy="1800199"/>
          </a:xfrm>
          <a:solidFill>
            <a:srgbClr val="002395"/>
          </a:solidFill>
        </p:spPr>
        <p:txBody>
          <a:bodyPr/>
          <a:lstStyle/>
          <a:p>
            <a:pPr algn="l" eaLnBrk="1" hangingPunct="1">
              <a:lnSpc>
                <a:spcPct val="100000"/>
              </a:lnSpc>
              <a:spcBef>
                <a:spcPts val="1200"/>
              </a:spcBef>
              <a:spcAft>
                <a:spcPts val="1800"/>
              </a:spcAft>
            </a:pPr>
            <a:r>
              <a:rPr lang="ru-RU" sz="3600" b="1" dirty="0"/>
              <a:t>Имидж компании: ПСБ.</a:t>
            </a:r>
            <a:br>
              <a:rPr lang="ru-RU" sz="3200" b="1" dirty="0"/>
            </a:br>
            <a:r>
              <a:rPr lang="ru-RU" sz="3200" b="1" dirty="0"/>
              <a:t>             </a:t>
            </a:r>
            <a:br>
              <a:rPr lang="ru-RU" sz="3200" b="1" dirty="0"/>
            </a:br>
            <a:r>
              <a:rPr lang="ru-RU" sz="3200" b="1" dirty="0"/>
              <a:t>                                    </a:t>
            </a:r>
            <a:r>
              <a:rPr lang="ru-RU" sz="2800" b="1" dirty="0"/>
              <a:t>ББМО-01-25      Голованов К.Е.</a:t>
            </a:r>
            <a:br>
              <a:rPr lang="ru-RU" sz="2800" b="1" dirty="0"/>
            </a:br>
            <a:r>
              <a:rPr lang="ru-RU" sz="2800" b="1" dirty="0"/>
              <a:t>                                                                   Железняков Р.А.</a:t>
            </a:r>
          </a:p>
        </p:txBody>
      </p:sp>
      <p:pic>
        <p:nvPicPr>
          <p:cNvPr id="7" name="Picture 2"/>
          <p:cNvPicPr>
            <a:picLocks noChangeAspect="1" noChangeArrowheads="1"/>
          </p:cNvPicPr>
          <p:nvPr/>
        </p:nvPicPr>
        <p:blipFill>
          <a:blip r:embed="rId3" cstate="print"/>
          <a:srcRect/>
          <a:stretch>
            <a:fillRect/>
          </a:stretch>
        </p:blipFill>
        <p:spPr bwMode="auto">
          <a:xfrm>
            <a:off x="0" y="3861048"/>
            <a:ext cx="9906000" cy="2571745"/>
          </a:xfrm>
          <a:prstGeom prst="rect">
            <a:avLst/>
          </a:prstGeom>
          <a:noFill/>
          <a:ln w="9525">
            <a:noFill/>
            <a:miter lim="800000"/>
            <a:headEnd/>
            <a:tailEnd/>
          </a:ln>
        </p:spPr>
      </p:pic>
      <p:pic>
        <p:nvPicPr>
          <p:cNvPr id="3074" name="Picture 2" descr="Корпоративный стиль, логотип, руководство по использованию фирменного стиля">
            <a:extLst>
              <a:ext uri="{FF2B5EF4-FFF2-40B4-BE49-F238E27FC236}">
                <a16:creationId xmlns:a16="http://schemas.microsoft.com/office/drawing/2014/main" id="{73EC1330-AC77-44DF-9997-9A1A5252538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41232" y="-641425"/>
            <a:ext cx="3005335" cy="21332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8815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7" name="Freeform 161"/>
          <p:cNvSpPr>
            <a:spLocks/>
          </p:cNvSpPr>
          <p:nvPr/>
        </p:nvSpPr>
        <p:spPr bwMode="auto">
          <a:xfrm>
            <a:off x="9344025" y="5373688"/>
            <a:ext cx="0" cy="1587"/>
          </a:xfrm>
          <a:custGeom>
            <a:avLst/>
            <a:gdLst>
              <a:gd name="T0" fmla="*/ 0 w 3"/>
              <a:gd name="T1" fmla="*/ 0 h 1587"/>
              <a:gd name="T2" fmla="*/ 0 w 3"/>
              <a:gd name="T3" fmla="*/ 0 h 1587"/>
              <a:gd name="T4" fmla="*/ 0 w 3"/>
              <a:gd name="T5" fmla="*/ 0 h 1587"/>
              <a:gd name="T6" fmla="*/ 0 w 3"/>
              <a:gd name="T7" fmla="*/ 0 h 1587"/>
              <a:gd name="T8" fmla="*/ 0 w 3"/>
              <a:gd name="T9" fmla="*/ 0 h 1587"/>
              <a:gd name="T10" fmla="*/ 0 w 3"/>
              <a:gd name="T11" fmla="*/ 0 h 1587"/>
              <a:gd name="T12" fmla="*/ 0 60000 65536"/>
              <a:gd name="T13" fmla="*/ 0 60000 65536"/>
              <a:gd name="T14" fmla="*/ 0 60000 65536"/>
              <a:gd name="T15" fmla="*/ 0 60000 65536"/>
              <a:gd name="T16" fmla="*/ 0 60000 65536"/>
              <a:gd name="T17" fmla="*/ 0 60000 65536"/>
              <a:gd name="T18" fmla="*/ 0 w 3"/>
              <a:gd name="T19" fmla="*/ 0 h 1587"/>
              <a:gd name="T20" fmla="*/ 0 w 3"/>
              <a:gd name="T21" fmla="*/ 1587 h 1587"/>
            </a:gdLst>
            <a:ahLst/>
            <a:cxnLst>
              <a:cxn ang="T12">
                <a:pos x="T0" y="T1"/>
              </a:cxn>
              <a:cxn ang="T13">
                <a:pos x="T2" y="T3"/>
              </a:cxn>
              <a:cxn ang="T14">
                <a:pos x="T4" y="T5"/>
              </a:cxn>
              <a:cxn ang="T15">
                <a:pos x="T6" y="T7"/>
              </a:cxn>
              <a:cxn ang="T16">
                <a:pos x="T8" y="T9"/>
              </a:cxn>
              <a:cxn ang="T17">
                <a:pos x="T10" y="T11"/>
              </a:cxn>
            </a:cxnLst>
            <a:rect l="T18" t="T19" r="T20" b="T21"/>
            <a:pathLst>
              <a:path w="3" h="1587">
                <a:moveTo>
                  <a:pt x="3" y="0"/>
                </a:moveTo>
                <a:lnTo>
                  <a:pt x="3" y="0"/>
                </a:lnTo>
                <a:lnTo>
                  <a:pt x="2" y="0"/>
                </a:lnTo>
                <a:lnTo>
                  <a:pt x="0" y="0"/>
                </a:lnTo>
                <a:lnTo>
                  <a:pt x="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4251" name="TextBox 189"/>
          <p:cNvSpPr txBox="1">
            <a:spLocks noChangeArrowheads="1"/>
          </p:cNvSpPr>
          <p:nvPr/>
        </p:nvSpPr>
        <p:spPr bwMode="auto">
          <a:xfrm>
            <a:off x="0" y="260648"/>
            <a:ext cx="6269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ru-RU"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rPr>
              <a:t>Введение</a:t>
            </a:r>
          </a:p>
        </p:txBody>
      </p:sp>
      <p:sp>
        <p:nvSpPr>
          <p:cNvPr id="176" name="Прямоугольник 189"/>
          <p:cNvSpPr>
            <a:spLocks noChangeArrowheads="1"/>
          </p:cNvSpPr>
          <p:nvPr/>
        </p:nvSpPr>
        <p:spPr bwMode="auto">
          <a:xfrm>
            <a:off x="-15552" y="1304219"/>
            <a:ext cx="9145016" cy="3603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66700" indent="180975"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defTabSz="533400" eaLnBrk="1" hangingPunct="1">
              <a:lnSpc>
                <a:spcPct val="150000"/>
              </a:lnSpc>
              <a:spcAft>
                <a:spcPts val="0"/>
              </a:spcAft>
              <a:buClr>
                <a:srgbClr val="8E8E8E"/>
              </a:buClr>
              <a:buFont typeface="Wingdings" pitchFamily="2" charset="2"/>
              <a:buBlip>
                <a:blip r:embed="rId3"/>
              </a:buBlip>
            </a:pPr>
            <a:r>
              <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rPr>
              <a:t>Имидж компании – это образ, который формируют для потребителей. Он действительности он не отражает ни производственных процессов, ни экономико-социальных свойств. Сформировать впечатление, соответствующее позиционированию компании — как раз одна из главных задач имиджа</a:t>
            </a:r>
          </a:p>
          <a:p>
            <a:pPr defTabSz="533400" eaLnBrk="1" hangingPunct="1">
              <a:lnSpc>
                <a:spcPct val="150000"/>
              </a:lnSpc>
              <a:spcAft>
                <a:spcPts val="0"/>
              </a:spcAft>
              <a:buClr>
                <a:srgbClr val="8E8E8E"/>
              </a:buClr>
              <a:buFont typeface="Wingdings" pitchFamily="2" charset="2"/>
              <a:buBlip>
                <a:blip r:embed="rId3"/>
              </a:buBlip>
            </a:pPr>
            <a:endPar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endParaRPr>
          </a:p>
          <a:p>
            <a:pPr defTabSz="533400" eaLnBrk="1" hangingPunct="1">
              <a:lnSpc>
                <a:spcPct val="150000"/>
              </a:lnSpc>
              <a:spcAft>
                <a:spcPts val="0"/>
              </a:spcAft>
              <a:buClr>
                <a:srgbClr val="8E8E8E"/>
              </a:buClr>
              <a:buFont typeface="Wingdings" pitchFamily="2" charset="2"/>
              <a:buBlip>
                <a:blip r:embed="rId3"/>
              </a:buBlip>
            </a:pPr>
            <a:r>
              <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rPr>
              <a:t>Репутация – непосредственно то, как представляется компания в глазах потенциальных (текущих) потребителей продукции.</a:t>
            </a:r>
          </a:p>
          <a:p>
            <a:pPr defTabSz="533400" eaLnBrk="1" hangingPunct="1">
              <a:lnSpc>
                <a:spcPct val="150000"/>
              </a:lnSpc>
              <a:spcAft>
                <a:spcPts val="0"/>
              </a:spcAft>
              <a:buClr>
                <a:srgbClr val="8E8E8E"/>
              </a:buClr>
              <a:buFont typeface="Wingdings" pitchFamily="2" charset="2"/>
              <a:buBlip>
                <a:blip r:embed="rId3"/>
              </a:buBlip>
            </a:pPr>
            <a:endPar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endParaRPr>
          </a:p>
          <a:p>
            <a:pPr defTabSz="533400" eaLnBrk="1" hangingPunct="1">
              <a:lnSpc>
                <a:spcPct val="150000"/>
              </a:lnSpc>
              <a:spcAft>
                <a:spcPts val="0"/>
              </a:spcAft>
              <a:buClr>
                <a:srgbClr val="8E8E8E"/>
              </a:buClr>
              <a:buFont typeface="Wingdings" pitchFamily="2" charset="2"/>
              <a:buBlip>
                <a:blip r:embed="rId3"/>
              </a:buBlip>
            </a:pPr>
            <a:r>
              <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rPr>
              <a:t>Позитивный имидж компании привлекает к ней клиентов, а репутация выстраивает их лояльность к бренду. По этим признакам люди годами выбирают продукцию определенных марок, будучи уверенными в их отменных свойствах</a:t>
            </a:r>
          </a:p>
          <a:p>
            <a:pPr defTabSz="533400" eaLnBrk="1" hangingPunct="1">
              <a:lnSpc>
                <a:spcPct val="150000"/>
              </a:lnSpc>
              <a:spcAft>
                <a:spcPts val="0"/>
              </a:spcAft>
              <a:buClr>
                <a:srgbClr val="8E8E8E"/>
              </a:buClr>
              <a:buFont typeface="Wingdings" pitchFamily="2" charset="2"/>
              <a:buBlip>
                <a:blip r:embed="rId3"/>
              </a:buBlip>
            </a:pPr>
            <a:endParaRPr lang="ru-RU" altLang="ru-RU" sz="1400" dirty="0">
              <a:solidFill>
                <a:srgbClr val="002394"/>
              </a:solidFill>
              <a:latin typeface="Tahoma" panose="020B0604030504040204" pitchFamily="34" charset="0"/>
              <a:ea typeface="Tahoma" panose="020B0604030504040204" pitchFamily="34" charset="0"/>
              <a:cs typeface="Tahoma" panose="020B0604030504040204" pitchFamily="34" charset="0"/>
            </a:endParaRPr>
          </a:p>
        </p:txBody>
      </p:sp>
      <p:sp>
        <p:nvSpPr>
          <p:cNvPr id="3" name="TextBox 2">
            <a:extLst>
              <a:ext uri="{FF2B5EF4-FFF2-40B4-BE49-F238E27FC236}">
                <a16:creationId xmlns:a16="http://schemas.microsoft.com/office/drawing/2014/main" id="{481824D7-221E-8511-4828-332183B5C949}"/>
              </a:ext>
            </a:extLst>
          </p:cNvPr>
          <p:cNvSpPr txBox="1"/>
          <p:nvPr/>
        </p:nvSpPr>
        <p:spPr>
          <a:xfrm>
            <a:off x="272481" y="4794474"/>
            <a:ext cx="8136902" cy="1341073"/>
          </a:xfrm>
          <a:prstGeom prst="rect">
            <a:avLst/>
          </a:prstGeom>
          <a:noFill/>
        </p:spPr>
        <p:txBody>
          <a:bodyPr wrap="square">
            <a:spAutoFit/>
          </a:bodyPr>
          <a:lstStyle/>
          <a:p>
            <a:pPr indent="0" defTabSz="533400" eaLnBrk="1" hangingPunct="1">
              <a:lnSpc>
                <a:spcPct val="150000"/>
              </a:lnSpc>
              <a:spcAft>
                <a:spcPts val="0"/>
              </a:spcAft>
              <a:buClr>
                <a:srgbClr val="8E8E8E"/>
              </a:buClr>
            </a:pPr>
            <a:r>
              <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rPr>
              <a:t>Различают 3 типа имиджа предприятия:</a:t>
            </a:r>
          </a:p>
          <a:p>
            <a:pPr defTabSz="533400" eaLnBrk="1" hangingPunct="1">
              <a:lnSpc>
                <a:spcPct val="150000"/>
              </a:lnSpc>
              <a:spcAft>
                <a:spcPts val="0"/>
              </a:spcAft>
              <a:buClr>
                <a:srgbClr val="8E8E8E"/>
              </a:buClr>
              <a:buFont typeface="Wingdings" pitchFamily="2" charset="2"/>
              <a:buBlip>
                <a:blip r:embed="rId3"/>
              </a:buBlip>
            </a:pPr>
            <a:r>
              <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rPr>
              <a:t>Идеальный - Образ, к которому стремится фирма)</a:t>
            </a:r>
          </a:p>
          <a:p>
            <a:pPr defTabSz="533400" eaLnBrk="1" hangingPunct="1">
              <a:lnSpc>
                <a:spcPct val="150000"/>
              </a:lnSpc>
              <a:spcAft>
                <a:spcPts val="0"/>
              </a:spcAft>
              <a:buClr>
                <a:srgbClr val="8E8E8E"/>
              </a:buClr>
              <a:buFont typeface="Wingdings" pitchFamily="2" charset="2"/>
              <a:buBlip>
                <a:blip r:embed="rId3"/>
              </a:buBlip>
            </a:pPr>
            <a:r>
              <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rPr>
              <a:t>Реальный - отражает сложившееся отношение общественности)</a:t>
            </a:r>
          </a:p>
          <a:p>
            <a:pPr defTabSz="533400" eaLnBrk="1" hangingPunct="1">
              <a:lnSpc>
                <a:spcPct val="150000"/>
              </a:lnSpc>
              <a:spcAft>
                <a:spcPts val="0"/>
              </a:spcAft>
              <a:buClr>
                <a:srgbClr val="8E8E8E"/>
              </a:buClr>
              <a:buFont typeface="Wingdings" pitchFamily="2" charset="2"/>
              <a:buBlip>
                <a:blip r:embed="rId3"/>
              </a:buBlip>
            </a:pPr>
            <a:r>
              <a:rPr lang="ru-RU" sz="1400" dirty="0">
                <a:solidFill>
                  <a:srgbClr val="002394"/>
                </a:solidFill>
                <a:latin typeface="Tahoma" panose="020B0604030504040204" pitchFamily="34" charset="0"/>
                <a:ea typeface="Tahoma" panose="020B0604030504040204" pitchFamily="34" charset="0"/>
                <a:cs typeface="Tahoma" panose="020B0604030504040204" pitchFamily="34" charset="0"/>
              </a:rPr>
              <a:t>Зеркальный - представление руководства о том, что думает о компании целевая аудитория)</a:t>
            </a:r>
          </a:p>
        </p:txBody>
      </p:sp>
    </p:spTree>
    <p:extLst>
      <p:ext uri="{BB962C8B-B14F-4D97-AF65-F5344CB8AC3E}">
        <p14:creationId xmlns:p14="http://schemas.microsoft.com/office/powerpoint/2010/main" val="283903527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7" name="Freeform 161"/>
          <p:cNvSpPr>
            <a:spLocks/>
          </p:cNvSpPr>
          <p:nvPr/>
        </p:nvSpPr>
        <p:spPr bwMode="auto">
          <a:xfrm>
            <a:off x="9344025" y="5373688"/>
            <a:ext cx="0" cy="1587"/>
          </a:xfrm>
          <a:custGeom>
            <a:avLst/>
            <a:gdLst>
              <a:gd name="T0" fmla="*/ 0 w 3"/>
              <a:gd name="T1" fmla="*/ 0 h 1587"/>
              <a:gd name="T2" fmla="*/ 0 w 3"/>
              <a:gd name="T3" fmla="*/ 0 h 1587"/>
              <a:gd name="T4" fmla="*/ 0 w 3"/>
              <a:gd name="T5" fmla="*/ 0 h 1587"/>
              <a:gd name="T6" fmla="*/ 0 w 3"/>
              <a:gd name="T7" fmla="*/ 0 h 1587"/>
              <a:gd name="T8" fmla="*/ 0 w 3"/>
              <a:gd name="T9" fmla="*/ 0 h 1587"/>
              <a:gd name="T10" fmla="*/ 0 w 3"/>
              <a:gd name="T11" fmla="*/ 0 h 1587"/>
              <a:gd name="T12" fmla="*/ 0 60000 65536"/>
              <a:gd name="T13" fmla="*/ 0 60000 65536"/>
              <a:gd name="T14" fmla="*/ 0 60000 65536"/>
              <a:gd name="T15" fmla="*/ 0 60000 65536"/>
              <a:gd name="T16" fmla="*/ 0 60000 65536"/>
              <a:gd name="T17" fmla="*/ 0 60000 65536"/>
              <a:gd name="T18" fmla="*/ 0 w 3"/>
              <a:gd name="T19" fmla="*/ 0 h 1587"/>
              <a:gd name="T20" fmla="*/ 0 w 3"/>
              <a:gd name="T21" fmla="*/ 1587 h 1587"/>
            </a:gdLst>
            <a:ahLst/>
            <a:cxnLst>
              <a:cxn ang="T12">
                <a:pos x="T0" y="T1"/>
              </a:cxn>
              <a:cxn ang="T13">
                <a:pos x="T2" y="T3"/>
              </a:cxn>
              <a:cxn ang="T14">
                <a:pos x="T4" y="T5"/>
              </a:cxn>
              <a:cxn ang="T15">
                <a:pos x="T6" y="T7"/>
              </a:cxn>
              <a:cxn ang="T16">
                <a:pos x="T8" y="T9"/>
              </a:cxn>
              <a:cxn ang="T17">
                <a:pos x="T10" y="T11"/>
              </a:cxn>
            </a:cxnLst>
            <a:rect l="T18" t="T19" r="T20" b="T21"/>
            <a:pathLst>
              <a:path w="3" h="1587">
                <a:moveTo>
                  <a:pt x="3" y="0"/>
                </a:moveTo>
                <a:lnTo>
                  <a:pt x="3" y="0"/>
                </a:lnTo>
                <a:lnTo>
                  <a:pt x="2" y="0"/>
                </a:lnTo>
                <a:lnTo>
                  <a:pt x="0" y="0"/>
                </a:lnTo>
                <a:lnTo>
                  <a:pt x="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4251" name="TextBox 189"/>
          <p:cNvSpPr txBox="1">
            <a:spLocks noChangeArrowheads="1"/>
          </p:cNvSpPr>
          <p:nvPr/>
        </p:nvSpPr>
        <p:spPr bwMode="auto">
          <a:xfrm>
            <a:off x="0" y="260648"/>
            <a:ext cx="6269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ru-RU"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rPr>
              <a:t>Внутренний и внешний имидж</a:t>
            </a:r>
          </a:p>
        </p:txBody>
      </p:sp>
      <p:sp>
        <p:nvSpPr>
          <p:cNvPr id="176" name="Прямоугольник 189"/>
          <p:cNvSpPr>
            <a:spLocks noChangeArrowheads="1"/>
          </p:cNvSpPr>
          <p:nvPr/>
        </p:nvSpPr>
        <p:spPr bwMode="auto">
          <a:xfrm>
            <a:off x="-15552" y="1117798"/>
            <a:ext cx="4968552" cy="38540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66700" indent="180975"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indent="0" defTabSz="533400" eaLnBrk="1" hangingPunct="1">
              <a:lnSpc>
                <a:spcPct val="150000"/>
              </a:lnSpc>
              <a:spcAft>
                <a:spcPts val="0"/>
              </a:spcAft>
              <a:buClr>
                <a:srgbClr val="8E8E8E"/>
              </a:buClr>
            </a:pPr>
            <a:r>
              <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Внутренний имидж компании строится на корпоративной политике, на отношениях работников друг с другом и с менеджментом (стиль управления, коммуникация, внутренние регламенты)</a:t>
            </a:r>
          </a:p>
          <a:p>
            <a:pPr indent="0" defTabSz="533400" eaLnBrk="1" hangingPunct="1">
              <a:lnSpc>
                <a:spcPct val="150000"/>
              </a:lnSpc>
              <a:spcAft>
                <a:spcPts val="0"/>
              </a:spcAft>
              <a:buClr>
                <a:srgbClr val="8E8E8E"/>
              </a:buClr>
            </a:pPr>
            <a:endPar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endParaRPr>
          </a:p>
          <a:p>
            <a:pPr indent="0" defTabSz="533400" eaLnBrk="1" hangingPunct="1">
              <a:lnSpc>
                <a:spcPct val="150000"/>
              </a:lnSpc>
              <a:spcAft>
                <a:spcPts val="0"/>
              </a:spcAft>
              <a:buClr>
                <a:srgbClr val="8E8E8E"/>
              </a:buClr>
            </a:pPr>
            <a:r>
              <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Внешний имидж – все взаимодействия бренда с клиентами, партнерами, масс-медиа. (представление продукта, качество обслуживание, реклама, позиционирование на фоне конкурентов) </a:t>
            </a:r>
          </a:p>
        </p:txBody>
      </p:sp>
      <p:pic>
        <p:nvPicPr>
          <p:cNvPr id="3074" name="Picture 2" descr="Имидж организации: [формирование имиджа компании]">
            <a:extLst>
              <a:ext uri="{FF2B5EF4-FFF2-40B4-BE49-F238E27FC236}">
                <a16:creationId xmlns:a16="http://schemas.microsoft.com/office/drawing/2014/main" id="{355B87BF-77E6-8523-5ABF-E57611D954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1700808"/>
            <a:ext cx="4660776" cy="3108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9875994"/>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7" name="Freeform 161"/>
          <p:cNvSpPr>
            <a:spLocks/>
          </p:cNvSpPr>
          <p:nvPr/>
        </p:nvSpPr>
        <p:spPr bwMode="auto">
          <a:xfrm>
            <a:off x="9344025" y="5373688"/>
            <a:ext cx="0" cy="1587"/>
          </a:xfrm>
          <a:custGeom>
            <a:avLst/>
            <a:gdLst>
              <a:gd name="T0" fmla="*/ 0 w 3"/>
              <a:gd name="T1" fmla="*/ 0 h 1587"/>
              <a:gd name="T2" fmla="*/ 0 w 3"/>
              <a:gd name="T3" fmla="*/ 0 h 1587"/>
              <a:gd name="T4" fmla="*/ 0 w 3"/>
              <a:gd name="T5" fmla="*/ 0 h 1587"/>
              <a:gd name="T6" fmla="*/ 0 w 3"/>
              <a:gd name="T7" fmla="*/ 0 h 1587"/>
              <a:gd name="T8" fmla="*/ 0 w 3"/>
              <a:gd name="T9" fmla="*/ 0 h 1587"/>
              <a:gd name="T10" fmla="*/ 0 w 3"/>
              <a:gd name="T11" fmla="*/ 0 h 1587"/>
              <a:gd name="T12" fmla="*/ 0 60000 65536"/>
              <a:gd name="T13" fmla="*/ 0 60000 65536"/>
              <a:gd name="T14" fmla="*/ 0 60000 65536"/>
              <a:gd name="T15" fmla="*/ 0 60000 65536"/>
              <a:gd name="T16" fmla="*/ 0 60000 65536"/>
              <a:gd name="T17" fmla="*/ 0 60000 65536"/>
              <a:gd name="T18" fmla="*/ 0 w 3"/>
              <a:gd name="T19" fmla="*/ 0 h 1587"/>
              <a:gd name="T20" fmla="*/ 0 w 3"/>
              <a:gd name="T21" fmla="*/ 1587 h 1587"/>
            </a:gdLst>
            <a:ahLst/>
            <a:cxnLst>
              <a:cxn ang="T12">
                <a:pos x="T0" y="T1"/>
              </a:cxn>
              <a:cxn ang="T13">
                <a:pos x="T2" y="T3"/>
              </a:cxn>
              <a:cxn ang="T14">
                <a:pos x="T4" y="T5"/>
              </a:cxn>
              <a:cxn ang="T15">
                <a:pos x="T6" y="T7"/>
              </a:cxn>
              <a:cxn ang="T16">
                <a:pos x="T8" y="T9"/>
              </a:cxn>
              <a:cxn ang="T17">
                <a:pos x="T10" y="T11"/>
              </a:cxn>
            </a:cxnLst>
            <a:rect l="T18" t="T19" r="T20" b="T21"/>
            <a:pathLst>
              <a:path w="3" h="1587">
                <a:moveTo>
                  <a:pt x="3" y="0"/>
                </a:moveTo>
                <a:lnTo>
                  <a:pt x="3" y="0"/>
                </a:lnTo>
                <a:lnTo>
                  <a:pt x="2" y="0"/>
                </a:lnTo>
                <a:lnTo>
                  <a:pt x="0" y="0"/>
                </a:lnTo>
                <a:lnTo>
                  <a:pt x="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4251" name="TextBox 189"/>
          <p:cNvSpPr txBox="1">
            <a:spLocks noChangeArrowheads="1"/>
          </p:cNvSpPr>
          <p:nvPr/>
        </p:nvSpPr>
        <p:spPr bwMode="auto">
          <a:xfrm>
            <a:off x="0" y="260648"/>
            <a:ext cx="6269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ru-RU"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rPr>
              <a:t>Факторы, влияющие на создание имиджа</a:t>
            </a:r>
          </a:p>
        </p:txBody>
      </p:sp>
      <p:sp>
        <p:nvSpPr>
          <p:cNvPr id="170" name="Прямоугольник 189">
            <a:extLst>
              <a:ext uri="{FF2B5EF4-FFF2-40B4-BE49-F238E27FC236}">
                <a16:creationId xmlns:a16="http://schemas.microsoft.com/office/drawing/2014/main" id="{7F1F10FA-3A09-4293-940A-4D05434EC733}"/>
              </a:ext>
            </a:extLst>
          </p:cNvPr>
          <p:cNvSpPr>
            <a:spLocks noChangeArrowheads="1"/>
          </p:cNvSpPr>
          <p:nvPr/>
        </p:nvSpPr>
        <p:spPr bwMode="auto">
          <a:xfrm>
            <a:off x="56456" y="1340768"/>
            <a:ext cx="6048672" cy="4546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66700" indent="180975"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defTabSz="533400" eaLnBrk="1" hangingPunct="1">
              <a:lnSpc>
                <a:spcPct val="150000"/>
              </a:lnSpc>
              <a:spcAft>
                <a:spcPts val="0"/>
              </a:spcAft>
              <a:buClr>
                <a:srgbClr val="8E8E8E"/>
              </a:buClr>
              <a:buFont typeface="Wingdings" pitchFamily="2" charset="2"/>
              <a:buBlip>
                <a:blip r:embed="rId3"/>
              </a:buBlip>
            </a:pPr>
            <a:r>
              <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Качество и конкурентоспособность — выделяющийся продукт с УТП и качеством.</a:t>
            </a:r>
          </a:p>
          <a:p>
            <a:pPr defTabSz="533400" eaLnBrk="1" hangingPunct="1">
              <a:lnSpc>
                <a:spcPct val="150000"/>
              </a:lnSpc>
              <a:spcAft>
                <a:spcPts val="0"/>
              </a:spcAft>
              <a:buClr>
                <a:srgbClr val="8E8E8E"/>
              </a:buClr>
              <a:buFont typeface="Wingdings" pitchFamily="2" charset="2"/>
              <a:buBlip>
                <a:blip r:embed="rId3"/>
              </a:buBlip>
            </a:pPr>
            <a:r>
              <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Организационная культура — компетентность персонала, разделяющего ценности бренда.</a:t>
            </a:r>
          </a:p>
          <a:p>
            <a:pPr defTabSz="533400" eaLnBrk="1" hangingPunct="1">
              <a:lnSpc>
                <a:spcPct val="150000"/>
              </a:lnSpc>
              <a:spcAft>
                <a:spcPts val="0"/>
              </a:spcAft>
              <a:buClr>
                <a:srgbClr val="8E8E8E"/>
              </a:buClr>
              <a:buFont typeface="Wingdings" pitchFamily="2" charset="2"/>
              <a:buBlip>
                <a:blip r:embed="rId3"/>
              </a:buBlip>
            </a:pPr>
            <a:r>
              <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Финансовое положение — стабильность и </a:t>
            </a:r>
            <a:r>
              <a:rPr lang="ru-RU" sz="1500" dirty="0" err="1">
                <a:solidFill>
                  <a:srgbClr val="002394"/>
                </a:solidFill>
                <a:latin typeface="Tahoma" panose="020B0604030504040204" pitchFamily="34" charset="0"/>
                <a:ea typeface="Tahoma" panose="020B0604030504040204" pitchFamily="34" charset="0"/>
                <a:cs typeface="Tahoma" panose="020B0604030504040204" pitchFamily="34" charset="0"/>
              </a:rPr>
              <a:t>клиентоориентированная</a:t>
            </a:r>
            <a:r>
              <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 ценовая политика.</a:t>
            </a:r>
          </a:p>
          <a:p>
            <a:pPr defTabSz="533400" eaLnBrk="1" hangingPunct="1">
              <a:lnSpc>
                <a:spcPct val="150000"/>
              </a:lnSpc>
              <a:spcAft>
                <a:spcPts val="0"/>
              </a:spcAft>
              <a:buClr>
                <a:srgbClr val="8E8E8E"/>
              </a:buClr>
              <a:buFont typeface="Wingdings" pitchFamily="2" charset="2"/>
              <a:buBlip>
                <a:blip r:embed="rId3"/>
              </a:buBlip>
            </a:pPr>
            <a:r>
              <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Управленческий стиль — компетентные руководители для роста бизнеса и кадров.</a:t>
            </a:r>
          </a:p>
          <a:p>
            <a:pPr defTabSz="533400" eaLnBrk="1" hangingPunct="1">
              <a:lnSpc>
                <a:spcPct val="150000"/>
              </a:lnSpc>
              <a:spcAft>
                <a:spcPts val="0"/>
              </a:spcAft>
              <a:buClr>
                <a:srgbClr val="8E8E8E"/>
              </a:buClr>
              <a:buFont typeface="Wingdings" pitchFamily="2" charset="2"/>
              <a:buBlip>
                <a:blip r:embed="rId3"/>
              </a:buBlip>
            </a:pPr>
            <a:r>
              <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Имидж владельца — профессионализм, надежность и харизма руководителя.</a:t>
            </a:r>
          </a:p>
          <a:p>
            <a:pPr defTabSz="533400" eaLnBrk="1" hangingPunct="1">
              <a:lnSpc>
                <a:spcPct val="150000"/>
              </a:lnSpc>
              <a:spcAft>
                <a:spcPts val="0"/>
              </a:spcAft>
              <a:buClr>
                <a:srgbClr val="8E8E8E"/>
              </a:buClr>
              <a:buFont typeface="Wingdings" pitchFamily="2" charset="2"/>
              <a:buBlip>
                <a:blip r:embed="rId3"/>
              </a:buBlip>
            </a:pPr>
            <a:r>
              <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Упоминания в СМИ — статьи, пресс-релизы, экспертные цитаты для позиционирования.</a:t>
            </a:r>
          </a:p>
          <a:p>
            <a:pPr defTabSz="533400" eaLnBrk="1" hangingPunct="1">
              <a:lnSpc>
                <a:spcPct val="150000"/>
              </a:lnSpc>
              <a:spcAft>
                <a:spcPts val="0"/>
              </a:spcAft>
              <a:buClr>
                <a:srgbClr val="8E8E8E"/>
              </a:buClr>
              <a:buFont typeface="Wingdings" pitchFamily="2" charset="2"/>
              <a:buBlip>
                <a:blip r:embed="rId3"/>
              </a:buBlip>
            </a:pPr>
            <a:endPar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endParaRPr>
          </a:p>
        </p:txBody>
      </p:sp>
      <p:pic>
        <p:nvPicPr>
          <p:cNvPr id="4098" name="Picture 2" descr="Фактор – Бесплатные иконки: бизнес">
            <a:extLst>
              <a:ext uri="{FF2B5EF4-FFF2-40B4-BE49-F238E27FC236}">
                <a16:creationId xmlns:a16="http://schemas.microsoft.com/office/drawing/2014/main" id="{65789065-DBA9-29AD-873E-C2BB2ADE3D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9813" y="1341581"/>
            <a:ext cx="3789527" cy="3789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934145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7" name="Freeform 161"/>
          <p:cNvSpPr>
            <a:spLocks/>
          </p:cNvSpPr>
          <p:nvPr/>
        </p:nvSpPr>
        <p:spPr bwMode="auto">
          <a:xfrm>
            <a:off x="9344025" y="5373688"/>
            <a:ext cx="0" cy="1587"/>
          </a:xfrm>
          <a:custGeom>
            <a:avLst/>
            <a:gdLst>
              <a:gd name="T0" fmla="*/ 0 w 3"/>
              <a:gd name="T1" fmla="*/ 0 h 1587"/>
              <a:gd name="T2" fmla="*/ 0 w 3"/>
              <a:gd name="T3" fmla="*/ 0 h 1587"/>
              <a:gd name="T4" fmla="*/ 0 w 3"/>
              <a:gd name="T5" fmla="*/ 0 h 1587"/>
              <a:gd name="T6" fmla="*/ 0 w 3"/>
              <a:gd name="T7" fmla="*/ 0 h 1587"/>
              <a:gd name="T8" fmla="*/ 0 w 3"/>
              <a:gd name="T9" fmla="*/ 0 h 1587"/>
              <a:gd name="T10" fmla="*/ 0 w 3"/>
              <a:gd name="T11" fmla="*/ 0 h 1587"/>
              <a:gd name="T12" fmla="*/ 0 60000 65536"/>
              <a:gd name="T13" fmla="*/ 0 60000 65536"/>
              <a:gd name="T14" fmla="*/ 0 60000 65536"/>
              <a:gd name="T15" fmla="*/ 0 60000 65536"/>
              <a:gd name="T16" fmla="*/ 0 60000 65536"/>
              <a:gd name="T17" fmla="*/ 0 60000 65536"/>
              <a:gd name="T18" fmla="*/ 0 w 3"/>
              <a:gd name="T19" fmla="*/ 0 h 1587"/>
              <a:gd name="T20" fmla="*/ 0 w 3"/>
              <a:gd name="T21" fmla="*/ 1587 h 1587"/>
            </a:gdLst>
            <a:ahLst/>
            <a:cxnLst>
              <a:cxn ang="T12">
                <a:pos x="T0" y="T1"/>
              </a:cxn>
              <a:cxn ang="T13">
                <a:pos x="T2" y="T3"/>
              </a:cxn>
              <a:cxn ang="T14">
                <a:pos x="T4" y="T5"/>
              </a:cxn>
              <a:cxn ang="T15">
                <a:pos x="T6" y="T7"/>
              </a:cxn>
              <a:cxn ang="T16">
                <a:pos x="T8" y="T9"/>
              </a:cxn>
              <a:cxn ang="T17">
                <a:pos x="T10" y="T11"/>
              </a:cxn>
            </a:cxnLst>
            <a:rect l="T18" t="T19" r="T20" b="T21"/>
            <a:pathLst>
              <a:path w="3" h="1587">
                <a:moveTo>
                  <a:pt x="3" y="0"/>
                </a:moveTo>
                <a:lnTo>
                  <a:pt x="3" y="0"/>
                </a:lnTo>
                <a:lnTo>
                  <a:pt x="2" y="0"/>
                </a:lnTo>
                <a:lnTo>
                  <a:pt x="0" y="0"/>
                </a:lnTo>
                <a:lnTo>
                  <a:pt x="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4251" name="TextBox 189"/>
          <p:cNvSpPr txBox="1">
            <a:spLocks noChangeArrowheads="1"/>
          </p:cNvSpPr>
          <p:nvPr/>
        </p:nvSpPr>
        <p:spPr bwMode="auto">
          <a:xfrm>
            <a:off x="0" y="260648"/>
            <a:ext cx="6269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ru-RU"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rPr>
              <a:t>Инструменты создания и улучшения имиджа</a:t>
            </a:r>
          </a:p>
        </p:txBody>
      </p:sp>
      <p:sp>
        <p:nvSpPr>
          <p:cNvPr id="170" name="Прямоугольник 189">
            <a:extLst>
              <a:ext uri="{FF2B5EF4-FFF2-40B4-BE49-F238E27FC236}">
                <a16:creationId xmlns:a16="http://schemas.microsoft.com/office/drawing/2014/main" id="{7F1F10FA-3A09-4293-940A-4D05434EC733}"/>
              </a:ext>
            </a:extLst>
          </p:cNvPr>
          <p:cNvSpPr>
            <a:spLocks noChangeArrowheads="1"/>
          </p:cNvSpPr>
          <p:nvPr/>
        </p:nvSpPr>
        <p:spPr bwMode="auto">
          <a:xfrm>
            <a:off x="56456" y="1340768"/>
            <a:ext cx="6048672" cy="489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66700" indent="180975"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defTabSz="533400" eaLnBrk="1" hangingPunct="1">
              <a:lnSpc>
                <a:spcPct val="150000"/>
              </a:lnSpc>
              <a:spcAft>
                <a:spcPts val="0"/>
              </a:spcAft>
              <a:buClr>
                <a:srgbClr val="8E8E8E"/>
              </a:buClr>
              <a:buFont typeface="Wingdings" pitchFamily="2" charset="2"/>
              <a:buBlip>
                <a:blip r:embed="rId3"/>
              </a:buBlip>
            </a:pPr>
            <a:r>
              <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Фирменный стиль — яркий, профессиональный, ассоциируемый с брендом.</a:t>
            </a:r>
          </a:p>
          <a:p>
            <a:pPr defTabSz="533400" eaLnBrk="1" hangingPunct="1">
              <a:lnSpc>
                <a:spcPct val="150000"/>
              </a:lnSpc>
              <a:spcAft>
                <a:spcPts val="0"/>
              </a:spcAft>
              <a:buClr>
                <a:srgbClr val="8E8E8E"/>
              </a:buClr>
              <a:buFont typeface="Wingdings" pitchFamily="2" charset="2"/>
              <a:buBlip>
                <a:blip r:embed="rId3"/>
              </a:buBlip>
            </a:pPr>
            <a:r>
              <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Имиджевая реклама — на основе брендбука.</a:t>
            </a:r>
          </a:p>
          <a:p>
            <a:pPr defTabSz="533400" eaLnBrk="1" hangingPunct="1">
              <a:lnSpc>
                <a:spcPct val="150000"/>
              </a:lnSpc>
              <a:spcAft>
                <a:spcPts val="0"/>
              </a:spcAft>
              <a:buClr>
                <a:srgbClr val="8E8E8E"/>
              </a:buClr>
              <a:buFont typeface="Wingdings" pitchFamily="2" charset="2"/>
              <a:buBlip>
                <a:blip r:embed="rId3"/>
              </a:buBlip>
            </a:pPr>
            <a:r>
              <a:rPr lang="ru-RU" sz="1500" dirty="0" err="1">
                <a:solidFill>
                  <a:srgbClr val="002394"/>
                </a:solidFill>
                <a:latin typeface="Tahoma" panose="020B0604030504040204" pitchFamily="34" charset="0"/>
                <a:ea typeface="Tahoma" panose="020B0604030504040204" pitchFamily="34" charset="0"/>
                <a:cs typeface="Tahoma" panose="020B0604030504040204" pitchFamily="34" charset="0"/>
              </a:rPr>
              <a:t>Диджитал</a:t>
            </a:r>
            <a:r>
              <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 — соцсети, сайт, </a:t>
            </a:r>
            <a:r>
              <a:rPr lang="ru-RU" sz="1500" dirty="0" err="1">
                <a:solidFill>
                  <a:srgbClr val="002394"/>
                </a:solidFill>
                <a:latin typeface="Tahoma" panose="020B0604030504040204" pitchFamily="34" charset="0"/>
                <a:ea typeface="Tahoma" panose="020B0604030504040204" pitchFamily="34" charset="0"/>
                <a:cs typeface="Tahoma" panose="020B0604030504040204" pitchFamily="34" charset="0"/>
              </a:rPr>
              <a:t>email</a:t>
            </a:r>
            <a:r>
              <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-рассылки.</a:t>
            </a:r>
          </a:p>
          <a:p>
            <a:pPr defTabSz="533400" eaLnBrk="1" hangingPunct="1">
              <a:lnSpc>
                <a:spcPct val="150000"/>
              </a:lnSpc>
              <a:spcAft>
                <a:spcPts val="0"/>
              </a:spcAft>
              <a:buClr>
                <a:srgbClr val="8E8E8E"/>
              </a:buClr>
              <a:buFont typeface="Wingdings" pitchFamily="2" charset="2"/>
              <a:buBlip>
                <a:blip r:embed="rId3"/>
              </a:buBlip>
            </a:pPr>
            <a:r>
              <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Экспертный блог — познавательные материалы для ЦА.</a:t>
            </a:r>
          </a:p>
          <a:p>
            <a:pPr defTabSz="533400" eaLnBrk="1" hangingPunct="1">
              <a:lnSpc>
                <a:spcPct val="150000"/>
              </a:lnSpc>
              <a:spcAft>
                <a:spcPts val="0"/>
              </a:spcAft>
              <a:buClr>
                <a:srgbClr val="8E8E8E"/>
              </a:buClr>
              <a:buFont typeface="Wingdings" pitchFamily="2" charset="2"/>
              <a:buBlip>
                <a:blip r:embed="rId3"/>
              </a:buBlip>
            </a:pPr>
            <a:r>
              <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Ивенты — для потенциальных клиентов и партнеров.</a:t>
            </a:r>
          </a:p>
          <a:p>
            <a:pPr defTabSz="533400" eaLnBrk="1" hangingPunct="1">
              <a:lnSpc>
                <a:spcPct val="150000"/>
              </a:lnSpc>
              <a:spcAft>
                <a:spcPts val="0"/>
              </a:spcAft>
              <a:buClr>
                <a:srgbClr val="8E8E8E"/>
              </a:buClr>
              <a:buFont typeface="Wingdings" pitchFamily="2" charset="2"/>
              <a:buBlip>
                <a:blip r:embed="rId3"/>
              </a:buBlip>
            </a:pPr>
            <a:r>
              <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Социальная активность — благотворительность, социальные проекты.</a:t>
            </a:r>
          </a:p>
          <a:p>
            <a:pPr defTabSz="533400" eaLnBrk="1" hangingPunct="1">
              <a:lnSpc>
                <a:spcPct val="150000"/>
              </a:lnSpc>
              <a:spcAft>
                <a:spcPts val="0"/>
              </a:spcAft>
              <a:buClr>
                <a:srgbClr val="8E8E8E"/>
              </a:buClr>
              <a:buFont typeface="Wingdings" pitchFamily="2" charset="2"/>
              <a:buBlip>
                <a:blip r:embed="rId3"/>
              </a:buBlip>
            </a:pPr>
            <a:r>
              <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Работа с СМИ — пресс-релизы, инфоповоды.</a:t>
            </a:r>
          </a:p>
          <a:p>
            <a:pPr defTabSz="533400" eaLnBrk="1" hangingPunct="1">
              <a:lnSpc>
                <a:spcPct val="150000"/>
              </a:lnSpc>
              <a:spcAft>
                <a:spcPts val="0"/>
              </a:spcAft>
              <a:buClr>
                <a:srgbClr val="8E8E8E"/>
              </a:buClr>
              <a:buFont typeface="Wingdings" pitchFamily="2" charset="2"/>
              <a:buBlip>
                <a:blip r:embed="rId3"/>
              </a:buBlip>
            </a:pPr>
            <a:r>
              <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Обратная связь — работа с негативом, опросы клиентов.</a:t>
            </a:r>
          </a:p>
          <a:p>
            <a:pPr defTabSz="533400" eaLnBrk="1" hangingPunct="1">
              <a:lnSpc>
                <a:spcPct val="150000"/>
              </a:lnSpc>
              <a:spcAft>
                <a:spcPts val="0"/>
              </a:spcAft>
              <a:buClr>
                <a:srgbClr val="8E8E8E"/>
              </a:buClr>
              <a:buFont typeface="Wingdings" pitchFamily="2" charset="2"/>
              <a:buBlip>
                <a:blip r:embed="rId3"/>
              </a:buBlip>
            </a:pPr>
            <a:r>
              <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Партнерские программы — кросс-маркетинг, совместные проекты.</a:t>
            </a:r>
          </a:p>
          <a:p>
            <a:pPr defTabSz="533400" eaLnBrk="1" hangingPunct="1">
              <a:lnSpc>
                <a:spcPct val="150000"/>
              </a:lnSpc>
              <a:spcAft>
                <a:spcPts val="0"/>
              </a:spcAft>
              <a:buClr>
                <a:srgbClr val="8E8E8E"/>
              </a:buClr>
              <a:buFont typeface="Wingdings" pitchFamily="2" charset="2"/>
              <a:buBlip>
                <a:blip r:embed="rId3"/>
              </a:buBlip>
            </a:pPr>
            <a:r>
              <a:rPr lang="ru-RU" sz="1500" dirty="0">
                <a:solidFill>
                  <a:srgbClr val="002394"/>
                </a:solidFill>
                <a:latin typeface="Tahoma" panose="020B0604030504040204" pitchFamily="34" charset="0"/>
                <a:ea typeface="Tahoma" panose="020B0604030504040204" pitchFamily="34" charset="0"/>
                <a:cs typeface="Tahoma" panose="020B0604030504040204" pitchFamily="34" charset="0"/>
              </a:rPr>
              <a:t>Амбассадоры бренда — сторонники для продвижения и защиты.</a:t>
            </a:r>
          </a:p>
        </p:txBody>
      </p:sp>
      <p:pic>
        <p:nvPicPr>
          <p:cNvPr id="5122" name="Picture 2" descr="Toolbox free icons designed by Freepik">
            <a:extLst>
              <a:ext uri="{FF2B5EF4-FFF2-40B4-BE49-F238E27FC236}">
                <a16:creationId xmlns:a16="http://schemas.microsoft.com/office/drawing/2014/main" id="{07DCB345-B657-2E1E-AD99-B4FDF29C02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81192" y="2209800"/>
            <a:ext cx="24384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4582705"/>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7" name="Freeform 161"/>
          <p:cNvSpPr>
            <a:spLocks/>
          </p:cNvSpPr>
          <p:nvPr/>
        </p:nvSpPr>
        <p:spPr bwMode="auto">
          <a:xfrm>
            <a:off x="9344025" y="5373688"/>
            <a:ext cx="0" cy="1587"/>
          </a:xfrm>
          <a:custGeom>
            <a:avLst/>
            <a:gdLst>
              <a:gd name="T0" fmla="*/ 0 w 3"/>
              <a:gd name="T1" fmla="*/ 0 h 1587"/>
              <a:gd name="T2" fmla="*/ 0 w 3"/>
              <a:gd name="T3" fmla="*/ 0 h 1587"/>
              <a:gd name="T4" fmla="*/ 0 w 3"/>
              <a:gd name="T5" fmla="*/ 0 h 1587"/>
              <a:gd name="T6" fmla="*/ 0 w 3"/>
              <a:gd name="T7" fmla="*/ 0 h 1587"/>
              <a:gd name="T8" fmla="*/ 0 w 3"/>
              <a:gd name="T9" fmla="*/ 0 h 1587"/>
              <a:gd name="T10" fmla="*/ 0 w 3"/>
              <a:gd name="T11" fmla="*/ 0 h 1587"/>
              <a:gd name="T12" fmla="*/ 0 60000 65536"/>
              <a:gd name="T13" fmla="*/ 0 60000 65536"/>
              <a:gd name="T14" fmla="*/ 0 60000 65536"/>
              <a:gd name="T15" fmla="*/ 0 60000 65536"/>
              <a:gd name="T16" fmla="*/ 0 60000 65536"/>
              <a:gd name="T17" fmla="*/ 0 60000 65536"/>
              <a:gd name="T18" fmla="*/ 0 w 3"/>
              <a:gd name="T19" fmla="*/ 0 h 1587"/>
              <a:gd name="T20" fmla="*/ 0 w 3"/>
              <a:gd name="T21" fmla="*/ 1587 h 1587"/>
            </a:gdLst>
            <a:ahLst/>
            <a:cxnLst>
              <a:cxn ang="T12">
                <a:pos x="T0" y="T1"/>
              </a:cxn>
              <a:cxn ang="T13">
                <a:pos x="T2" y="T3"/>
              </a:cxn>
              <a:cxn ang="T14">
                <a:pos x="T4" y="T5"/>
              </a:cxn>
              <a:cxn ang="T15">
                <a:pos x="T6" y="T7"/>
              </a:cxn>
              <a:cxn ang="T16">
                <a:pos x="T8" y="T9"/>
              </a:cxn>
              <a:cxn ang="T17">
                <a:pos x="T10" y="T11"/>
              </a:cxn>
            </a:cxnLst>
            <a:rect l="T18" t="T19" r="T20" b="T21"/>
            <a:pathLst>
              <a:path w="3" h="1587">
                <a:moveTo>
                  <a:pt x="3" y="0"/>
                </a:moveTo>
                <a:lnTo>
                  <a:pt x="3" y="0"/>
                </a:lnTo>
                <a:lnTo>
                  <a:pt x="2" y="0"/>
                </a:lnTo>
                <a:lnTo>
                  <a:pt x="0" y="0"/>
                </a:lnTo>
                <a:lnTo>
                  <a:pt x="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4251" name="TextBox 189"/>
          <p:cNvSpPr txBox="1">
            <a:spLocks noChangeArrowheads="1"/>
          </p:cNvSpPr>
          <p:nvPr/>
        </p:nvSpPr>
        <p:spPr bwMode="auto">
          <a:xfrm>
            <a:off x="0" y="260648"/>
            <a:ext cx="6269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ru-RU"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rPr>
              <a:t>Позиционирование бренда</a:t>
            </a:r>
          </a:p>
        </p:txBody>
      </p:sp>
      <p:sp>
        <p:nvSpPr>
          <p:cNvPr id="2" name="Прямоугольник 1"/>
          <p:cNvSpPr/>
          <p:nvPr/>
        </p:nvSpPr>
        <p:spPr>
          <a:xfrm>
            <a:off x="219372" y="1387515"/>
            <a:ext cx="6269029" cy="4207242"/>
          </a:xfrm>
          <a:prstGeom prst="rect">
            <a:avLst/>
          </a:prstGeom>
        </p:spPr>
        <p:txBody>
          <a:bodyPr wrap="square">
            <a:spAutoFit/>
          </a:bodyPr>
          <a:lstStyle/>
          <a:p>
            <a:pPr>
              <a:defRPr/>
            </a:pPr>
            <a:r>
              <a:rPr lang="ru-RU" sz="1600" b="1" dirty="0">
                <a:solidFill>
                  <a:srgbClr val="FF7B21"/>
                </a:solidFill>
                <a:latin typeface="Tahoma" panose="020B0604030504040204" pitchFamily="34" charset="0"/>
                <a:ea typeface="Tahoma" panose="020B0604030504040204" pitchFamily="34" charset="0"/>
                <a:cs typeface="Tahoma" panose="020B0604030504040204" pitchFamily="34" charset="0"/>
              </a:rPr>
              <a:t>Статус и роль</a:t>
            </a:r>
            <a:r>
              <a:rPr lang="en-US" sz="1600" b="1" dirty="0">
                <a:solidFill>
                  <a:srgbClr val="FF7B21"/>
                </a:solidFill>
                <a:latin typeface="Tahoma" panose="020B0604030504040204" pitchFamily="34" charset="0"/>
                <a:ea typeface="Tahoma" panose="020B0604030504040204" pitchFamily="34" charset="0"/>
                <a:cs typeface="Tahoma" panose="020B0604030504040204" pitchFamily="34" charset="0"/>
              </a:rPr>
              <a:t>:</a:t>
            </a:r>
            <a:endParaRPr lang="ru-RU" sz="1600" b="1" dirty="0">
              <a:solidFill>
                <a:srgbClr val="FF7B21"/>
              </a:solidFill>
              <a:latin typeface="Tahoma" panose="020B0604030504040204" pitchFamily="34" charset="0"/>
              <a:ea typeface="Tahoma" panose="020B0604030504040204" pitchFamily="34" charset="0"/>
              <a:cs typeface="Tahoma" panose="020B0604030504040204" pitchFamily="34" charset="0"/>
            </a:endParaRPr>
          </a:p>
          <a:p>
            <a:pPr defTabSz="533400" eaLnBrk="1" hangingPunct="1">
              <a:lnSpc>
                <a:spcPct val="200000"/>
              </a:lnSpc>
              <a:spcAft>
                <a:spcPts val="0"/>
              </a:spcAft>
              <a:buClr>
                <a:srgbClr val="8E8E8E"/>
              </a:buClr>
              <a:buFont typeface="Wingdings" pitchFamily="2" charset="2"/>
              <a:buBlip>
                <a:blip r:embed="rId3"/>
              </a:buBlip>
            </a:pPr>
            <a:r>
              <a:rPr lang="ru-RU" sz="1400" b="1" dirty="0">
                <a:solidFill>
                  <a:srgbClr val="002394"/>
                </a:solidFill>
                <a:latin typeface="Tahoma" panose="020B0604030504040204" pitchFamily="34" charset="0"/>
                <a:ea typeface="Tahoma" panose="020B0604030504040204" pitchFamily="34" charset="0"/>
                <a:cs typeface="Tahoma" panose="020B0604030504040204" pitchFamily="34" charset="0"/>
              </a:rPr>
              <a:t> Банк определяет себя как «опорный банк оборонно-промышленного комплекса», что формирует образ стратегически важного и надежного института, связанного с безопасностью и развитием страны.</a:t>
            </a:r>
          </a:p>
          <a:p>
            <a:pPr defTabSz="533400" eaLnBrk="1" hangingPunct="1">
              <a:lnSpc>
                <a:spcPct val="200000"/>
              </a:lnSpc>
              <a:spcAft>
                <a:spcPts val="0"/>
              </a:spcAft>
              <a:buClr>
                <a:srgbClr val="8E8E8E"/>
              </a:buClr>
            </a:pPr>
            <a:r>
              <a:rPr lang="ru-RU" sz="1600" b="1" dirty="0">
                <a:solidFill>
                  <a:srgbClr val="FF7B21"/>
                </a:solidFill>
                <a:latin typeface="Tahoma" panose="020B0604030504040204" pitchFamily="34" charset="0"/>
                <a:ea typeface="Tahoma" panose="020B0604030504040204" pitchFamily="34" charset="0"/>
                <a:cs typeface="Tahoma" panose="020B0604030504040204" pitchFamily="34" charset="0"/>
              </a:rPr>
              <a:t>Ценности и аудитория:</a:t>
            </a:r>
          </a:p>
          <a:p>
            <a:pPr defTabSz="533400" eaLnBrk="1" hangingPunct="1">
              <a:lnSpc>
                <a:spcPct val="200000"/>
              </a:lnSpc>
              <a:spcAft>
                <a:spcPts val="0"/>
              </a:spcAft>
              <a:buClr>
                <a:srgbClr val="8E8E8E"/>
              </a:buClr>
              <a:buFont typeface="Wingdings" pitchFamily="2" charset="2"/>
              <a:buBlip>
                <a:blip r:embed="rId3"/>
              </a:buBlip>
            </a:pPr>
            <a:r>
              <a:rPr lang="ru-RU" sz="1400" b="1" dirty="0">
                <a:solidFill>
                  <a:srgbClr val="002394"/>
                </a:solidFill>
                <a:latin typeface="Tahoma" panose="020B0604030504040204" pitchFamily="34" charset="0"/>
                <a:ea typeface="Tahoma" panose="020B0604030504040204" pitchFamily="34" charset="0"/>
                <a:cs typeface="Tahoma" panose="020B0604030504040204" pitchFamily="34" charset="0"/>
              </a:rPr>
              <a:t>«Банк сильных людей» обращен как к отраслевым лидерам, так и к широкой аудитории, делая акцент на силе, развитии и созидании. В коммуникациях подчеркиваются общечеловеческие ценности</a:t>
            </a:r>
          </a:p>
        </p:txBody>
      </p:sp>
      <p:pic>
        <p:nvPicPr>
          <p:cNvPr id="8" name="Рисунок 7">
            <a:extLst>
              <a:ext uri="{FF2B5EF4-FFF2-40B4-BE49-F238E27FC236}">
                <a16:creationId xmlns:a16="http://schemas.microsoft.com/office/drawing/2014/main" id="{DECC8463-CCB8-4FC9-8BC9-57202EC81819}"/>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5795465" y="1367046"/>
            <a:ext cx="3088310" cy="3937961"/>
          </a:xfrm>
          <a:prstGeom prst="rect">
            <a:avLst/>
          </a:prstGeom>
        </p:spPr>
      </p:pic>
    </p:spTree>
    <p:extLst>
      <p:ext uri="{BB962C8B-B14F-4D97-AF65-F5344CB8AC3E}">
        <p14:creationId xmlns:p14="http://schemas.microsoft.com/office/powerpoint/2010/main" val="79121903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7" name="Freeform 161"/>
          <p:cNvSpPr>
            <a:spLocks/>
          </p:cNvSpPr>
          <p:nvPr/>
        </p:nvSpPr>
        <p:spPr bwMode="auto">
          <a:xfrm>
            <a:off x="9344025" y="5373688"/>
            <a:ext cx="0" cy="1587"/>
          </a:xfrm>
          <a:custGeom>
            <a:avLst/>
            <a:gdLst>
              <a:gd name="T0" fmla="*/ 0 w 3"/>
              <a:gd name="T1" fmla="*/ 0 h 1587"/>
              <a:gd name="T2" fmla="*/ 0 w 3"/>
              <a:gd name="T3" fmla="*/ 0 h 1587"/>
              <a:gd name="T4" fmla="*/ 0 w 3"/>
              <a:gd name="T5" fmla="*/ 0 h 1587"/>
              <a:gd name="T6" fmla="*/ 0 w 3"/>
              <a:gd name="T7" fmla="*/ 0 h 1587"/>
              <a:gd name="T8" fmla="*/ 0 w 3"/>
              <a:gd name="T9" fmla="*/ 0 h 1587"/>
              <a:gd name="T10" fmla="*/ 0 w 3"/>
              <a:gd name="T11" fmla="*/ 0 h 1587"/>
              <a:gd name="T12" fmla="*/ 0 60000 65536"/>
              <a:gd name="T13" fmla="*/ 0 60000 65536"/>
              <a:gd name="T14" fmla="*/ 0 60000 65536"/>
              <a:gd name="T15" fmla="*/ 0 60000 65536"/>
              <a:gd name="T16" fmla="*/ 0 60000 65536"/>
              <a:gd name="T17" fmla="*/ 0 60000 65536"/>
              <a:gd name="T18" fmla="*/ 0 w 3"/>
              <a:gd name="T19" fmla="*/ 0 h 1587"/>
              <a:gd name="T20" fmla="*/ 0 w 3"/>
              <a:gd name="T21" fmla="*/ 1587 h 1587"/>
            </a:gdLst>
            <a:ahLst/>
            <a:cxnLst>
              <a:cxn ang="T12">
                <a:pos x="T0" y="T1"/>
              </a:cxn>
              <a:cxn ang="T13">
                <a:pos x="T2" y="T3"/>
              </a:cxn>
              <a:cxn ang="T14">
                <a:pos x="T4" y="T5"/>
              </a:cxn>
              <a:cxn ang="T15">
                <a:pos x="T6" y="T7"/>
              </a:cxn>
              <a:cxn ang="T16">
                <a:pos x="T8" y="T9"/>
              </a:cxn>
              <a:cxn ang="T17">
                <a:pos x="T10" y="T11"/>
              </a:cxn>
            </a:cxnLst>
            <a:rect l="T18" t="T19" r="T20" b="T21"/>
            <a:pathLst>
              <a:path w="3" h="1587">
                <a:moveTo>
                  <a:pt x="3" y="0"/>
                </a:moveTo>
                <a:lnTo>
                  <a:pt x="3" y="0"/>
                </a:lnTo>
                <a:lnTo>
                  <a:pt x="2" y="0"/>
                </a:lnTo>
                <a:lnTo>
                  <a:pt x="0" y="0"/>
                </a:lnTo>
                <a:lnTo>
                  <a:pt x="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4251" name="TextBox 189"/>
          <p:cNvSpPr txBox="1">
            <a:spLocks noChangeArrowheads="1"/>
          </p:cNvSpPr>
          <p:nvPr/>
        </p:nvSpPr>
        <p:spPr bwMode="auto">
          <a:xfrm>
            <a:off x="0" y="260648"/>
            <a:ext cx="6269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ru-RU"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rPr>
              <a:t>Позиционирование бренда</a:t>
            </a:r>
          </a:p>
        </p:txBody>
      </p:sp>
      <p:sp>
        <p:nvSpPr>
          <p:cNvPr id="2" name="Прямоугольник 1"/>
          <p:cNvSpPr/>
          <p:nvPr/>
        </p:nvSpPr>
        <p:spPr>
          <a:xfrm>
            <a:off x="219373" y="1387515"/>
            <a:ext cx="5576092" cy="4453463"/>
          </a:xfrm>
          <a:prstGeom prst="rect">
            <a:avLst/>
          </a:prstGeom>
        </p:spPr>
        <p:txBody>
          <a:bodyPr wrap="square">
            <a:spAutoFit/>
          </a:bodyPr>
          <a:lstStyle/>
          <a:p>
            <a:pPr defTabSz="533400" eaLnBrk="1" hangingPunct="1">
              <a:lnSpc>
                <a:spcPct val="200000"/>
              </a:lnSpc>
              <a:spcAft>
                <a:spcPts val="0"/>
              </a:spcAft>
              <a:buClr>
                <a:srgbClr val="8E8E8E"/>
              </a:buClr>
            </a:pPr>
            <a:r>
              <a:rPr lang="ru-RU" sz="1600" b="1" dirty="0">
                <a:solidFill>
                  <a:srgbClr val="FF7B21"/>
                </a:solidFill>
                <a:latin typeface="Tahoma" panose="020B0604030504040204" pitchFamily="34" charset="0"/>
                <a:ea typeface="Tahoma" panose="020B0604030504040204" pitchFamily="34" charset="0"/>
                <a:cs typeface="Tahoma" panose="020B0604030504040204" pitchFamily="34" charset="0"/>
              </a:rPr>
              <a:t>Предложение рынку:</a:t>
            </a:r>
          </a:p>
          <a:p>
            <a:pPr defTabSz="533400" eaLnBrk="1" hangingPunct="1">
              <a:lnSpc>
                <a:spcPct val="200000"/>
              </a:lnSpc>
              <a:spcAft>
                <a:spcPts val="0"/>
              </a:spcAft>
              <a:buClr>
                <a:srgbClr val="8E8E8E"/>
              </a:buClr>
              <a:buFont typeface="Wingdings" pitchFamily="2" charset="2"/>
              <a:buBlip>
                <a:blip r:embed="rId3"/>
              </a:buBlip>
            </a:pPr>
            <a:r>
              <a:rPr lang="ru-RU" sz="1400" b="1" dirty="0">
                <a:solidFill>
                  <a:srgbClr val="002394"/>
                </a:solidFill>
                <a:latin typeface="Tahoma" panose="020B0604030504040204" pitchFamily="34" charset="0"/>
                <a:ea typeface="Tahoma" panose="020B0604030504040204" pitchFamily="34" charset="0"/>
                <a:cs typeface="Tahoma" panose="020B0604030504040204" pitchFamily="34" charset="0"/>
              </a:rPr>
              <a:t>ПСБ сочетает образ ответственного государственного партнера с предложением современных и технологичных финансовых решений для корпоративных и частных клиентов</a:t>
            </a:r>
          </a:p>
          <a:p>
            <a:pPr defTabSz="533400" eaLnBrk="1" hangingPunct="1">
              <a:lnSpc>
                <a:spcPct val="200000"/>
              </a:lnSpc>
              <a:spcAft>
                <a:spcPts val="0"/>
              </a:spcAft>
              <a:buClr>
                <a:srgbClr val="8E8E8E"/>
              </a:buClr>
            </a:pPr>
            <a:r>
              <a:rPr lang="ru-RU" sz="1600" b="1" dirty="0">
                <a:solidFill>
                  <a:srgbClr val="FF7B21"/>
                </a:solidFill>
                <a:latin typeface="Tahoma" panose="020B0604030504040204" pitchFamily="34" charset="0"/>
                <a:ea typeface="Tahoma" panose="020B0604030504040204" pitchFamily="34" charset="0"/>
                <a:cs typeface="Tahoma" panose="020B0604030504040204" pitchFamily="34" charset="0"/>
              </a:rPr>
              <a:t>Подкрепление имиджа:</a:t>
            </a:r>
          </a:p>
          <a:p>
            <a:pPr defTabSz="533400" eaLnBrk="1" hangingPunct="1">
              <a:lnSpc>
                <a:spcPct val="200000"/>
              </a:lnSpc>
              <a:spcAft>
                <a:spcPts val="0"/>
              </a:spcAft>
              <a:buClr>
                <a:srgbClr val="8E8E8E"/>
              </a:buClr>
              <a:buFont typeface="Wingdings" pitchFamily="2" charset="2"/>
              <a:buBlip>
                <a:blip r:embed="rId3"/>
              </a:buBlip>
            </a:pPr>
            <a:r>
              <a:rPr lang="ru-RU" sz="1400" b="1" dirty="0">
                <a:solidFill>
                  <a:srgbClr val="002394"/>
                </a:solidFill>
                <a:latin typeface="Tahoma" panose="020B0604030504040204" pitchFamily="34" charset="0"/>
                <a:ea typeface="Tahoma" panose="020B0604030504040204" pitchFamily="34" charset="0"/>
                <a:cs typeface="Tahoma" panose="020B0604030504040204" pitchFamily="34" charset="0"/>
              </a:rPr>
              <a:t>Образ поддерживается через экспертные публикации в СМИ, участие в социально-культурных проектах и постоянный акцент на надежности и стабильности, что критически важно для банка с особыми задачами.</a:t>
            </a:r>
          </a:p>
        </p:txBody>
      </p:sp>
      <p:pic>
        <p:nvPicPr>
          <p:cNvPr id="8" name="Рисунок 7">
            <a:extLst>
              <a:ext uri="{FF2B5EF4-FFF2-40B4-BE49-F238E27FC236}">
                <a16:creationId xmlns:a16="http://schemas.microsoft.com/office/drawing/2014/main" id="{DECC8463-CCB8-4FC9-8BC9-57202EC81819}"/>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5795465" y="1367046"/>
            <a:ext cx="3088310" cy="3937961"/>
          </a:xfrm>
          <a:prstGeom prst="rect">
            <a:avLst/>
          </a:prstGeom>
        </p:spPr>
      </p:pic>
    </p:spTree>
    <p:extLst>
      <p:ext uri="{BB962C8B-B14F-4D97-AF65-F5344CB8AC3E}">
        <p14:creationId xmlns:p14="http://schemas.microsoft.com/office/powerpoint/2010/main" val="2249641770"/>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Прямая соединительная линия 35">
            <a:extLst>
              <a:ext uri="{FF2B5EF4-FFF2-40B4-BE49-F238E27FC236}">
                <a16:creationId xmlns:a16="http://schemas.microsoft.com/office/drawing/2014/main" id="{29402AFA-3918-4425-90CF-91486E2A4960}"/>
              </a:ext>
            </a:extLst>
          </p:cNvPr>
          <p:cNvCxnSpPr>
            <a:cxnSpLocks/>
          </p:cNvCxnSpPr>
          <p:nvPr/>
        </p:nvCxnSpPr>
        <p:spPr>
          <a:xfrm>
            <a:off x="3449902" y="2078345"/>
            <a:ext cx="0" cy="377556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Прямая соединительная линия 40">
            <a:extLst>
              <a:ext uri="{FF2B5EF4-FFF2-40B4-BE49-F238E27FC236}">
                <a16:creationId xmlns:a16="http://schemas.microsoft.com/office/drawing/2014/main" id="{9ABFD37D-66F6-4714-974D-7D8A683DB2EE}"/>
              </a:ext>
            </a:extLst>
          </p:cNvPr>
          <p:cNvCxnSpPr/>
          <p:nvPr/>
        </p:nvCxnSpPr>
        <p:spPr>
          <a:xfrm>
            <a:off x="587645" y="3329469"/>
            <a:ext cx="9014718"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3" name="Прямоугольник 42">
            <a:extLst>
              <a:ext uri="{FF2B5EF4-FFF2-40B4-BE49-F238E27FC236}">
                <a16:creationId xmlns:a16="http://schemas.microsoft.com/office/drawing/2014/main" id="{14425F2F-64B6-4E78-914F-38E8E37F1C78}"/>
              </a:ext>
            </a:extLst>
          </p:cNvPr>
          <p:cNvSpPr/>
          <p:nvPr/>
        </p:nvSpPr>
        <p:spPr>
          <a:xfrm>
            <a:off x="650077" y="2210291"/>
            <a:ext cx="2181666" cy="1022075"/>
          </a:xfrm>
          <a:prstGeom prst="rect">
            <a:avLst/>
          </a:prstGeom>
          <a:noFill/>
        </p:spPr>
        <p:txBody>
          <a:bodyPr wrap="square" lIns="0" anchor="t">
            <a:spAutoFit/>
          </a:bodyPr>
          <a:lstStyle/>
          <a:p>
            <a:pPr defTabSz="371475" fontAlgn="auto">
              <a:spcBef>
                <a:spcPts val="0"/>
              </a:spcBef>
              <a:spcAft>
                <a:spcPts val="450"/>
              </a:spcAft>
              <a:defRPr/>
            </a:pPr>
            <a:r>
              <a:rPr lang="ru-RU" sz="1625" b="1" dirty="0">
                <a:cs typeface="Gotham Pro Bold" panose="02000503040000020004" pitchFamily="2" charset="0"/>
              </a:rPr>
              <a:t>Любовь к родине</a:t>
            </a:r>
          </a:p>
          <a:p>
            <a:pPr defTabSz="371475" fontAlgn="auto">
              <a:spcBef>
                <a:spcPts val="0"/>
              </a:spcBef>
              <a:spcAft>
                <a:spcPts val="450"/>
              </a:spcAft>
              <a:defRPr/>
            </a:pPr>
            <a:r>
              <a:rPr lang="ru-RU" sz="1000" dirty="0"/>
              <a:t>Любовь к Родине – это очень сильное чувство. Это любовь к своей семье и тому месту, где ты родился и живешь</a:t>
            </a:r>
            <a:endParaRPr lang="ru-RU" sz="975" dirty="0"/>
          </a:p>
        </p:txBody>
      </p:sp>
      <p:sp>
        <p:nvSpPr>
          <p:cNvPr id="45" name="Прямоугольник 44">
            <a:extLst>
              <a:ext uri="{FF2B5EF4-FFF2-40B4-BE49-F238E27FC236}">
                <a16:creationId xmlns:a16="http://schemas.microsoft.com/office/drawing/2014/main" id="{FB00D60B-6E8B-4390-B2E5-2246499B5849}"/>
              </a:ext>
            </a:extLst>
          </p:cNvPr>
          <p:cNvSpPr/>
          <p:nvPr/>
        </p:nvSpPr>
        <p:spPr>
          <a:xfrm>
            <a:off x="650078" y="3574812"/>
            <a:ext cx="2181666" cy="706604"/>
          </a:xfrm>
          <a:prstGeom prst="rect">
            <a:avLst/>
          </a:prstGeom>
          <a:noFill/>
        </p:spPr>
        <p:txBody>
          <a:bodyPr wrap="square" lIns="0" anchor="t">
            <a:spAutoFit/>
          </a:bodyPr>
          <a:lstStyle/>
          <a:p>
            <a:pPr defTabSz="371475">
              <a:spcAft>
                <a:spcPts val="450"/>
              </a:spcAft>
              <a:defRPr/>
            </a:pPr>
            <a:r>
              <a:rPr lang="ru-RU" sz="1625" b="1" dirty="0"/>
              <a:t>Исключительность</a:t>
            </a:r>
          </a:p>
          <a:p>
            <a:pPr defTabSz="371475" fontAlgn="auto">
              <a:spcBef>
                <a:spcPts val="0"/>
              </a:spcBef>
              <a:spcAft>
                <a:spcPts val="450"/>
              </a:spcAft>
              <a:defRPr/>
            </a:pPr>
            <a:r>
              <a:rPr lang="ru-RU" sz="975" dirty="0"/>
              <a:t>Освоение социальных норм и правил для интеграции в общество.</a:t>
            </a:r>
          </a:p>
        </p:txBody>
      </p:sp>
      <p:sp>
        <p:nvSpPr>
          <p:cNvPr id="46" name="Прямоугольник 45">
            <a:extLst>
              <a:ext uri="{FF2B5EF4-FFF2-40B4-BE49-F238E27FC236}">
                <a16:creationId xmlns:a16="http://schemas.microsoft.com/office/drawing/2014/main" id="{0468EEEE-2635-4C30-8CAD-311B42B7B399}"/>
              </a:ext>
            </a:extLst>
          </p:cNvPr>
          <p:cNvSpPr/>
          <p:nvPr/>
        </p:nvSpPr>
        <p:spPr>
          <a:xfrm>
            <a:off x="3656272" y="2210291"/>
            <a:ext cx="2181666" cy="1022075"/>
          </a:xfrm>
          <a:prstGeom prst="rect">
            <a:avLst/>
          </a:prstGeom>
          <a:noFill/>
        </p:spPr>
        <p:txBody>
          <a:bodyPr wrap="square" lIns="0" anchor="t">
            <a:spAutoFit/>
          </a:bodyPr>
          <a:lstStyle/>
          <a:p>
            <a:pPr defTabSz="371475">
              <a:spcAft>
                <a:spcPts val="450"/>
              </a:spcAft>
              <a:defRPr/>
            </a:pPr>
            <a:r>
              <a:rPr lang="ru-RU" sz="1625" b="1" dirty="0"/>
              <a:t>Ответственность</a:t>
            </a:r>
          </a:p>
          <a:p>
            <a:pPr defTabSz="371475">
              <a:spcAft>
                <a:spcPts val="450"/>
              </a:spcAft>
              <a:defRPr/>
            </a:pPr>
            <a:r>
              <a:rPr lang="ru-RU" sz="1000" dirty="0"/>
              <a:t>Мы ответственно подходим к делу и уверены в том, что успешное будущее не происходит само по себе</a:t>
            </a:r>
            <a:endParaRPr lang="ru-RU" sz="975" dirty="0"/>
          </a:p>
        </p:txBody>
      </p:sp>
      <p:sp>
        <p:nvSpPr>
          <p:cNvPr id="47" name="Прямоугольник 46">
            <a:extLst>
              <a:ext uri="{FF2B5EF4-FFF2-40B4-BE49-F238E27FC236}">
                <a16:creationId xmlns:a16="http://schemas.microsoft.com/office/drawing/2014/main" id="{2F0E13FB-9FFF-4033-9D5D-336B00EEB219}"/>
              </a:ext>
            </a:extLst>
          </p:cNvPr>
          <p:cNvSpPr/>
          <p:nvPr/>
        </p:nvSpPr>
        <p:spPr>
          <a:xfrm>
            <a:off x="3656273" y="3574812"/>
            <a:ext cx="2181666" cy="706604"/>
          </a:xfrm>
          <a:prstGeom prst="rect">
            <a:avLst/>
          </a:prstGeom>
          <a:noFill/>
        </p:spPr>
        <p:txBody>
          <a:bodyPr wrap="square" lIns="0" anchor="t">
            <a:spAutoFit/>
          </a:bodyPr>
          <a:lstStyle/>
          <a:p>
            <a:pPr defTabSz="371475">
              <a:spcAft>
                <a:spcPts val="450"/>
              </a:spcAft>
              <a:defRPr/>
            </a:pPr>
            <a:r>
              <a:rPr lang="ru-RU" sz="1625" b="1" dirty="0"/>
              <a:t>Развитие</a:t>
            </a:r>
          </a:p>
          <a:p>
            <a:pPr defTabSz="371475" fontAlgn="auto">
              <a:spcBef>
                <a:spcPts val="0"/>
              </a:spcBef>
              <a:spcAft>
                <a:spcPts val="450"/>
              </a:spcAft>
              <a:defRPr/>
            </a:pPr>
            <a:r>
              <a:rPr lang="ru-RU" sz="975" dirty="0"/>
              <a:t>Привыкание к новым условиям повседневной жизни (дом, быт).</a:t>
            </a:r>
          </a:p>
        </p:txBody>
      </p:sp>
      <p:sp>
        <p:nvSpPr>
          <p:cNvPr id="48" name="Прямоугольник 47">
            <a:extLst>
              <a:ext uri="{FF2B5EF4-FFF2-40B4-BE49-F238E27FC236}">
                <a16:creationId xmlns:a16="http://schemas.microsoft.com/office/drawing/2014/main" id="{B87C5BD2-0837-403B-B629-8A3F3CDD7F21}"/>
              </a:ext>
            </a:extLst>
          </p:cNvPr>
          <p:cNvSpPr/>
          <p:nvPr/>
        </p:nvSpPr>
        <p:spPr>
          <a:xfrm>
            <a:off x="6557143" y="2212926"/>
            <a:ext cx="2181666" cy="868186"/>
          </a:xfrm>
          <a:prstGeom prst="rect">
            <a:avLst/>
          </a:prstGeom>
          <a:noFill/>
        </p:spPr>
        <p:txBody>
          <a:bodyPr wrap="square" lIns="0" anchor="t">
            <a:spAutoFit/>
          </a:bodyPr>
          <a:lstStyle/>
          <a:p>
            <a:pPr defTabSz="371475">
              <a:spcAft>
                <a:spcPts val="450"/>
              </a:spcAft>
              <a:defRPr/>
            </a:pPr>
            <a:r>
              <a:rPr lang="ru-RU" sz="1625" b="1" dirty="0"/>
              <a:t>Масштаб</a:t>
            </a:r>
          </a:p>
          <a:p>
            <a:pPr defTabSz="371475">
              <a:spcAft>
                <a:spcPts val="450"/>
              </a:spcAft>
              <a:defRPr/>
            </a:pPr>
            <a:r>
              <a:rPr lang="ru-RU" sz="975" dirty="0"/>
              <a:t>Являясь опорным банком мы </a:t>
            </a:r>
            <a:r>
              <a:rPr lang="ru-RU" sz="1000" dirty="0" err="1"/>
              <a:t>мы</a:t>
            </a:r>
            <a:r>
              <a:rPr lang="ru-RU" sz="1000" dirty="0"/>
              <a:t> должны быть сильными как никогда</a:t>
            </a:r>
            <a:endParaRPr lang="ru-RU" sz="975" dirty="0"/>
          </a:p>
        </p:txBody>
      </p:sp>
      <p:sp>
        <p:nvSpPr>
          <p:cNvPr id="49" name="Прямоугольник 48">
            <a:extLst>
              <a:ext uri="{FF2B5EF4-FFF2-40B4-BE49-F238E27FC236}">
                <a16:creationId xmlns:a16="http://schemas.microsoft.com/office/drawing/2014/main" id="{09ACFF29-6FE2-4D68-B42E-B3EC84D62813}"/>
              </a:ext>
            </a:extLst>
          </p:cNvPr>
          <p:cNvSpPr/>
          <p:nvPr/>
        </p:nvSpPr>
        <p:spPr>
          <a:xfrm>
            <a:off x="6662467" y="3574811"/>
            <a:ext cx="3043059" cy="1022075"/>
          </a:xfrm>
          <a:prstGeom prst="rect">
            <a:avLst/>
          </a:prstGeom>
          <a:noFill/>
        </p:spPr>
        <p:txBody>
          <a:bodyPr wrap="square" lIns="0" anchor="t">
            <a:spAutoFit/>
          </a:bodyPr>
          <a:lstStyle/>
          <a:p>
            <a:pPr defTabSz="371475">
              <a:spcAft>
                <a:spcPts val="450"/>
              </a:spcAft>
              <a:defRPr/>
            </a:pPr>
            <a:r>
              <a:rPr lang="ru-RU" sz="1625" b="1" dirty="0"/>
              <a:t>Надежность</a:t>
            </a:r>
          </a:p>
          <a:p>
            <a:pPr defTabSz="371475" fontAlgn="auto">
              <a:spcBef>
                <a:spcPts val="0"/>
              </a:spcBef>
              <a:spcAft>
                <a:spcPts val="450"/>
              </a:spcAft>
              <a:defRPr/>
            </a:pPr>
            <a:r>
              <a:rPr lang="ru-RU" sz="1000" dirty="0"/>
              <a:t>В условиях финансовой нестабильности людям нужен сильный банк, который сможет защитить их интересы, тем самым обеспечив благополучие и процветание страны</a:t>
            </a:r>
            <a:r>
              <a:rPr lang="ru-RU" sz="975" dirty="0"/>
              <a:t>.</a:t>
            </a:r>
          </a:p>
        </p:txBody>
      </p:sp>
      <p:sp>
        <p:nvSpPr>
          <p:cNvPr id="53" name="Полилиния 58">
            <a:extLst>
              <a:ext uri="{FF2B5EF4-FFF2-40B4-BE49-F238E27FC236}">
                <a16:creationId xmlns:a16="http://schemas.microsoft.com/office/drawing/2014/main" id="{0E8E15F5-DE48-491A-B683-1BB6F20D72BF}"/>
              </a:ext>
            </a:extLst>
          </p:cNvPr>
          <p:cNvSpPr/>
          <p:nvPr/>
        </p:nvSpPr>
        <p:spPr>
          <a:xfrm>
            <a:off x="791017" y="2360413"/>
            <a:ext cx="9832" cy="29498"/>
          </a:xfrm>
          <a:custGeom>
            <a:avLst/>
            <a:gdLst>
              <a:gd name="connsiteX0" fmla="*/ 14146 w 28292"/>
              <a:gd name="connsiteY0" fmla="*/ 0 h 84876"/>
              <a:gd name="connsiteX1" fmla="*/ 0 w 28292"/>
              <a:gd name="connsiteY1" fmla="*/ 14146 h 84876"/>
              <a:gd name="connsiteX2" fmla="*/ 0 w 28292"/>
              <a:gd name="connsiteY2" fmla="*/ 70730 h 84876"/>
              <a:gd name="connsiteX3" fmla="*/ 14146 w 28292"/>
              <a:gd name="connsiteY3" fmla="*/ 84876 h 84876"/>
              <a:gd name="connsiteX4" fmla="*/ 28292 w 28292"/>
              <a:gd name="connsiteY4" fmla="*/ 70730 h 84876"/>
              <a:gd name="connsiteX5" fmla="*/ 28292 w 28292"/>
              <a:gd name="connsiteY5" fmla="*/ 14146 h 84876"/>
              <a:gd name="connsiteX6" fmla="*/ 14146 w 28292"/>
              <a:gd name="connsiteY6" fmla="*/ 0 h 84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92" h="84876">
                <a:moveTo>
                  <a:pt x="14146" y="0"/>
                </a:moveTo>
                <a:cubicBezTo>
                  <a:pt x="6333" y="0"/>
                  <a:pt x="0" y="6333"/>
                  <a:pt x="0" y="14146"/>
                </a:cubicBezTo>
                <a:lnTo>
                  <a:pt x="0" y="70730"/>
                </a:lnTo>
                <a:cubicBezTo>
                  <a:pt x="0" y="78543"/>
                  <a:pt x="6333" y="84876"/>
                  <a:pt x="14146" y="84876"/>
                </a:cubicBezTo>
                <a:cubicBezTo>
                  <a:pt x="21959" y="84876"/>
                  <a:pt x="28292" y="78543"/>
                  <a:pt x="28292" y="70730"/>
                </a:cubicBezTo>
                <a:lnTo>
                  <a:pt x="28292" y="14146"/>
                </a:lnTo>
                <a:cubicBezTo>
                  <a:pt x="28292" y="6333"/>
                  <a:pt x="21959" y="0"/>
                  <a:pt x="14146" y="0"/>
                </a:cubicBezTo>
                <a:close/>
              </a:path>
            </a:pathLst>
          </a:custGeom>
          <a:solidFill>
            <a:schemeClr val="accent1">
              <a:lumMod val="40000"/>
              <a:lumOff val="60000"/>
            </a:schemeClr>
          </a:solidFill>
          <a:ln w="9431" cap="flat">
            <a:noFill/>
            <a:prstDash val="solid"/>
            <a:miter/>
          </a:ln>
        </p:spPr>
        <p:txBody>
          <a:bodyPr rtlCol="0" anchor="ctr"/>
          <a:lstStyle/>
          <a:p>
            <a:endParaRPr lang="ru-RU"/>
          </a:p>
        </p:txBody>
      </p:sp>
      <p:sp>
        <p:nvSpPr>
          <p:cNvPr id="81" name="Заголовок 3">
            <a:extLst>
              <a:ext uri="{FF2B5EF4-FFF2-40B4-BE49-F238E27FC236}">
                <a16:creationId xmlns:a16="http://schemas.microsoft.com/office/drawing/2014/main" id="{5FC3BC07-EB76-4A89-B592-551EAF227EF6}"/>
              </a:ext>
            </a:extLst>
          </p:cNvPr>
          <p:cNvSpPr txBox="1">
            <a:spLocks/>
          </p:cNvSpPr>
          <p:nvPr/>
        </p:nvSpPr>
        <p:spPr>
          <a:xfrm>
            <a:off x="1" y="1073746"/>
            <a:ext cx="9905999" cy="725924"/>
          </a:xfrm>
          <a:prstGeom prst="rect">
            <a:avLst/>
          </a:prstGeom>
        </p:spPr>
        <p:txBody>
          <a:bodyPr vert="horz" lIns="74295" tIns="37148" rIns="74295" bIns="37148"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altLang="ru-RU" sz="3900" b="1" dirty="0">
                <a:cs typeface="Courier New" panose="02070309020205020404" charset="0"/>
              </a:rPr>
              <a:t>Ценности бренда</a:t>
            </a:r>
            <a:endParaRPr lang="en-US" altLang="ru-RU" sz="3900" b="1" dirty="0">
              <a:cs typeface="Courier New" panose="02070309020205020404" charset="0"/>
            </a:endParaRPr>
          </a:p>
        </p:txBody>
      </p:sp>
      <p:sp>
        <p:nvSpPr>
          <p:cNvPr id="83" name="Прямоугольник 82">
            <a:extLst>
              <a:ext uri="{FF2B5EF4-FFF2-40B4-BE49-F238E27FC236}">
                <a16:creationId xmlns:a16="http://schemas.microsoft.com/office/drawing/2014/main" id="{6FA6D237-2165-48E1-9E88-0F7BF21F82A9}"/>
              </a:ext>
            </a:extLst>
          </p:cNvPr>
          <p:cNvSpPr/>
          <p:nvPr/>
        </p:nvSpPr>
        <p:spPr>
          <a:xfrm>
            <a:off x="587647" y="4777327"/>
            <a:ext cx="2181666" cy="1175963"/>
          </a:xfrm>
          <a:prstGeom prst="rect">
            <a:avLst/>
          </a:prstGeom>
          <a:noFill/>
        </p:spPr>
        <p:txBody>
          <a:bodyPr wrap="square" lIns="0" anchor="t">
            <a:spAutoFit/>
          </a:bodyPr>
          <a:lstStyle/>
          <a:p>
            <a:pPr defTabSz="371475">
              <a:spcAft>
                <a:spcPts val="450"/>
              </a:spcAft>
              <a:defRPr/>
            </a:pPr>
            <a:r>
              <a:rPr lang="ru-RU" sz="1625" b="1" dirty="0"/>
              <a:t>Безопасность</a:t>
            </a:r>
          </a:p>
          <a:p>
            <a:pPr defTabSz="371475" fontAlgn="auto">
              <a:spcBef>
                <a:spcPts val="0"/>
              </a:spcBef>
              <a:spcAft>
                <a:spcPts val="450"/>
              </a:spcAft>
              <a:defRPr/>
            </a:pPr>
            <a:r>
              <a:rPr lang="ru-RU" sz="1000" dirty="0"/>
              <a:t>Наш банк — это банк, в котором все под контролем. Мы придаем большое значение безопасности банковских операций, банковской тайне и конфиденциальности</a:t>
            </a:r>
            <a:r>
              <a:rPr lang="ru-RU" sz="975" dirty="0"/>
              <a:t>.</a:t>
            </a:r>
          </a:p>
        </p:txBody>
      </p:sp>
      <p:sp>
        <p:nvSpPr>
          <p:cNvPr id="84" name="Прямоугольник 83">
            <a:extLst>
              <a:ext uri="{FF2B5EF4-FFF2-40B4-BE49-F238E27FC236}">
                <a16:creationId xmlns:a16="http://schemas.microsoft.com/office/drawing/2014/main" id="{A9B229AE-E6F7-4BF0-897B-864EC6A5FE73}"/>
              </a:ext>
            </a:extLst>
          </p:cNvPr>
          <p:cNvSpPr/>
          <p:nvPr/>
        </p:nvSpPr>
        <p:spPr>
          <a:xfrm>
            <a:off x="3656275" y="4777327"/>
            <a:ext cx="2694497" cy="1175963"/>
          </a:xfrm>
          <a:prstGeom prst="rect">
            <a:avLst/>
          </a:prstGeom>
          <a:noFill/>
        </p:spPr>
        <p:txBody>
          <a:bodyPr wrap="square" lIns="0" anchor="t">
            <a:spAutoFit/>
          </a:bodyPr>
          <a:lstStyle/>
          <a:p>
            <a:pPr defTabSz="371475">
              <a:spcAft>
                <a:spcPts val="450"/>
              </a:spcAft>
              <a:defRPr/>
            </a:pPr>
            <a:r>
              <a:rPr lang="ru-RU" sz="1625" b="1" dirty="0"/>
              <a:t>Разделенное лидерство</a:t>
            </a:r>
          </a:p>
          <a:p>
            <a:pPr defTabSz="371475" fontAlgn="auto">
              <a:spcBef>
                <a:spcPts val="0"/>
              </a:spcBef>
              <a:spcAft>
                <a:spcPts val="450"/>
              </a:spcAft>
              <a:defRPr/>
            </a:pPr>
            <a:r>
              <a:rPr lang="ru-RU" sz="1000" dirty="0"/>
              <a:t>В работе с клиентами мы стремимся дать им лучшие условия, позволяющие им делать их лучше, тем самым создавая основу для долгосрочных партнерских отношений.</a:t>
            </a:r>
            <a:r>
              <a:rPr lang="ru-RU" sz="975" dirty="0"/>
              <a:t>.</a:t>
            </a:r>
          </a:p>
        </p:txBody>
      </p:sp>
      <p:cxnSp>
        <p:nvCxnSpPr>
          <p:cNvPr id="86" name="Прямая соединительная линия 85">
            <a:extLst>
              <a:ext uri="{FF2B5EF4-FFF2-40B4-BE49-F238E27FC236}">
                <a16:creationId xmlns:a16="http://schemas.microsoft.com/office/drawing/2014/main" id="{AB92DE6B-3340-4C15-A074-C2CF4D265E4D}"/>
              </a:ext>
            </a:extLst>
          </p:cNvPr>
          <p:cNvCxnSpPr/>
          <p:nvPr/>
        </p:nvCxnSpPr>
        <p:spPr>
          <a:xfrm>
            <a:off x="587646" y="4657884"/>
            <a:ext cx="9014718"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7" name="Прямая соединительная линия 86">
            <a:extLst>
              <a:ext uri="{FF2B5EF4-FFF2-40B4-BE49-F238E27FC236}">
                <a16:creationId xmlns:a16="http://schemas.microsoft.com/office/drawing/2014/main" id="{A6873F86-67BB-406E-BD50-386A22550FFB}"/>
              </a:ext>
            </a:extLst>
          </p:cNvPr>
          <p:cNvCxnSpPr>
            <a:cxnSpLocks/>
          </p:cNvCxnSpPr>
          <p:nvPr/>
        </p:nvCxnSpPr>
        <p:spPr>
          <a:xfrm>
            <a:off x="6350773" y="2021843"/>
            <a:ext cx="0" cy="377556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Рисунок 4">
            <a:extLst>
              <a:ext uri="{FF2B5EF4-FFF2-40B4-BE49-F238E27FC236}">
                <a16:creationId xmlns:a16="http://schemas.microsoft.com/office/drawing/2014/main" id="{42129F84-F962-45B4-A900-6AB1661EDBAF}"/>
              </a:ext>
            </a:extLst>
          </p:cNvPr>
          <p:cNvPicPr>
            <a:picLocks noChangeAspect="1"/>
          </p:cNvPicPr>
          <p:nvPr/>
        </p:nvPicPr>
        <p:blipFill>
          <a:blip r:embed="rId2"/>
          <a:stretch>
            <a:fillRect/>
          </a:stretch>
        </p:blipFill>
        <p:spPr>
          <a:xfrm>
            <a:off x="6652515" y="4749688"/>
            <a:ext cx="2750239" cy="1175964"/>
          </a:xfrm>
          <a:prstGeom prst="rect">
            <a:avLst/>
          </a:prstGeom>
        </p:spPr>
      </p:pic>
    </p:spTree>
    <p:extLst>
      <p:ext uri="{BB962C8B-B14F-4D97-AF65-F5344CB8AC3E}">
        <p14:creationId xmlns:p14="http://schemas.microsoft.com/office/powerpoint/2010/main" val="11176003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7" name="Freeform 161"/>
          <p:cNvSpPr>
            <a:spLocks/>
          </p:cNvSpPr>
          <p:nvPr/>
        </p:nvSpPr>
        <p:spPr bwMode="auto">
          <a:xfrm>
            <a:off x="9344025" y="5373688"/>
            <a:ext cx="0" cy="1587"/>
          </a:xfrm>
          <a:custGeom>
            <a:avLst/>
            <a:gdLst>
              <a:gd name="T0" fmla="*/ 0 w 3"/>
              <a:gd name="T1" fmla="*/ 0 h 1587"/>
              <a:gd name="T2" fmla="*/ 0 w 3"/>
              <a:gd name="T3" fmla="*/ 0 h 1587"/>
              <a:gd name="T4" fmla="*/ 0 w 3"/>
              <a:gd name="T5" fmla="*/ 0 h 1587"/>
              <a:gd name="T6" fmla="*/ 0 w 3"/>
              <a:gd name="T7" fmla="*/ 0 h 1587"/>
              <a:gd name="T8" fmla="*/ 0 w 3"/>
              <a:gd name="T9" fmla="*/ 0 h 1587"/>
              <a:gd name="T10" fmla="*/ 0 w 3"/>
              <a:gd name="T11" fmla="*/ 0 h 1587"/>
              <a:gd name="T12" fmla="*/ 0 60000 65536"/>
              <a:gd name="T13" fmla="*/ 0 60000 65536"/>
              <a:gd name="T14" fmla="*/ 0 60000 65536"/>
              <a:gd name="T15" fmla="*/ 0 60000 65536"/>
              <a:gd name="T16" fmla="*/ 0 60000 65536"/>
              <a:gd name="T17" fmla="*/ 0 60000 65536"/>
              <a:gd name="T18" fmla="*/ 0 w 3"/>
              <a:gd name="T19" fmla="*/ 0 h 1587"/>
              <a:gd name="T20" fmla="*/ 0 w 3"/>
              <a:gd name="T21" fmla="*/ 1587 h 1587"/>
            </a:gdLst>
            <a:ahLst/>
            <a:cxnLst>
              <a:cxn ang="T12">
                <a:pos x="T0" y="T1"/>
              </a:cxn>
              <a:cxn ang="T13">
                <a:pos x="T2" y="T3"/>
              </a:cxn>
              <a:cxn ang="T14">
                <a:pos x="T4" y="T5"/>
              </a:cxn>
              <a:cxn ang="T15">
                <a:pos x="T6" y="T7"/>
              </a:cxn>
              <a:cxn ang="T16">
                <a:pos x="T8" y="T9"/>
              </a:cxn>
              <a:cxn ang="T17">
                <a:pos x="T10" y="T11"/>
              </a:cxn>
            </a:cxnLst>
            <a:rect l="T18" t="T19" r="T20" b="T21"/>
            <a:pathLst>
              <a:path w="3" h="1587">
                <a:moveTo>
                  <a:pt x="3" y="0"/>
                </a:moveTo>
                <a:lnTo>
                  <a:pt x="3" y="0"/>
                </a:lnTo>
                <a:lnTo>
                  <a:pt x="2" y="0"/>
                </a:lnTo>
                <a:lnTo>
                  <a:pt x="0" y="0"/>
                </a:lnTo>
                <a:lnTo>
                  <a:pt x="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4251" name="TextBox 189"/>
          <p:cNvSpPr txBox="1">
            <a:spLocks noChangeArrowheads="1"/>
          </p:cNvSpPr>
          <p:nvPr/>
        </p:nvSpPr>
        <p:spPr bwMode="auto">
          <a:xfrm>
            <a:off x="0" y="260648"/>
            <a:ext cx="6269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ru-RU"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pic>
        <p:nvPicPr>
          <p:cNvPr id="6" name="Рисунок 5">
            <a:extLst>
              <a:ext uri="{FF2B5EF4-FFF2-40B4-BE49-F238E27FC236}">
                <a16:creationId xmlns:a16="http://schemas.microsoft.com/office/drawing/2014/main" id="{4AB04E74-2B8B-42A0-9F32-3AB7EFF02E54}"/>
              </a:ext>
            </a:extLst>
          </p:cNvPr>
          <p:cNvPicPr>
            <a:picLocks noChangeAspect="1"/>
          </p:cNvPicPr>
          <p:nvPr/>
        </p:nvPicPr>
        <p:blipFill rotWithShape="1">
          <a:blip r:embed="rId3">
            <a:extLst>
              <a:ext uri="{28A0092B-C50C-407E-A947-70E740481C1C}">
                <a14:useLocalDpi xmlns:a14="http://schemas.microsoft.com/office/drawing/2010/main" val="0"/>
              </a:ext>
            </a:extLst>
          </a:blip>
          <a:srcRect l="1203" r="1617"/>
          <a:stretch/>
        </p:blipFill>
        <p:spPr>
          <a:xfrm>
            <a:off x="419567" y="977402"/>
            <a:ext cx="9066862" cy="5501161"/>
          </a:xfrm>
          <a:prstGeom prst="rect">
            <a:avLst/>
          </a:prstGeom>
        </p:spPr>
      </p:pic>
      <p:sp>
        <p:nvSpPr>
          <p:cNvPr id="15" name="TextBox 14">
            <a:extLst>
              <a:ext uri="{FF2B5EF4-FFF2-40B4-BE49-F238E27FC236}">
                <a16:creationId xmlns:a16="http://schemas.microsoft.com/office/drawing/2014/main" id="{1E911DA8-2251-46EC-A05E-C06BB5EDD1B8}"/>
              </a:ext>
            </a:extLst>
          </p:cNvPr>
          <p:cNvSpPr txBox="1"/>
          <p:nvPr/>
        </p:nvSpPr>
        <p:spPr>
          <a:xfrm>
            <a:off x="4189859" y="1484784"/>
            <a:ext cx="1526282" cy="707886"/>
          </a:xfrm>
          <a:prstGeom prst="rect">
            <a:avLst/>
          </a:prstGeom>
          <a:noFill/>
        </p:spPr>
        <p:txBody>
          <a:bodyPr wrap="square">
            <a:spAutoFit/>
          </a:bodyPr>
          <a:lstStyle/>
          <a:p>
            <a:pPr algn="ctr"/>
            <a:r>
              <a:rPr lang="ru-RU" sz="1000" dirty="0"/>
              <a:t>Суть бренда</a:t>
            </a:r>
          </a:p>
          <a:p>
            <a:pPr algn="ctr"/>
            <a:endParaRPr lang="ru-RU" sz="1000" dirty="0"/>
          </a:p>
          <a:p>
            <a:pPr algn="ctr"/>
            <a:r>
              <a:rPr lang="ru-RU" sz="1000" dirty="0"/>
              <a:t>БАНК СИЛЬНЫХ ЛЮДЕЙ</a:t>
            </a:r>
          </a:p>
        </p:txBody>
      </p:sp>
      <p:sp>
        <p:nvSpPr>
          <p:cNvPr id="19" name="TextBox 18">
            <a:extLst>
              <a:ext uri="{FF2B5EF4-FFF2-40B4-BE49-F238E27FC236}">
                <a16:creationId xmlns:a16="http://schemas.microsoft.com/office/drawing/2014/main" id="{240BD28E-CBD6-4943-B58E-34202C047943}"/>
              </a:ext>
            </a:extLst>
          </p:cNvPr>
          <p:cNvSpPr txBox="1"/>
          <p:nvPr/>
        </p:nvSpPr>
        <p:spPr>
          <a:xfrm>
            <a:off x="3459482" y="2373560"/>
            <a:ext cx="2987035" cy="646331"/>
          </a:xfrm>
          <a:prstGeom prst="rect">
            <a:avLst/>
          </a:prstGeom>
          <a:noFill/>
        </p:spPr>
        <p:txBody>
          <a:bodyPr wrap="square">
            <a:spAutoFit/>
          </a:bodyPr>
          <a:lstStyle/>
          <a:p>
            <a:pPr algn="ctr"/>
            <a:r>
              <a:rPr lang="ru-RU" sz="900" dirty="0"/>
              <a:t>ОСНОВАТЕЛЬНЫЙ, ОТВЕТСТВЕННЫЙ, ВОЛЕВОЙ, ВЛИЯТЕЛЬНЫЙ, КОМПЕТЕНТНЫЙ, СИЛЬНЫЙ, МАСШТАБНО-МЫСЛЯЩИЙ, РЕШИТЕЛЬНЫЙ, ОТЗЫВЧИВЫЙ</a:t>
            </a:r>
          </a:p>
        </p:txBody>
      </p:sp>
      <p:sp>
        <p:nvSpPr>
          <p:cNvPr id="21" name="TextBox 20">
            <a:extLst>
              <a:ext uri="{FF2B5EF4-FFF2-40B4-BE49-F238E27FC236}">
                <a16:creationId xmlns:a16="http://schemas.microsoft.com/office/drawing/2014/main" id="{B90D1CAD-A770-49CC-B36B-F9D0030001F4}"/>
              </a:ext>
            </a:extLst>
          </p:cNvPr>
          <p:cNvSpPr txBox="1"/>
          <p:nvPr/>
        </p:nvSpPr>
        <p:spPr>
          <a:xfrm>
            <a:off x="6269039" y="2192670"/>
            <a:ext cx="1780306" cy="307777"/>
          </a:xfrm>
          <a:prstGeom prst="rect">
            <a:avLst/>
          </a:prstGeom>
          <a:noFill/>
        </p:spPr>
        <p:txBody>
          <a:bodyPr wrap="square">
            <a:spAutoFit/>
          </a:bodyPr>
          <a:lstStyle/>
          <a:p>
            <a:pPr algn="ctr"/>
            <a:r>
              <a:rPr lang="ru-RU" sz="1400" dirty="0"/>
              <a:t>Характер бренда</a:t>
            </a:r>
          </a:p>
        </p:txBody>
      </p:sp>
      <p:sp>
        <p:nvSpPr>
          <p:cNvPr id="25" name="TextBox 24">
            <a:extLst>
              <a:ext uri="{FF2B5EF4-FFF2-40B4-BE49-F238E27FC236}">
                <a16:creationId xmlns:a16="http://schemas.microsoft.com/office/drawing/2014/main" id="{48D345D9-1722-491A-A61C-414F2FBA0835}"/>
              </a:ext>
            </a:extLst>
          </p:cNvPr>
          <p:cNvSpPr txBox="1"/>
          <p:nvPr/>
        </p:nvSpPr>
        <p:spPr>
          <a:xfrm>
            <a:off x="3164362" y="3026544"/>
            <a:ext cx="3577273" cy="507831"/>
          </a:xfrm>
          <a:prstGeom prst="rect">
            <a:avLst/>
          </a:prstGeom>
          <a:noFill/>
        </p:spPr>
        <p:txBody>
          <a:bodyPr wrap="square">
            <a:spAutoFit/>
          </a:bodyPr>
          <a:lstStyle/>
          <a:p>
            <a:pPr algn="ctr"/>
            <a:r>
              <a:rPr lang="ru-RU" sz="900" dirty="0"/>
              <a:t>ИСКЛЮЧИТЕЛЬНОСТЬ, НАДЕЖНОСТЬ И БЕЗОПАСНОСТЬ, МАСШТАБ, РАЗВИТИЕ, ОТВЕТСТВЕННОСТЬ, ЛЮБОВЬ К РОДИНЕ, РАЗДЕЛЕННОЕ ЛИДЕРСТВО</a:t>
            </a:r>
          </a:p>
        </p:txBody>
      </p:sp>
      <p:sp>
        <p:nvSpPr>
          <p:cNvPr id="26" name="TextBox 25">
            <a:extLst>
              <a:ext uri="{FF2B5EF4-FFF2-40B4-BE49-F238E27FC236}">
                <a16:creationId xmlns:a16="http://schemas.microsoft.com/office/drawing/2014/main" id="{F6CCA049-A8E0-43BF-86EC-9D33D494F271}"/>
              </a:ext>
            </a:extLst>
          </p:cNvPr>
          <p:cNvSpPr txBox="1"/>
          <p:nvPr/>
        </p:nvSpPr>
        <p:spPr>
          <a:xfrm>
            <a:off x="6682031" y="2820417"/>
            <a:ext cx="1780306" cy="307777"/>
          </a:xfrm>
          <a:prstGeom prst="rect">
            <a:avLst/>
          </a:prstGeom>
          <a:noFill/>
        </p:spPr>
        <p:txBody>
          <a:bodyPr wrap="square">
            <a:spAutoFit/>
          </a:bodyPr>
          <a:lstStyle/>
          <a:p>
            <a:pPr algn="ctr"/>
            <a:r>
              <a:rPr lang="ru-RU" sz="1400" dirty="0"/>
              <a:t>ценности</a:t>
            </a:r>
          </a:p>
        </p:txBody>
      </p:sp>
      <p:sp>
        <p:nvSpPr>
          <p:cNvPr id="30" name="TextBox 29">
            <a:extLst>
              <a:ext uri="{FF2B5EF4-FFF2-40B4-BE49-F238E27FC236}">
                <a16:creationId xmlns:a16="http://schemas.microsoft.com/office/drawing/2014/main" id="{CFE37881-2B09-4FA4-9512-DE61AAF083A5}"/>
              </a:ext>
            </a:extLst>
          </p:cNvPr>
          <p:cNvSpPr txBox="1"/>
          <p:nvPr/>
        </p:nvSpPr>
        <p:spPr>
          <a:xfrm>
            <a:off x="2476498" y="3789538"/>
            <a:ext cx="2260478" cy="923330"/>
          </a:xfrm>
          <a:prstGeom prst="rect">
            <a:avLst/>
          </a:prstGeom>
          <a:noFill/>
        </p:spPr>
        <p:txBody>
          <a:bodyPr wrap="square">
            <a:spAutoFit/>
          </a:bodyPr>
          <a:lstStyle/>
          <a:p>
            <a:pPr algn="r"/>
            <a:r>
              <a:rPr lang="ru-RU" sz="900" dirty="0"/>
              <a:t>ЧУВСТВО УВЕРЕННОСТИ, УДОВЛЕТВОРЕНИЕ, ГОРДОСТЬ (НАЦИОНАЛЬНАЯ), ЧУВСТВО СОПРИЧАСТНОСТИ, ВЗАИМОПОНИМАНИЯ И СОЛИДАРНОСТИ</a:t>
            </a:r>
          </a:p>
        </p:txBody>
      </p:sp>
      <p:sp>
        <p:nvSpPr>
          <p:cNvPr id="31" name="TextBox 30">
            <a:extLst>
              <a:ext uri="{FF2B5EF4-FFF2-40B4-BE49-F238E27FC236}">
                <a16:creationId xmlns:a16="http://schemas.microsoft.com/office/drawing/2014/main" id="{58CE5B23-9B3C-4452-954F-42B79C41FC5A}"/>
              </a:ext>
            </a:extLst>
          </p:cNvPr>
          <p:cNvSpPr txBox="1"/>
          <p:nvPr/>
        </p:nvSpPr>
        <p:spPr>
          <a:xfrm>
            <a:off x="776536" y="3727983"/>
            <a:ext cx="1780306" cy="523220"/>
          </a:xfrm>
          <a:prstGeom prst="rect">
            <a:avLst/>
          </a:prstGeom>
          <a:noFill/>
        </p:spPr>
        <p:txBody>
          <a:bodyPr wrap="square">
            <a:spAutoFit/>
          </a:bodyPr>
          <a:lstStyle/>
          <a:p>
            <a:pPr algn="ctr"/>
            <a:r>
              <a:rPr lang="ru-RU" sz="1400" dirty="0"/>
              <a:t>Эмоциональные преимущества</a:t>
            </a:r>
          </a:p>
        </p:txBody>
      </p:sp>
      <p:sp>
        <p:nvSpPr>
          <p:cNvPr id="32" name="TextBox 31">
            <a:extLst>
              <a:ext uri="{FF2B5EF4-FFF2-40B4-BE49-F238E27FC236}">
                <a16:creationId xmlns:a16="http://schemas.microsoft.com/office/drawing/2014/main" id="{2F2EE2E2-9E8D-4B1E-9368-69D1141144FF}"/>
              </a:ext>
            </a:extLst>
          </p:cNvPr>
          <p:cNvSpPr txBox="1"/>
          <p:nvPr/>
        </p:nvSpPr>
        <p:spPr>
          <a:xfrm>
            <a:off x="7349158" y="3652411"/>
            <a:ext cx="1780306" cy="523220"/>
          </a:xfrm>
          <a:prstGeom prst="rect">
            <a:avLst/>
          </a:prstGeom>
          <a:noFill/>
        </p:spPr>
        <p:txBody>
          <a:bodyPr wrap="square">
            <a:spAutoFit/>
          </a:bodyPr>
          <a:lstStyle/>
          <a:p>
            <a:pPr algn="ctr"/>
            <a:r>
              <a:rPr lang="ru-RU" sz="1400" dirty="0"/>
              <a:t>Эмоциональное преимущество</a:t>
            </a:r>
          </a:p>
        </p:txBody>
      </p:sp>
      <p:sp>
        <p:nvSpPr>
          <p:cNvPr id="36" name="TextBox 35">
            <a:extLst>
              <a:ext uri="{FF2B5EF4-FFF2-40B4-BE49-F238E27FC236}">
                <a16:creationId xmlns:a16="http://schemas.microsoft.com/office/drawing/2014/main" id="{FC22E9DC-B602-433F-9FF7-0D3FAD8A4578}"/>
              </a:ext>
            </a:extLst>
          </p:cNvPr>
          <p:cNvSpPr txBox="1"/>
          <p:nvPr/>
        </p:nvSpPr>
        <p:spPr>
          <a:xfrm>
            <a:off x="4880994" y="3762511"/>
            <a:ext cx="2548508" cy="923330"/>
          </a:xfrm>
          <a:prstGeom prst="rect">
            <a:avLst/>
          </a:prstGeom>
          <a:noFill/>
        </p:spPr>
        <p:txBody>
          <a:bodyPr wrap="square">
            <a:spAutoFit/>
          </a:bodyPr>
          <a:lstStyle/>
          <a:p>
            <a:r>
              <a:rPr lang="ru-RU" sz="900" dirty="0"/>
              <a:t>ВЫСОКИЙ УРОВЕНЬ БЕЗОПАСНОСТИ, КОНФИДЕНЦИАЛЬНОСТИ И БАНКОВСКОЙ ТАЙНЫ. ОСОБЫЕ УСЛОВИЯ ДЛЯ ВОЕННЫХ И ИХ СЕМЕЙ, НАДЕЖНОСТЬ И ФИНАНСОВАЯ УСТОЙЧИВОСТЬ, УНИВЕРСАЛЬНОСТЬ</a:t>
            </a:r>
          </a:p>
        </p:txBody>
      </p:sp>
      <p:sp>
        <p:nvSpPr>
          <p:cNvPr id="40" name="TextBox 39">
            <a:extLst>
              <a:ext uri="{FF2B5EF4-FFF2-40B4-BE49-F238E27FC236}">
                <a16:creationId xmlns:a16="http://schemas.microsoft.com/office/drawing/2014/main" id="{C09E3988-E039-4187-91DA-350780E05650}"/>
              </a:ext>
            </a:extLst>
          </p:cNvPr>
          <p:cNvSpPr txBox="1"/>
          <p:nvPr/>
        </p:nvSpPr>
        <p:spPr>
          <a:xfrm>
            <a:off x="128465" y="-2018645"/>
            <a:ext cx="7301035" cy="369332"/>
          </a:xfrm>
          <a:prstGeom prst="rect">
            <a:avLst/>
          </a:prstGeom>
          <a:noFill/>
        </p:spPr>
        <p:txBody>
          <a:bodyPr wrap="square">
            <a:spAutoFit/>
          </a:bodyPr>
          <a:lstStyle/>
          <a:p>
            <a:pPr algn="l"/>
            <a:r>
              <a:rPr lang="ru-RU" b="1" i="0" dirty="0">
                <a:solidFill>
                  <a:srgbClr val="F9FAFB"/>
                </a:solidFill>
                <a:effectLst/>
                <a:latin typeface="quote-cjk-patch"/>
              </a:rPr>
              <a:t>ё</a:t>
            </a:r>
            <a:endParaRPr lang="ru-RU" b="0" i="0" dirty="0">
              <a:solidFill>
                <a:srgbClr val="F9FAFB"/>
              </a:solidFill>
              <a:effectLst/>
              <a:latin typeface="quote-cjk-patch"/>
            </a:endParaRPr>
          </a:p>
        </p:txBody>
      </p:sp>
    </p:spTree>
    <p:extLst>
      <p:ext uri="{BB962C8B-B14F-4D97-AF65-F5344CB8AC3E}">
        <p14:creationId xmlns:p14="http://schemas.microsoft.com/office/powerpoint/2010/main" val="1102142996"/>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083DC3DC-7B93-4A07-9C6D-6D1BA3AB8513}"/>
              </a:ext>
            </a:extLst>
          </p:cNvPr>
          <p:cNvSpPr>
            <a:spLocks noGrp="1"/>
          </p:cNvSpPr>
          <p:nvPr>
            <p:ph type="sldNum" sz="quarter" idx="10"/>
          </p:nvPr>
        </p:nvSpPr>
        <p:spPr/>
        <p:txBody>
          <a:bodyPr/>
          <a:lstStyle/>
          <a:p>
            <a:pPr>
              <a:defRPr/>
            </a:pPr>
            <a:r>
              <a:rPr lang="ru-RU"/>
              <a:t>Слайд </a:t>
            </a:r>
            <a:fld id="{7DCEE9E7-25AF-42DF-86F1-84EFCBA56EFC}" type="slidenum">
              <a:rPr lang="ru-RU" smtClean="0"/>
              <a:pPr>
                <a:defRPr/>
              </a:pPr>
              <a:t>10</a:t>
            </a:fld>
            <a:endParaRPr lang="ru-RU"/>
          </a:p>
        </p:txBody>
      </p:sp>
      <p:sp>
        <p:nvSpPr>
          <p:cNvPr id="4" name="TextBox 3">
            <a:extLst>
              <a:ext uri="{FF2B5EF4-FFF2-40B4-BE49-F238E27FC236}">
                <a16:creationId xmlns:a16="http://schemas.microsoft.com/office/drawing/2014/main" id="{D62C7048-5BAD-461A-A806-7BD697C8A9AD}"/>
              </a:ext>
            </a:extLst>
          </p:cNvPr>
          <p:cNvSpPr txBox="1"/>
          <p:nvPr/>
        </p:nvSpPr>
        <p:spPr>
          <a:xfrm>
            <a:off x="776536" y="1628800"/>
            <a:ext cx="6984776" cy="3970318"/>
          </a:xfrm>
          <a:prstGeom prst="rect">
            <a:avLst/>
          </a:prstGeom>
          <a:noFill/>
        </p:spPr>
        <p:txBody>
          <a:bodyPr wrap="square">
            <a:spAutoFit/>
          </a:bodyPr>
          <a:lstStyle/>
          <a:p>
            <a:pPr algn="l"/>
            <a:r>
              <a:rPr lang="ru-RU" sz="1050" b="1" i="0" dirty="0">
                <a:effectLst/>
                <a:latin typeface="Arial" panose="020B0604020202020204" pitchFamily="34" charset="0"/>
                <a:cs typeface="Arial" panose="020B0604020202020204" pitchFamily="34" charset="0"/>
              </a:rPr>
              <a:t>ЭТО ПОСЛЕДНИЙ ПИРАМИДНЫЙ БЛОК</a:t>
            </a:r>
          </a:p>
          <a:p>
            <a:pPr algn="l"/>
            <a:r>
              <a:rPr lang="ru-RU" sz="1050" b="1" i="0" dirty="0">
                <a:effectLst/>
                <a:latin typeface="Arial" panose="020B0604020202020204" pitchFamily="34" charset="0"/>
                <a:cs typeface="Arial" panose="020B0604020202020204" pitchFamily="34" charset="0"/>
              </a:rPr>
              <a:t>Атрибуты бренда / RTB</a:t>
            </a:r>
            <a:endParaRPr lang="ru-RU" sz="1050" b="0" i="0" dirty="0">
              <a:effectLst/>
              <a:latin typeface="Arial" panose="020B0604020202020204" pitchFamily="34" charset="0"/>
              <a:cs typeface="Arial" panose="020B0604020202020204" pitchFamily="34" charset="0"/>
            </a:endParaRPr>
          </a:p>
          <a:p>
            <a:pPr algn="l"/>
            <a:r>
              <a:rPr lang="ru-RU" sz="1050" b="1" i="0" dirty="0">
                <a:effectLst/>
                <a:latin typeface="Arial" panose="020B0604020202020204" pitchFamily="34" charset="0"/>
                <a:cs typeface="Arial" panose="020B0604020202020204" pitchFamily="34" charset="0"/>
              </a:rPr>
              <a:t>01 СТАТУС БАНКА</a:t>
            </a:r>
            <a:br>
              <a:rPr lang="ru-RU" sz="1050" b="0" i="0" dirty="0">
                <a:effectLst/>
                <a:latin typeface="Arial" panose="020B0604020202020204" pitchFamily="34" charset="0"/>
                <a:cs typeface="Arial" panose="020B0604020202020204" pitchFamily="34" charset="0"/>
              </a:rPr>
            </a:br>
            <a:r>
              <a:rPr lang="ru-RU" sz="1050" b="0" i="0" dirty="0">
                <a:effectLst/>
                <a:latin typeface="Arial" panose="020B0604020202020204" pitchFamily="34" charset="0"/>
                <a:cs typeface="Arial" panose="020B0604020202020204" pitchFamily="34" charset="0"/>
              </a:rPr>
              <a:t>ОПОРНЫЙ БАНК ОБОРОННО-ПРОМЫШЛЕННОГО КОМПЛЕКСА И ГОСПРОГРАММ. ГОСУДАРСТВЕННЫЙ БАНК, ВХОДИТ В ТОП-5 РОССИЙСКИХ БАНКОВ, СОБСТВЕННЫЙ КАПИТАЛ, ЗНАЧИТЕЛЬНАЯ БАЗА ФИЗИЧЕСКИХ И КОРПОРАТИВНЫХ КЛИЕНТОВ</a:t>
            </a:r>
          </a:p>
          <a:p>
            <a:pPr algn="l"/>
            <a:r>
              <a:rPr lang="ru-RU" sz="1050" b="1" i="0" dirty="0">
                <a:effectLst/>
                <a:latin typeface="Arial" panose="020B0604020202020204" pitchFamily="34" charset="0"/>
                <a:cs typeface="Arial" panose="020B0604020202020204" pitchFamily="34" charset="0"/>
              </a:rPr>
              <a:t>02 СЕРВИС И УСЛУГИ</a:t>
            </a:r>
            <a:br>
              <a:rPr lang="ru-RU" sz="1050" b="0" i="0" dirty="0">
                <a:effectLst/>
                <a:latin typeface="Arial" panose="020B0604020202020204" pitchFamily="34" charset="0"/>
                <a:cs typeface="Arial" panose="020B0604020202020204" pitchFamily="34" charset="0"/>
              </a:rPr>
            </a:br>
            <a:r>
              <a:rPr lang="ru-RU" sz="1050" b="0" i="0" dirty="0">
                <a:effectLst/>
                <a:latin typeface="Arial" panose="020B0604020202020204" pitchFamily="34" charset="0"/>
                <a:cs typeface="Arial" panose="020B0604020202020204" pitchFamily="34" charset="0"/>
              </a:rPr>
              <a:t>ОСОБЫЕ УСЛОВИЯ ДЛЯ ВОЕННОСЛУЖАЩИХ И ИХ СЕМЕЙ (ПАТРИОТИЧЕСКИЙ ПРОЕКТ «СВОИ»). ПОЛНЫЙ ПАКЕТ УСЛУГ, ПРЕМИУМ ПРОГРАММЫ, ОБСЛУЖИВАНИЕ КОРПОРАТИВНЫХ ПРОГРАММ, БЕСПЛАТНЫЙ ДОКУМЕНТООБОРОТ С «1С» И «МОЁ ДЕЛО», КЛУБНЫЕ ПРОГРАММЫ ЛОЯЛЬНОСТИ</a:t>
            </a:r>
          </a:p>
          <a:p>
            <a:pPr algn="l"/>
            <a:r>
              <a:rPr lang="ru-RU" sz="1050" b="1" i="0" dirty="0">
                <a:effectLst/>
                <a:latin typeface="Arial" panose="020B0604020202020204" pitchFamily="34" charset="0"/>
                <a:cs typeface="Arial" panose="020B0604020202020204" pitchFamily="34" charset="0"/>
              </a:rPr>
              <a:t>03 ПАРТНЕРСТВО</a:t>
            </a:r>
            <a:br>
              <a:rPr lang="ru-RU" sz="1050" b="0" i="0" dirty="0">
                <a:effectLst/>
                <a:latin typeface="Arial" panose="020B0604020202020204" pitchFamily="34" charset="0"/>
                <a:cs typeface="Arial" panose="020B0604020202020204" pitchFamily="34" charset="0"/>
              </a:rPr>
            </a:br>
            <a:r>
              <a:rPr lang="ru-RU" sz="1050" b="0" i="0" dirty="0">
                <a:effectLst/>
                <a:latin typeface="Arial" panose="020B0604020202020204" pitchFamily="34" charset="0"/>
                <a:cs typeface="Arial" panose="020B0604020202020204" pitchFamily="34" charset="0"/>
              </a:rPr>
              <a:t>СПЕЦИАЛЬНЫЕ ПРОГРАММЫ С ПАРТНЁРАМИ (2 МЕСЯЦА АБОНЕМЕНТА КИНОПОКАЗАТЕЛЯ OKKO В ПОДАРОК). ПАО «РОСБАНК», БАНК «ВОЗРОЖДЕНИЕ» (СНЯТИЕ НАЛИЧНЫХ В БАНКОМАТАХ БЕЗ КОМИССИИ)</a:t>
            </a:r>
          </a:p>
          <a:p>
            <a:pPr algn="l"/>
            <a:r>
              <a:rPr lang="ru-RU" sz="1050" b="1" i="0" dirty="0">
                <a:effectLst/>
                <a:latin typeface="Arial" panose="020B0604020202020204" pitchFamily="34" charset="0"/>
                <a:cs typeface="Arial" panose="020B0604020202020204" pitchFamily="34" charset="0"/>
              </a:rPr>
              <a:t>04 ПРОДУКТЫ</a:t>
            </a:r>
            <a:br>
              <a:rPr lang="ru-RU" sz="1050" b="0" i="0" dirty="0">
                <a:effectLst/>
                <a:latin typeface="Arial" panose="020B0604020202020204" pitchFamily="34" charset="0"/>
                <a:cs typeface="Arial" panose="020B0604020202020204" pitchFamily="34" charset="0"/>
              </a:rPr>
            </a:br>
            <a:r>
              <a:rPr lang="ru-RU" sz="1050" b="0" i="0" dirty="0">
                <a:effectLst/>
                <a:latin typeface="Arial" panose="020B0604020202020204" pitchFamily="34" charset="0"/>
                <a:cs typeface="Arial" panose="020B0604020202020204" pitchFamily="34" charset="0"/>
              </a:rPr>
              <a:t>КРЕДИТОВАНИЕ ИНДИВИДУАЛЬНЫХ ЛЮДЕЙ. АКТУАЛЬНЫЙ ПРОДУКТОВЫЙ ПОРТФЕЛЬ НАИБОЛЕЕ ВОСТРЕБОВАННЫХ, МАССОВЫХ БАНКОВСКИХ ПРОДУКТОВ</a:t>
            </a:r>
          </a:p>
          <a:p>
            <a:pPr algn="l"/>
            <a:r>
              <a:rPr lang="ru-RU" sz="1050" b="1" i="0" dirty="0">
                <a:effectLst/>
                <a:latin typeface="Arial" panose="020B0604020202020204" pitchFamily="34" charset="0"/>
                <a:cs typeface="Arial" panose="020B0604020202020204" pitchFamily="34" charset="0"/>
              </a:rPr>
              <a:t>05 ОФИЦИИ И ИНФРАСТРУКТУРА</a:t>
            </a:r>
            <a:br>
              <a:rPr lang="ru-RU" sz="1050" b="0" i="0" dirty="0">
                <a:effectLst/>
                <a:latin typeface="Arial" panose="020B0604020202020204" pitchFamily="34" charset="0"/>
                <a:cs typeface="Arial" panose="020B0604020202020204" pitchFamily="34" charset="0"/>
              </a:rPr>
            </a:br>
            <a:r>
              <a:rPr lang="ru-RU" sz="1050" b="0" i="0" dirty="0">
                <a:effectLst/>
                <a:latin typeface="Arial" panose="020B0604020202020204" pitchFamily="34" charset="0"/>
                <a:cs typeface="Arial" panose="020B0604020202020204" pitchFamily="34" charset="0"/>
              </a:rPr>
              <a:t>СОВРЕМЕННЫЙ ТИПОВОЙ ФОРМАТ БАНКОВСКОГО ОТДЕЛЕНИЯ (ВЕРСИЯ 5). ИНФОРМАЦИОННАЯ ПОДДЕРЖКА ПРОЕКТА «СВОИ», КОТОРЫЙ ВКЛЮЧАЕТ И «АРМИЮ РОССИИ». ШИРОКАЯ ГЕОГРАФИЯ ОТДЕЛЕНИЙ И БАНКОМАТОВ, РАЗВИТАЯ ПЛАТЕЖНАЯ ИНФРАСТРУКТУРА</a:t>
            </a:r>
          </a:p>
          <a:p>
            <a:pPr algn="l"/>
            <a:r>
              <a:rPr lang="ru-RU" sz="1050" b="1" i="0" dirty="0">
                <a:effectLst/>
                <a:latin typeface="Arial" panose="020B0604020202020204" pitchFamily="34" charset="0"/>
                <a:cs typeface="Arial" panose="020B0604020202020204" pitchFamily="34" charset="0"/>
              </a:rPr>
              <a:t>06 ИНТЕРНЕТ-БАНК И ПРИЛОЖЕНИЯ</a:t>
            </a:r>
            <a:br>
              <a:rPr lang="ru-RU" sz="1050" b="0" i="0" dirty="0">
                <a:effectLst/>
                <a:latin typeface="Arial" panose="020B0604020202020204" pitchFamily="34" charset="0"/>
                <a:cs typeface="Arial" panose="020B0604020202020204" pitchFamily="34" charset="0"/>
              </a:rPr>
            </a:br>
            <a:r>
              <a:rPr lang="ru-RU" sz="1050" b="0" i="0" dirty="0">
                <a:effectLst/>
                <a:latin typeface="Arial" panose="020B0604020202020204" pitchFamily="34" charset="0"/>
                <a:cs typeface="Arial" panose="020B0604020202020204" pitchFamily="34" charset="0"/>
              </a:rPr>
              <a:t>ИНТЕРНЕТ-БАНК ПСБ ONLINE, МОБИЛЬНОЕ ПРИЛОЖЕНИЕ ПСБ MOBILE, ПРИЛОЖЕНИЯ ПСБ BUSINESS, ПСБ ARMY, ФОТОСФЕРА, БАНКОВСКОЕ ПО</a:t>
            </a:r>
          </a:p>
        </p:txBody>
      </p:sp>
    </p:spTree>
    <p:extLst>
      <p:ext uri="{BB962C8B-B14F-4D97-AF65-F5344CB8AC3E}">
        <p14:creationId xmlns:p14="http://schemas.microsoft.com/office/powerpoint/2010/main" val="1577383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7" name="Freeform 161"/>
          <p:cNvSpPr>
            <a:spLocks/>
          </p:cNvSpPr>
          <p:nvPr/>
        </p:nvSpPr>
        <p:spPr bwMode="auto">
          <a:xfrm>
            <a:off x="9344025" y="5373688"/>
            <a:ext cx="0" cy="1587"/>
          </a:xfrm>
          <a:custGeom>
            <a:avLst/>
            <a:gdLst>
              <a:gd name="T0" fmla="*/ 0 w 3"/>
              <a:gd name="T1" fmla="*/ 0 h 1587"/>
              <a:gd name="T2" fmla="*/ 0 w 3"/>
              <a:gd name="T3" fmla="*/ 0 h 1587"/>
              <a:gd name="T4" fmla="*/ 0 w 3"/>
              <a:gd name="T5" fmla="*/ 0 h 1587"/>
              <a:gd name="T6" fmla="*/ 0 w 3"/>
              <a:gd name="T7" fmla="*/ 0 h 1587"/>
              <a:gd name="T8" fmla="*/ 0 w 3"/>
              <a:gd name="T9" fmla="*/ 0 h 1587"/>
              <a:gd name="T10" fmla="*/ 0 w 3"/>
              <a:gd name="T11" fmla="*/ 0 h 1587"/>
              <a:gd name="T12" fmla="*/ 0 60000 65536"/>
              <a:gd name="T13" fmla="*/ 0 60000 65536"/>
              <a:gd name="T14" fmla="*/ 0 60000 65536"/>
              <a:gd name="T15" fmla="*/ 0 60000 65536"/>
              <a:gd name="T16" fmla="*/ 0 60000 65536"/>
              <a:gd name="T17" fmla="*/ 0 60000 65536"/>
              <a:gd name="T18" fmla="*/ 0 w 3"/>
              <a:gd name="T19" fmla="*/ 0 h 1587"/>
              <a:gd name="T20" fmla="*/ 0 w 3"/>
              <a:gd name="T21" fmla="*/ 1587 h 1587"/>
            </a:gdLst>
            <a:ahLst/>
            <a:cxnLst>
              <a:cxn ang="T12">
                <a:pos x="T0" y="T1"/>
              </a:cxn>
              <a:cxn ang="T13">
                <a:pos x="T2" y="T3"/>
              </a:cxn>
              <a:cxn ang="T14">
                <a:pos x="T4" y="T5"/>
              </a:cxn>
              <a:cxn ang="T15">
                <a:pos x="T6" y="T7"/>
              </a:cxn>
              <a:cxn ang="T16">
                <a:pos x="T8" y="T9"/>
              </a:cxn>
              <a:cxn ang="T17">
                <a:pos x="T10" y="T11"/>
              </a:cxn>
            </a:cxnLst>
            <a:rect l="T18" t="T19" r="T20" b="T21"/>
            <a:pathLst>
              <a:path w="3" h="1587">
                <a:moveTo>
                  <a:pt x="3" y="0"/>
                </a:moveTo>
                <a:lnTo>
                  <a:pt x="3" y="0"/>
                </a:lnTo>
                <a:lnTo>
                  <a:pt x="2" y="0"/>
                </a:lnTo>
                <a:lnTo>
                  <a:pt x="0" y="0"/>
                </a:lnTo>
                <a:lnTo>
                  <a:pt x="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4251" name="TextBox 189"/>
          <p:cNvSpPr txBox="1">
            <a:spLocks noChangeArrowheads="1"/>
          </p:cNvSpPr>
          <p:nvPr/>
        </p:nvSpPr>
        <p:spPr bwMode="auto">
          <a:xfrm>
            <a:off x="0" y="260648"/>
            <a:ext cx="6269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ru-RU"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2" name="Прямоугольник 1"/>
          <p:cNvSpPr/>
          <p:nvPr/>
        </p:nvSpPr>
        <p:spPr>
          <a:xfrm>
            <a:off x="2596362" y="1275054"/>
            <a:ext cx="7185247" cy="4935775"/>
          </a:xfrm>
          <a:prstGeom prst="rect">
            <a:avLst/>
          </a:prstGeom>
        </p:spPr>
        <p:txBody>
          <a:bodyPr wrap="square">
            <a:spAutoFit/>
          </a:bodyPr>
          <a:lstStyle/>
          <a:p>
            <a:pPr defTabSz="533400" eaLnBrk="1" hangingPunct="1">
              <a:lnSpc>
                <a:spcPct val="200000"/>
              </a:lnSpc>
              <a:spcAft>
                <a:spcPts val="0"/>
              </a:spcAft>
              <a:buClr>
                <a:srgbClr val="8E8E8E"/>
              </a:buClr>
            </a:pPr>
            <a:r>
              <a:rPr lang="ru-RU" sz="1600" b="1" dirty="0">
                <a:solidFill>
                  <a:srgbClr val="002394"/>
                </a:solidFill>
                <a:latin typeface="Tahoma" panose="020B0604030504040204" pitchFamily="34" charset="0"/>
                <a:ea typeface="Tahoma" panose="020B0604030504040204" pitchFamily="34" charset="0"/>
                <a:cs typeface="Tahoma" panose="020B0604030504040204" pitchFamily="34" charset="0"/>
              </a:rPr>
              <a:t>В середине 2000-х начал развиваться как универсальная кредитная организация, вошёл в двадцатку крупнейших банков страны</a:t>
            </a:r>
          </a:p>
          <a:p>
            <a:pPr defTabSz="533400" eaLnBrk="1" hangingPunct="1">
              <a:lnSpc>
                <a:spcPct val="200000"/>
              </a:lnSpc>
              <a:spcAft>
                <a:spcPts val="0"/>
              </a:spcAft>
              <a:buClr>
                <a:srgbClr val="8E8E8E"/>
              </a:buClr>
            </a:pPr>
            <a:r>
              <a:rPr lang="ru-RU" sz="1600" b="1" dirty="0">
                <a:solidFill>
                  <a:srgbClr val="002394"/>
                </a:solidFill>
                <a:latin typeface="Tahoma" panose="020B0604030504040204" pitchFamily="34" charset="0"/>
                <a:ea typeface="Tahoma" panose="020B0604030504040204" pitchFamily="34" charset="0"/>
                <a:cs typeface="Tahoma" panose="020B0604030504040204" pitchFamily="34" charset="0"/>
              </a:rPr>
              <a:t>Поглощение ряда других банковских структур</a:t>
            </a:r>
          </a:p>
          <a:p>
            <a:pPr defTabSz="533400" eaLnBrk="1" hangingPunct="1">
              <a:lnSpc>
                <a:spcPct val="200000"/>
              </a:lnSpc>
              <a:spcAft>
                <a:spcPts val="0"/>
              </a:spcAft>
              <a:buClr>
                <a:srgbClr val="8E8E8E"/>
              </a:buClr>
            </a:pPr>
            <a:r>
              <a:rPr lang="ru-RU" sz="1600" b="1" dirty="0">
                <a:solidFill>
                  <a:srgbClr val="002394"/>
                </a:solidFill>
                <a:latin typeface="Tahoma" panose="020B0604030504040204" pitchFamily="34" charset="0"/>
                <a:ea typeface="Tahoma" panose="020B0604030504040204" pitchFamily="34" charset="0"/>
                <a:cs typeface="Tahoma" panose="020B0604030504040204" pitchFamily="34" charset="0"/>
              </a:rPr>
              <a:t>С 2019 года ПСБ является опорным банком оборонно-промышленного комплекса России</a:t>
            </a:r>
          </a:p>
          <a:p>
            <a:pPr defTabSz="533400" eaLnBrk="1" hangingPunct="1">
              <a:lnSpc>
                <a:spcPct val="200000"/>
              </a:lnSpc>
              <a:spcAft>
                <a:spcPts val="0"/>
              </a:spcAft>
              <a:buClr>
                <a:srgbClr val="8E8E8E"/>
              </a:buClr>
            </a:pPr>
            <a:r>
              <a:rPr lang="ru-RU" sz="1600" b="1" dirty="0">
                <a:solidFill>
                  <a:srgbClr val="002394"/>
                </a:solidFill>
                <a:latin typeface="Tahoma" panose="020B0604030504040204" pitchFamily="34" charset="0"/>
                <a:ea typeface="Tahoma" panose="020B0604030504040204" pitchFamily="34" charset="0"/>
                <a:cs typeface="Tahoma" panose="020B0604030504040204" pitchFamily="34" charset="0"/>
              </a:rPr>
              <a:t>В 2023 году ПСБ присоединил к себе СМП банк, в результате чего в группу ПСБ также вошли «ПСБ Страхование», «ПСБ Лизинг», «СМП Факторинг» и </a:t>
            </a:r>
            <a:r>
              <a:rPr lang="ru-RU" sz="1600" b="1" dirty="0" err="1">
                <a:solidFill>
                  <a:srgbClr val="002394"/>
                </a:solidFill>
                <a:latin typeface="Tahoma" panose="020B0604030504040204" pitchFamily="34" charset="0"/>
                <a:ea typeface="Tahoma" panose="020B0604030504040204" pitchFamily="34" charset="0"/>
                <a:cs typeface="Tahoma" panose="020B0604030504040204" pitchFamily="34" charset="0"/>
              </a:rPr>
              <a:t>Мособлбанк</a:t>
            </a:r>
            <a:endParaRPr lang="ru-RU" sz="1600" b="1" dirty="0">
              <a:solidFill>
                <a:srgbClr val="002394"/>
              </a:solidFill>
              <a:latin typeface="Tahoma" panose="020B0604030504040204" pitchFamily="34" charset="0"/>
              <a:ea typeface="Tahoma" panose="020B0604030504040204" pitchFamily="34" charset="0"/>
              <a:cs typeface="Tahoma" panose="020B0604030504040204" pitchFamily="34" charset="0"/>
            </a:endParaRPr>
          </a:p>
          <a:p>
            <a:pPr defTabSz="533400" eaLnBrk="1" hangingPunct="1">
              <a:lnSpc>
                <a:spcPct val="200000"/>
              </a:lnSpc>
              <a:spcAft>
                <a:spcPts val="0"/>
              </a:spcAft>
              <a:buClr>
                <a:srgbClr val="8E8E8E"/>
              </a:buClr>
            </a:pPr>
            <a:r>
              <a:rPr lang="ru-RU" sz="1600" b="1" dirty="0">
                <a:solidFill>
                  <a:srgbClr val="002394"/>
                </a:solidFill>
                <a:latin typeface="Tahoma" panose="020B0604030504040204" pitchFamily="34" charset="0"/>
                <a:ea typeface="Tahoma" panose="020B0604030504040204" pitchFamily="34" charset="0"/>
                <a:cs typeface="Tahoma" panose="020B0604030504040204" pitchFamily="34" charset="0"/>
              </a:rPr>
              <a:t>В 2024-м году переезд центрального аппарата в Ярославль</a:t>
            </a:r>
          </a:p>
        </p:txBody>
      </p:sp>
      <p:sp>
        <p:nvSpPr>
          <p:cNvPr id="6" name="TextBox 189">
            <a:extLst>
              <a:ext uri="{FF2B5EF4-FFF2-40B4-BE49-F238E27FC236}">
                <a16:creationId xmlns:a16="http://schemas.microsoft.com/office/drawing/2014/main" id="{E47AB0DA-6938-453D-98E4-DDB3960C5AD8}"/>
              </a:ext>
            </a:extLst>
          </p:cNvPr>
          <p:cNvSpPr txBox="1">
            <a:spLocks noChangeArrowheads="1"/>
          </p:cNvSpPr>
          <p:nvPr/>
        </p:nvSpPr>
        <p:spPr bwMode="auto">
          <a:xfrm>
            <a:off x="152400" y="413048"/>
            <a:ext cx="6269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ru-RU"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rPr>
              <a:t>Что повлияло на имидж?</a:t>
            </a:r>
          </a:p>
        </p:txBody>
      </p:sp>
      <p:pic>
        <p:nvPicPr>
          <p:cNvPr id="6150" name="Picture 6" descr="Премиум качество – Бесплатные иконки: спорт и соревнования">
            <a:extLst>
              <a:ext uri="{FF2B5EF4-FFF2-40B4-BE49-F238E27FC236}">
                <a16:creationId xmlns:a16="http://schemas.microsoft.com/office/drawing/2014/main" id="{F2DD794E-C0C2-8DB6-4679-1A3954C2AD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75054"/>
            <a:ext cx="1943100" cy="182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7868162"/>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71EFD-28CD-B6B6-2B3D-E2129B769EC4}"/>
            </a:ext>
          </a:extLst>
        </p:cNvPr>
        <p:cNvGrpSpPr/>
        <p:nvPr/>
      </p:nvGrpSpPr>
      <p:grpSpPr>
        <a:xfrm>
          <a:off x="0" y="0"/>
          <a:ext cx="0" cy="0"/>
          <a:chOff x="0" y="0"/>
          <a:chExt cx="0" cy="0"/>
        </a:xfrm>
      </p:grpSpPr>
      <p:sp>
        <p:nvSpPr>
          <p:cNvPr id="4227" name="Freeform 161">
            <a:extLst>
              <a:ext uri="{FF2B5EF4-FFF2-40B4-BE49-F238E27FC236}">
                <a16:creationId xmlns:a16="http://schemas.microsoft.com/office/drawing/2014/main" id="{76849FB7-8AE1-EDBA-D812-14452C3882A7}"/>
              </a:ext>
            </a:extLst>
          </p:cNvPr>
          <p:cNvSpPr>
            <a:spLocks/>
          </p:cNvSpPr>
          <p:nvPr/>
        </p:nvSpPr>
        <p:spPr bwMode="auto">
          <a:xfrm>
            <a:off x="9344025" y="5373688"/>
            <a:ext cx="0" cy="1587"/>
          </a:xfrm>
          <a:custGeom>
            <a:avLst/>
            <a:gdLst>
              <a:gd name="T0" fmla="*/ 0 w 3"/>
              <a:gd name="T1" fmla="*/ 0 h 1587"/>
              <a:gd name="T2" fmla="*/ 0 w 3"/>
              <a:gd name="T3" fmla="*/ 0 h 1587"/>
              <a:gd name="T4" fmla="*/ 0 w 3"/>
              <a:gd name="T5" fmla="*/ 0 h 1587"/>
              <a:gd name="T6" fmla="*/ 0 w 3"/>
              <a:gd name="T7" fmla="*/ 0 h 1587"/>
              <a:gd name="T8" fmla="*/ 0 w 3"/>
              <a:gd name="T9" fmla="*/ 0 h 1587"/>
              <a:gd name="T10" fmla="*/ 0 w 3"/>
              <a:gd name="T11" fmla="*/ 0 h 1587"/>
              <a:gd name="T12" fmla="*/ 0 60000 65536"/>
              <a:gd name="T13" fmla="*/ 0 60000 65536"/>
              <a:gd name="T14" fmla="*/ 0 60000 65536"/>
              <a:gd name="T15" fmla="*/ 0 60000 65536"/>
              <a:gd name="T16" fmla="*/ 0 60000 65536"/>
              <a:gd name="T17" fmla="*/ 0 60000 65536"/>
              <a:gd name="T18" fmla="*/ 0 w 3"/>
              <a:gd name="T19" fmla="*/ 0 h 1587"/>
              <a:gd name="T20" fmla="*/ 0 w 3"/>
              <a:gd name="T21" fmla="*/ 1587 h 1587"/>
            </a:gdLst>
            <a:ahLst/>
            <a:cxnLst>
              <a:cxn ang="T12">
                <a:pos x="T0" y="T1"/>
              </a:cxn>
              <a:cxn ang="T13">
                <a:pos x="T2" y="T3"/>
              </a:cxn>
              <a:cxn ang="T14">
                <a:pos x="T4" y="T5"/>
              </a:cxn>
              <a:cxn ang="T15">
                <a:pos x="T6" y="T7"/>
              </a:cxn>
              <a:cxn ang="T16">
                <a:pos x="T8" y="T9"/>
              </a:cxn>
              <a:cxn ang="T17">
                <a:pos x="T10" y="T11"/>
              </a:cxn>
            </a:cxnLst>
            <a:rect l="T18" t="T19" r="T20" b="T21"/>
            <a:pathLst>
              <a:path w="3" h="1587">
                <a:moveTo>
                  <a:pt x="3" y="0"/>
                </a:moveTo>
                <a:lnTo>
                  <a:pt x="3" y="0"/>
                </a:lnTo>
                <a:lnTo>
                  <a:pt x="2" y="0"/>
                </a:lnTo>
                <a:lnTo>
                  <a:pt x="0" y="0"/>
                </a:lnTo>
                <a:lnTo>
                  <a:pt x="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4251" name="TextBox 189">
            <a:extLst>
              <a:ext uri="{FF2B5EF4-FFF2-40B4-BE49-F238E27FC236}">
                <a16:creationId xmlns:a16="http://schemas.microsoft.com/office/drawing/2014/main" id="{3173A7D0-4C1A-BB69-6155-B5C023AE71AD}"/>
              </a:ext>
            </a:extLst>
          </p:cNvPr>
          <p:cNvSpPr txBox="1">
            <a:spLocks noChangeArrowheads="1"/>
          </p:cNvSpPr>
          <p:nvPr/>
        </p:nvSpPr>
        <p:spPr bwMode="auto">
          <a:xfrm>
            <a:off x="0" y="260648"/>
            <a:ext cx="6269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ru-RU"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2" name="Прямоугольник 1">
            <a:extLst>
              <a:ext uri="{FF2B5EF4-FFF2-40B4-BE49-F238E27FC236}">
                <a16:creationId xmlns:a16="http://schemas.microsoft.com/office/drawing/2014/main" id="{768C98F8-F82E-588E-BED1-8D6C86BB3B17}"/>
              </a:ext>
            </a:extLst>
          </p:cNvPr>
          <p:cNvSpPr/>
          <p:nvPr/>
        </p:nvSpPr>
        <p:spPr>
          <a:xfrm>
            <a:off x="2720752" y="2114858"/>
            <a:ext cx="7185247" cy="1981120"/>
          </a:xfrm>
          <a:prstGeom prst="rect">
            <a:avLst/>
          </a:prstGeom>
        </p:spPr>
        <p:txBody>
          <a:bodyPr wrap="square">
            <a:spAutoFit/>
          </a:bodyPr>
          <a:lstStyle/>
          <a:p>
            <a:pPr defTabSz="533400" eaLnBrk="1" hangingPunct="1">
              <a:lnSpc>
                <a:spcPct val="200000"/>
              </a:lnSpc>
              <a:spcAft>
                <a:spcPts val="0"/>
              </a:spcAft>
              <a:buClr>
                <a:srgbClr val="8E8E8E"/>
              </a:buClr>
            </a:pPr>
            <a:r>
              <a:rPr lang="ru-RU" sz="1600" b="1" dirty="0">
                <a:solidFill>
                  <a:srgbClr val="002394"/>
                </a:solidFill>
                <a:latin typeface="Tahoma" panose="020B0604030504040204" pitchFamily="34" charset="0"/>
                <a:ea typeface="Tahoma" panose="020B0604030504040204" pitchFamily="34" charset="0"/>
                <a:cs typeface="Tahoma" panose="020B0604030504040204" pitchFamily="34" charset="0"/>
              </a:rPr>
              <a:t>Банк стоит перед задачей изменить своё узкое восприятие как «военного» или «зарплатного». Цель — создать ассоциацию с «банком для обычной жизни обычных людей» и раскрыть через эмоции слоган «Банк сильной страны».</a:t>
            </a:r>
          </a:p>
        </p:txBody>
      </p:sp>
      <p:sp>
        <p:nvSpPr>
          <p:cNvPr id="6" name="TextBox 189">
            <a:extLst>
              <a:ext uri="{FF2B5EF4-FFF2-40B4-BE49-F238E27FC236}">
                <a16:creationId xmlns:a16="http://schemas.microsoft.com/office/drawing/2014/main" id="{D6C0ED3A-7E9E-3A48-6800-9B8F3B814CAC}"/>
              </a:ext>
            </a:extLst>
          </p:cNvPr>
          <p:cNvSpPr txBox="1">
            <a:spLocks noChangeArrowheads="1"/>
          </p:cNvSpPr>
          <p:nvPr/>
        </p:nvSpPr>
        <p:spPr bwMode="auto">
          <a:xfrm>
            <a:off x="152400" y="413048"/>
            <a:ext cx="6269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ru-RU"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rPr>
              <a:t>Изменение имиджа через рекламу</a:t>
            </a:r>
          </a:p>
        </p:txBody>
      </p:sp>
      <p:pic>
        <p:nvPicPr>
          <p:cNvPr id="6146" name="Picture 2" descr="Стрелки обновления иконка | Freepik">
            <a:extLst>
              <a:ext uri="{FF2B5EF4-FFF2-40B4-BE49-F238E27FC236}">
                <a16:creationId xmlns:a16="http://schemas.microsoft.com/office/drawing/2014/main" id="{D722CF71-5681-55CF-EF53-8C8552DFDF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520" y="2282522"/>
            <a:ext cx="1419225" cy="1409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8235159"/>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7" name="Freeform 161"/>
          <p:cNvSpPr>
            <a:spLocks/>
          </p:cNvSpPr>
          <p:nvPr/>
        </p:nvSpPr>
        <p:spPr bwMode="auto">
          <a:xfrm>
            <a:off x="9344025" y="5373688"/>
            <a:ext cx="0" cy="1587"/>
          </a:xfrm>
          <a:custGeom>
            <a:avLst/>
            <a:gdLst>
              <a:gd name="T0" fmla="*/ 0 w 3"/>
              <a:gd name="T1" fmla="*/ 0 h 1587"/>
              <a:gd name="T2" fmla="*/ 0 w 3"/>
              <a:gd name="T3" fmla="*/ 0 h 1587"/>
              <a:gd name="T4" fmla="*/ 0 w 3"/>
              <a:gd name="T5" fmla="*/ 0 h 1587"/>
              <a:gd name="T6" fmla="*/ 0 w 3"/>
              <a:gd name="T7" fmla="*/ 0 h 1587"/>
              <a:gd name="T8" fmla="*/ 0 w 3"/>
              <a:gd name="T9" fmla="*/ 0 h 1587"/>
              <a:gd name="T10" fmla="*/ 0 w 3"/>
              <a:gd name="T11" fmla="*/ 0 h 1587"/>
              <a:gd name="T12" fmla="*/ 0 60000 65536"/>
              <a:gd name="T13" fmla="*/ 0 60000 65536"/>
              <a:gd name="T14" fmla="*/ 0 60000 65536"/>
              <a:gd name="T15" fmla="*/ 0 60000 65536"/>
              <a:gd name="T16" fmla="*/ 0 60000 65536"/>
              <a:gd name="T17" fmla="*/ 0 60000 65536"/>
              <a:gd name="T18" fmla="*/ 0 w 3"/>
              <a:gd name="T19" fmla="*/ 0 h 1587"/>
              <a:gd name="T20" fmla="*/ 0 w 3"/>
              <a:gd name="T21" fmla="*/ 1587 h 1587"/>
            </a:gdLst>
            <a:ahLst/>
            <a:cxnLst>
              <a:cxn ang="T12">
                <a:pos x="T0" y="T1"/>
              </a:cxn>
              <a:cxn ang="T13">
                <a:pos x="T2" y="T3"/>
              </a:cxn>
              <a:cxn ang="T14">
                <a:pos x="T4" y="T5"/>
              </a:cxn>
              <a:cxn ang="T15">
                <a:pos x="T6" y="T7"/>
              </a:cxn>
              <a:cxn ang="T16">
                <a:pos x="T8" y="T9"/>
              </a:cxn>
              <a:cxn ang="T17">
                <a:pos x="T10" y="T11"/>
              </a:cxn>
            </a:cxnLst>
            <a:rect l="T18" t="T19" r="T20" b="T21"/>
            <a:pathLst>
              <a:path w="3" h="1587">
                <a:moveTo>
                  <a:pt x="3" y="0"/>
                </a:moveTo>
                <a:lnTo>
                  <a:pt x="3" y="0"/>
                </a:lnTo>
                <a:lnTo>
                  <a:pt x="2" y="0"/>
                </a:lnTo>
                <a:lnTo>
                  <a:pt x="0" y="0"/>
                </a:lnTo>
                <a:lnTo>
                  <a:pt x="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4251" name="TextBox 189"/>
          <p:cNvSpPr txBox="1">
            <a:spLocks noChangeArrowheads="1"/>
          </p:cNvSpPr>
          <p:nvPr/>
        </p:nvSpPr>
        <p:spPr bwMode="auto">
          <a:xfrm>
            <a:off x="0" y="260648"/>
            <a:ext cx="6269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ru-RU"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2" name="Прямоугольник 1"/>
          <p:cNvSpPr/>
          <p:nvPr/>
        </p:nvSpPr>
        <p:spPr>
          <a:xfrm>
            <a:off x="219373" y="1387515"/>
            <a:ext cx="4013548" cy="4761240"/>
          </a:xfrm>
          <a:prstGeom prst="rect">
            <a:avLst/>
          </a:prstGeom>
        </p:spPr>
        <p:txBody>
          <a:bodyPr wrap="square">
            <a:spAutoFit/>
          </a:bodyPr>
          <a:lstStyle/>
          <a:p>
            <a:pPr defTabSz="533400" eaLnBrk="1" hangingPunct="1">
              <a:lnSpc>
                <a:spcPct val="200000"/>
              </a:lnSpc>
              <a:spcAft>
                <a:spcPts val="0"/>
              </a:spcAft>
              <a:buClr>
                <a:srgbClr val="8E8E8E"/>
              </a:buClr>
            </a:pPr>
            <a:r>
              <a:rPr lang="ru-RU" sz="1400" b="1" dirty="0">
                <a:solidFill>
                  <a:srgbClr val="002394"/>
                </a:solidFill>
                <a:latin typeface="Tahoma" panose="020B0604030504040204" pitchFamily="34" charset="0"/>
                <a:ea typeface="Tahoma" panose="020B0604030504040204" pitchFamily="34" charset="0"/>
                <a:cs typeface="Tahoma" panose="020B0604030504040204" pitchFamily="34" charset="0"/>
              </a:rPr>
              <a:t>На первом этапе банк решал задачу повышения узнаваемости бренда и его аббревиатуры. Для этого использовался визуальный приём-ребус: на экране показывались слова, в которых не хватало ключевых букв — П, С, Б. </a:t>
            </a:r>
          </a:p>
          <a:p>
            <a:pPr defTabSz="533400" eaLnBrk="1" hangingPunct="1">
              <a:lnSpc>
                <a:spcPct val="200000"/>
              </a:lnSpc>
              <a:spcAft>
                <a:spcPts val="0"/>
              </a:spcAft>
              <a:buClr>
                <a:srgbClr val="8E8E8E"/>
              </a:buClr>
            </a:pPr>
            <a:r>
              <a:rPr lang="ru-RU" sz="1400" b="1" dirty="0">
                <a:solidFill>
                  <a:srgbClr val="002394"/>
                </a:solidFill>
                <a:latin typeface="Tahoma" panose="020B0604030504040204" pitchFamily="34" charset="0"/>
                <a:ea typeface="Tahoma" panose="020B0604030504040204" pitchFamily="34" charset="0"/>
                <a:cs typeface="Tahoma" panose="020B0604030504040204" pitchFamily="34" charset="0"/>
              </a:rPr>
              <a:t>С появлением этих букв фразы обретали смысл, например: </a:t>
            </a:r>
          </a:p>
          <a:p>
            <a:pPr defTabSz="533400" eaLnBrk="1" hangingPunct="1">
              <a:lnSpc>
                <a:spcPct val="200000"/>
              </a:lnSpc>
              <a:spcAft>
                <a:spcPts val="0"/>
              </a:spcAft>
              <a:buClr>
                <a:srgbClr val="8E8E8E"/>
              </a:buClr>
            </a:pPr>
            <a:r>
              <a:rPr lang="ru-RU" sz="1400" b="1" u="sng" dirty="0">
                <a:solidFill>
                  <a:srgbClr val="002394"/>
                </a:solidFill>
                <a:latin typeface="Tahoma" panose="020B0604030504040204" pitchFamily="34" charset="0"/>
                <a:ea typeface="Tahoma" panose="020B0604030504040204" pitchFamily="34" charset="0"/>
                <a:cs typeface="Tahoma" panose="020B0604030504040204" pitchFamily="34" charset="0"/>
              </a:rPr>
              <a:t>П</a:t>
            </a:r>
            <a:r>
              <a:rPr lang="ru-RU" sz="1400" b="1" dirty="0">
                <a:solidFill>
                  <a:srgbClr val="002394"/>
                </a:solidFill>
                <a:latin typeface="Tahoma" panose="020B0604030504040204" pitchFamily="34" charset="0"/>
                <a:ea typeface="Tahoma" panose="020B0604030504040204" pitchFamily="34" charset="0"/>
                <a:cs typeface="Tahoma" panose="020B0604030504040204" pitchFamily="34" charset="0"/>
              </a:rPr>
              <a:t>острою </a:t>
            </a:r>
            <a:r>
              <a:rPr lang="ru-RU" sz="1400" b="1" u="sng" dirty="0">
                <a:solidFill>
                  <a:srgbClr val="002394"/>
                </a:solidFill>
                <a:latin typeface="Tahoma" panose="020B0604030504040204" pitchFamily="34" charset="0"/>
                <a:ea typeface="Tahoma" panose="020B0604030504040204" pitchFamily="34" charset="0"/>
                <a:cs typeface="Tahoma" panose="020B0604030504040204" pitchFamily="34" charset="0"/>
              </a:rPr>
              <a:t>С</a:t>
            </a:r>
            <a:r>
              <a:rPr lang="ru-RU" sz="1400" b="1" dirty="0">
                <a:solidFill>
                  <a:srgbClr val="002394"/>
                </a:solidFill>
                <a:latin typeface="Tahoma" panose="020B0604030504040204" pitchFamily="34" charset="0"/>
                <a:ea typeface="Tahoma" panose="020B0604030504040204" pitchFamily="34" charset="0"/>
                <a:cs typeface="Tahoma" panose="020B0604030504040204" pitchFamily="34" charset="0"/>
              </a:rPr>
              <a:t>ильный </a:t>
            </a:r>
            <a:r>
              <a:rPr lang="ru-RU" sz="1400" b="1" u="sng" dirty="0">
                <a:solidFill>
                  <a:srgbClr val="002394"/>
                </a:solidFill>
                <a:latin typeface="Tahoma" panose="020B0604030504040204" pitchFamily="34" charset="0"/>
                <a:ea typeface="Tahoma" panose="020B0604030504040204" pitchFamily="34" charset="0"/>
                <a:cs typeface="Tahoma" panose="020B0604030504040204" pitchFamily="34" charset="0"/>
              </a:rPr>
              <a:t>Б</a:t>
            </a:r>
            <a:r>
              <a:rPr lang="ru-RU" sz="1400" b="1" dirty="0">
                <a:solidFill>
                  <a:srgbClr val="002394"/>
                </a:solidFill>
                <a:latin typeface="Tahoma" panose="020B0604030504040204" pitchFamily="34" charset="0"/>
                <a:ea typeface="Tahoma" panose="020B0604030504040204" pitchFamily="34" charset="0"/>
                <a:cs typeface="Tahoma" panose="020B0604030504040204" pitchFamily="34" charset="0"/>
              </a:rPr>
              <a:t>изнес, </a:t>
            </a:r>
          </a:p>
          <a:p>
            <a:pPr defTabSz="533400" eaLnBrk="1" hangingPunct="1">
              <a:lnSpc>
                <a:spcPct val="200000"/>
              </a:lnSpc>
              <a:spcAft>
                <a:spcPts val="0"/>
              </a:spcAft>
              <a:buClr>
                <a:srgbClr val="8E8E8E"/>
              </a:buClr>
            </a:pPr>
            <a:r>
              <a:rPr lang="ru-RU" sz="1400" b="1" u="sng" dirty="0">
                <a:solidFill>
                  <a:srgbClr val="002394"/>
                </a:solidFill>
                <a:latin typeface="Tahoma" panose="020B0604030504040204" pitchFamily="34" charset="0"/>
                <a:ea typeface="Tahoma" panose="020B0604030504040204" pitchFamily="34" charset="0"/>
                <a:cs typeface="Tahoma" panose="020B0604030504040204" pitchFamily="34" charset="0"/>
              </a:rPr>
              <a:t>П</a:t>
            </a:r>
            <a:r>
              <a:rPr lang="ru-RU" sz="1400" b="1" dirty="0">
                <a:solidFill>
                  <a:srgbClr val="002394"/>
                </a:solidFill>
                <a:latin typeface="Tahoma" panose="020B0604030504040204" pitchFamily="34" charset="0"/>
                <a:ea typeface="Tahoma" panose="020B0604030504040204" pitchFamily="34" charset="0"/>
                <a:cs typeface="Tahoma" panose="020B0604030504040204" pitchFamily="34" charset="0"/>
              </a:rPr>
              <a:t>окупки. </a:t>
            </a:r>
            <a:r>
              <a:rPr lang="ru-RU" sz="1400" b="1" u="sng" dirty="0">
                <a:solidFill>
                  <a:srgbClr val="002394"/>
                </a:solidFill>
                <a:latin typeface="Tahoma" panose="020B0604030504040204" pitchFamily="34" charset="0"/>
                <a:ea typeface="Tahoma" panose="020B0604030504040204" pitchFamily="34" charset="0"/>
                <a:cs typeface="Tahoma" panose="020B0604030504040204" pitchFamily="34" charset="0"/>
              </a:rPr>
              <a:t>С</a:t>
            </a:r>
            <a:r>
              <a:rPr lang="ru-RU" sz="1400" b="1" dirty="0">
                <a:solidFill>
                  <a:srgbClr val="002394"/>
                </a:solidFill>
                <a:latin typeface="Tahoma" panose="020B0604030504040204" pitchFamily="34" charset="0"/>
                <a:ea typeface="Tahoma" panose="020B0604030504040204" pitchFamily="34" charset="0"/>
                <a:cs typeface="Tahoma" panose="020B0604030504040204" pitchFamily="34" charset="0"/>
              </a:rPr>
              <a:t>кидки. </a:t>
            </a:r>
            <a:r>
              <a:rPr lang="ru-RU" sz="1400" b="1" dirty="0" err="1">
                <a:solidFill>
                  <a:srgbClr val="002394"/>
                </a:solidFill>
                <a:latin typeface="Tahoma" panose="020B0604030504040204" pitchFamily="34" charset="0"/>
                <a:ea typeface="Tahoma" panose="020B0604030504040204" pitchFamily="34" charset="0"/>
                <a:cs typeface="Tahoma" panose="020B0604030504040204" pitchFamily="34" charset="0"/>
              </a:rPr>
              <a:t>Кеш</a:t>
            </a:r>
            <a:r>
              <a:rPr lang="ru-RU" sz="1400" b="1" u="sng" dirty="0" err="1">
                <a:solidFill>
                  <a:srgbClr val="002394"/>
                </a:solidFill>
                <a:latin typeface="Tahoma" panose="020B0604030504040204" pitchFamily="34" charset="0"/>
                <a:ea typeface="Tahoma" panose="020B0604030504040204" pitchFamily="34" charset="0"/>
                <a:cs typeface="Tahoma" panose="020B0604030504040204" pitchFamily="34" charset="0"/>
              </a:rPr>
              <a:t>Б</a:t>
            </a:r>
            <a:r>
              <a:rPr lang="ru-RU" sz="1400" b="1" dirty="0" err="1">
                <a:solidFill>
                  <a:srgbClr val="002394"/>
                </a:solidFill>
                <a:latin typeface="Tahoma" panose="020B0604030504040204" pitchFamily="34" charset="0"/>
                <a:ea typeface="Tahoma" panose="020B0604030504040204" pitchFamily="34" charset="0"/>
                <a:cs typeface="Tahoma" panose="020B0604030504040204" pitchFamily="34" charset="0"/>
              </a:rPr>
              <a:t>эк</a:t>
            </a:r>
            <a:r>
              <a:rPr lang="ru-RU" sz="1400" b="1" dirty="0">
                <a:solidFill>
                  <a:srgbClr val="002394"/>
                </a:solidFill>
                <a:latin typeface="Tahoma" panose="020B0604030504040204" pitchFamily="34" charset="0"/>
                <a:ea typeface="Tahoma" panose="020B0604030504040204" pitchFamily="34" charset="0"/>
                <a:cs typeface="Tahoma" panose="020B0604030504040204" pitchFamily="34" charset="0"/>
              </a:rPr>
              <a:t>, </a:t>
            </a:r>
          </a:p>
          <a:p>
            <a:pPr defTabSz="533400" eaLnBrk="1" hangingPunct="1">
              <a:lnSpc>
                <a:spcPct val="200000"/>
              </a:lnSpc>
              <a:spcAft>
                <a:spcPts val="0"/>
              </a:spcAft>
              <a:buClr>
                <a:srgbClr val="8E8E8E"/>
              </a:buClr>
            </a:pPr>
            <a:r>
              <a:rPr lang="ru-RU" sz="1400" b="1" dirty="0" err="1">
                <a:solidFill>
                  <a:srgbClr val="002394"/>
                </a:solidFill>
                <a:latin typeface="Tahoma" panose="020B0604030504040204" pitchFamily="34" charset="0"/>
                <a:ea typeface="Tahoma" panose="020B0604030504040204" pitchFamily="34" charset="0"/>
                <a:cs typeface="Tahoma" panose="020B0604030504040204" pitchFamily="34" charset="0"/>
              </a:rPr>
              <a:t>Бес</a:t>
            </a:r>
            <a:r>
              <a:rPr lang="ru-RU" sz="1400" b="1" u="sng" dirty="0" err="1">
                <a:solidFill>
                  <a:srgbClr val="002394"/>
                </a:solidFill>
                <a:latin typeface="Tahoma" panose="020B0604030504040204" pitchFamily="34" charset="0"/>
                <a:ea typeface="Tahoma" panose="020B0604030504040204" pitchFamily="34" charset="0"/>
                <a:cs typeface="Tahoma" panose="020B0604030504040204" pitchFamily="34" charset="0"/>
              </a:rPr>
              <a:t>П</a:t>
            </a:r>
            <a:r>
              <a:rPr lang="ru-RU" sz="1400" b="1" dirty="0" err="1">
                <a:solidFill>
                  <a:srgbClr val="002394"/>
                </a:solidFill>
                <a:latin typeface="Tahoma" panose="020B0604030504040204" pitchFamily="34" charset="0"/>
                <a:ea typeface="Tahoma" panose="020B0604030504040204" pitchFamily="34" charset="0"/>
                <a:cs typeface="Tahoma" panose="020B0604030504040204" pitchFamily="34" charset="0"/>
              </a:rPr>
              <a:t>латная</a:t>
            </a:r>
            <a:r>
              <a:rPr lang="ru-RU" sz="1400" b="1" dirty="0">
                <a:solidFill>
                  <a:srgbClr val="002394"/>
                </a:solidFill>
                <a:latin typeface="Tahoma" panose="020B0604030504040204" pitchFamily="34" charset="0"/>
                <a:ea typeface="Tahoma" panose="020B0604030504040204" pitchFamily="34" charset="0"/>
                <a:cs typeface="Tahoma" panose="020B0604030504040204" pitchFamily="34" charset="0"/>
              </a:rPr>
              <a:t>. </a:t>
            </a:r>
            <a:r>
              <a:rPr lang="ru-RU" sz="1400" b="1" dirty="0" err="1">
                <a:solidFill>
                  <a:srgbClr val="002394"/>
                </a:solidFill>
                <a:latin typeface="Tahoma" panose="020B0604030504040204" pitchFamily="34" charset="0"/>
                <a:ea typeface="Tahoma" panose="020B0604030504040204" pitchFamily="34" charset="0"/>
                <a:cs typeface="Tahoma" panose="020B0604030504040204" pitchFamily="34" charset="0"/>
              </a:rPr>
              <a:t>Нав</a:t>
            </a:r>
            <a:r>
              <a:rPr lang="ru-RU" sz="1400" b="1" u="sng" dirty="0" err="1">
                <a:solidFill>
                  <a:srgbClr val="002394"/>
                </a:solidFill>
                <a:latin typeface="Tahoma" panose="020B0604030504040204" pitchFamily="34" charset="0"/>
                <a:ea typeface="Tahoma" panose="020B0604030504040204" pitchFamily="34" charset="0"/>
                <a:cs typeface="Tahoma" panose="020B0604030504040204" pitchFamily="34" charset="0"/>
              </a:rPr>
              <a:t>С</a:t>
            </a:r>
            <a:r>
              <a:rPr lang="ru-RU" sz="1400" b="1" dirty="0" err="1">
                <a:solidFill>
                  <a:srgbClr val="002394"/>
                </a:solidFill>
                <a:latin typeface="Tahoma" panose="020B0604030504040204" pitchFamily="34" charset="0"/>
                <a:ea typeface="Tahoma" panose="020B0604030504040204" pitchFamily="34" charset="0"/>
                <a:cs typeface="Tahoma" panose="020B0604030504040204" pitchFamily="34" charset="0"/>
              </a:rPr>
              <a:t>егда</a:t>
            </a:r>
            <a:r>
              <a:rPr lang="ru-RU" sz="1400" b="1" dirty="0">
                <a:solidFill>
                  <a:srgbClr val="002394"/>
                </a:solidFill>
                <a:latin typeface="Tahoma" panose="020B0604030504040204" pitchFamily="34" charset="0"/>
                <a:ea typeface="Tahoma" panose="020B0604030504040204" pitchFamily="34" charset="0"/>
                <a:cs typeface="Tahoma" panose="020B0604030504040204" pitchFamily="34" charset="0"/>
              </a:rPr>
              <a:t> и </a:t>
            </a:r>
            <a:r>
              <a:rPr lang="ru-RU" sz="1400" b="1" u="sng" dirty="0">
                <a:solidFill>
                  <a:srgbClr val="002394"/>
                </a:solidFill>
                <a:latin typeface="Tahoma" panose="020B0604030504040204" pitchFamily="34" charset="0"/>
                <a:ea typeface="Tahoma" panose="020B0604030504040204" pitchFamily="34" charset="0"/>
                <a:cs typeface="Tahoma" panose="020B0604030504040204" pitchFamily="34" charset="0"/>
              </a:rPr>
              <a:t>Б</a:t>
            </a:r>
            <a:r>
              <a:rPr lang="ru-RU" sz="1400" b="1" dirty="0">
                <a:solidFill>
                  <a:srgbClr val="002394"/>
                </a:solidFill>
                <a:latin typeface="Tahoma" panose="020B0604030504040204" pitchFamily="34" charset="0"/>
                <a:ea typeface="Tahoma" panose="020B0604030504040204" pitchFamily="34" charset="0"/>
                <a:cs typeface="Tahoma" panose="020B0604030504040204" pitchFamily="34" charset="0"/>
              </a:rPr>
              <a:t>ез условий.</a:t>
            </a:r>
          </a:p>
        </p:txBody>
      </p:sp>
      <p:sp>
        <p:nvSpPr>
          <p:cNvPr id="6" name="TextBox 189">
            <a:extLst>
              <a:ext uri="{FF2B5EF4-FFF2-40B4-BE49-F238E27FC236}">
                <a16:creationId xmlns:a16="http://schemas.microsoft.com/office/drawing/2014/main" id="{E47AB0DA-6938-453D-98E4-DDB3960C5AD8}"/>
              </a:ext>
            </a:extLst>
          </p:cNvPr>
          <p:cNvSpPr txBox="1">
            <a:spLocks noChangeArrowheads="1"/>
          </p:cNvSpPr>
          <p:nvPr/>
        </p:nvSpPr>
        <p:spPr bwMode="auto">
          <a:xfrm>
            <a:off x="152400" y="413048"/>
            <a:ext cx="6269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ru-RU"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rPr>
              <a:t>Этапы проведения рекламы</a:t>
            </a:r>
          </a:p>
        </p:txBody>
      </p:sp>
      <p:pic>
        <p:nvPicPr>
          <p:cNvPr id="4" name="Рисунок 3">
            <a:extLst>
              <a:ext uri="{FF2B5EF4-FFF2-40B4-BE49-F238E27FC236}">
                <a16:creationId xmlns:a16="http://schemas.microsoft.com/office/drawing/2014/main" id="{4438BB0D-4294-E51A-1FD8-B1CBC0EB58F8}"/>
              </a:ext>
            </a:extLst>
          </p:cNvPr>
          <p:cNvPicPr>
            <a:picLocks noChangeAspect="1"/>
          </p:cNvPicPr>
          <p:nvPr/>
        </p:nvPicPr>
        <p:blipFill>
          <a:blip r:embed="rId3"/>
          <a:srcRect l="11506"/>
          <a:stretch>
            <a:fillRect/>
          </a:stretch>
        </p:blipFill>
        <p:spPr>
          <a:xfrm>
            <a:off x="4218468" y="1999674"/>
            <a:ext cx="5525714" cy="2858652"/>
          </a:xfrm>
          <a:prstGeom prst="rect">
            <a:avLst/>
          </a:prstGeom>
        </p:spPr>
      </p:pic>
    </p:spTree>
    <p:extLst>
      <p:ext uri="{BB962C8B-B14F-4D97-AF65-F5344CB8AC3E}">
        <p14:creationId xmlns:p14="http://schemas.microsoft.com/office/powerpoint/2010/main" val="3973380992"/>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7" name="Freeform 161"/>
          <p:cNvSpPr>
            <a:spLocks/>
          </p:cNvSpPr>
          <p:nvPr/>
        </p:nvSpPr>
        <p:spPr bwMode="auto">
          <a:xfrm>
            <a:off x="9344025" y="5373688"/>
            <a:ext cx="0" cy="1587"/>
          </a:xfrm>
          <a:custGeom>
            <a:avLst/>
            <a:gdLst>
              <a:gd name="T0" fmla="*/ 0 w 3"/>
              <a:gd name="T1" fmla="*/ 0 h 1587"/>
              <a:gd name="T2" fmla="*/ 0 w 3"/>
              <a:gd name="T3" fmla="*/ 0 h 1587"/>
              <a:gd name="T4" fmla="*/ 0 w 3"/>
              <a:gd name="T5" fmla="*/ 0 h 1587"/>
              <a:gd name="T6" fmla="*/ 0 w 3"/>
              <a:gd name="T7" fmla="*/ 0 h 1587"/>
              <a:gd name="T8" fmla="*/ 0 w 3"/>
              <a:gd name="T9" fmla="*/ 0 h 1587"/>
              <a:gd name="T10" fmla="*/ 0 w 3"/>
              <a:gd name="T11" fmla="*/ 0 h 1587"/>
              <a:gd name="T12" fmla="*/ 0 60000 65536"/>
              <a:gd name="T13" fmla="*/ 0 60000 65536"/>
              <a:gd name="T14" fmla="*/ 0 60000 65536"/>
              <a:gd name="T15" fmla="*/ 0 60000 65536"/>
              <a:gd name="T16" fmla="*/ 0 60000 65536"/>
              <a:gd name="T17" fmla="*/ 0 60000 65536"/>
              <a:gd name="T18" fmla="*/ 0 w 3"/>
              <a:gd name="T19" fmla="*/ 0 h 1587"/>
              <a:gd name="T20" fmla="*/ 0 w 3"/>
              <a:gd name="T21" fmla="*/ 1587 h 1587"/>
            </a:gdLst>
            <a:ahLst/>
            <a:cxnLst>
              <a:cxn ang="T12">
                <a:pos x="T0" y="T1"/>
              </a:cxn>
              <a:cxn ang="T13">
                <a:pos x="T2" y="T3"/>
              </a:cxn>
              <a:cxn ang="T14">
                <a:pos x="T4" y="T5"/>
              </a:cxn>
              <a:cxn ang="T15">
                <a:pos x="T6" y="T7"/>
              </a:cxn>
              <a:cxn ang="T16">
                <a:pos x="T8" y="T9"/>
              </a:cxn>
              <a:cxn ang="T17">
                <a:pos x="T10" y="T11"/>
              </a:cxn>
            </a:cxnLst>
            <a:rect l="T18" t="T19" r="T20" b="T21"/>
            <a:pathLst>
              <a:path w="3" h="1587">
                <a:moveTo>
                  <a:pt x="3" y="0"/>
                </a:moveTo>
                <a:lnTo>
                  <a:pt x="3" y="0"/>
                </a:lnTo>
                <a:lnTo>
                  <a:pt x="2" y="0"/>
                </a:lnTo>
                <a:lnTo>
                  <a:pt x="0" y="0"/>
                </a:lnTo>
                <a:lnTo>
                  <a:pt x="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ru-RU">
              <a:latin typeface="Tahoma" panose="020B0604030504040204" pitchFamily="34" charset="0"/>
              <a:ea typeface="Tahoma" panose="020B0604030504040204" pitchFamily="34" charset="0"/>
              <a:cs typeface="Tahoma" panose="020B0604030504040204" pitchFamily="34" charset="0"/>
            </a:endParaRPr>
          </a:p>
        </p:txBody>
      </p:sp>
      <p:sp>
        <p:nvSpPr>
          <p:cNvPr id="4251" name="TextBox 189"/>
          <p:cNvSpPr txBox="1">
            <a:spLocks noChangeArrowheads="1"/>
          </p:cNvSpPr>
          <p:nvPr/>
        </p:nvSpPr>
        <p:spPr bwMode="auto">
          <a:xfrm>
            <a:off x="0" y="260648"/>
            <a:ext cx="6269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ru-RU"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2" name="Прямоугольник 1"/>
          <p:cNvSpPr/>
          <p:nvPr/>
        </p:nvSpPr>
        <p:spPr>
          <a:xfrm>
            <a:off x="219372" y="1387515"/>
            <a:ext cx="9918203" cy="4443332"/>
          </a:xfrm>
          <a:prstGeom prst="rect">
            <a:avLst/>
          </a:prstGeom>
        </p:spPr>
        <p:txBody>
          <a:bodyPr wrap="square">
            <a:spAutoFit/>
          </a:bodyPr>
          <a:lstStyle/>
          <a:p>
            <a:pPr defTabSz="533400" eaLnBrk="1" hangingPunct="1">
              <a:lnSpc>
                <a:spcPct val="200000"/>
              </a:lnSpc>
              <a:spcAft>
                <a:spcPts val="0"/>
              </a:spcAft>
              <a:buClr>
                <a:srgbClr val="8E8E8E"/>
              </a:buClr>
            </a:pPr>
            <a:r>
              <a:rPr lang="ru-RU" sz="1600" b="1" dirty="0">
                <a:solidFill>
                  <a:srgbClr val="002394"/>
                </a:solidFill>
                <a:latin typeface="Tahoma" panose="020B0604030504040204" pitchFamily="34" charset="0"/>
                <a:ea typeface="Tahoma" panose="020B0604030504040204" pitchFamily="34" charset="0"/>
                <a:cs typeface="Tahoma" panose="020B0604030504040204" pitchFamily="34" charset="0"/>
              </a:rPr>
              <a:t>На втором этапе акцент сместился на демонстрацию продуктов, таких как дебетовая карта «Твой </a:t>
            </a:r>
            <a:r>
              <a:rPr lang="ru-RU" sz="1600" b="1" dirty="0" err="1">
                <a:solidFill>
                  <a:srgbClr val="002394"/>
                </a:solidFill>
                <a:latin typeface="Tahoma" panose="020B0604030504040204" pitchFamily="34" charset="0"/>
                <a:ea typeface="Tahoma" panose="020B0604030504040204" pitchFamily="34" charset="0"/>
                <a:cs typeface="Tahoma" panose="020B0604030504040204" pitchFamily="34" charset="0"/>
              </a:rPr>
              <a:t>кешбек</a:t>
            </a:r>
            <a:r>
              <a:rPr lang="ru-RU" sz="1600" b="1" dirty="0">
                <a:solidFill>
                  <a:srgbClr val="002394"/>
                </a:solidFill>
                <a:latin typeface="Tahoma" panose="020B0604030504040204" pitchFamily="34" charset="0"/>
                <a:ea typeface="Tahoma" panose="020B0604030504040204" pitchFamily="34" charset="0"/>
                <a:cs typeface="Tahoma" panose="020B0604030504040204" pitchFamily="34" charset="0"/>
              </a:rPr>
              <a:t>», но с сохранением того же приёма со складывающимися буквами ПСБ, чтобы закрепить узнаваемость и показать конкретные предложения банка.</a:t>
            </a:r>
          </a:p>
          <a:p>
            <a:pPr defTabSz="533400" eaLnBrk="1" hangingPunct="1">
              <a:lnSpc>
                <a:spcPct val="200000"/>
              </a:lnSpc>
              <a:spcAft>
                <a:spcPts val="0"/>
              </a:spcAft>
              <a:buClr>
                <a:srgbClr val="8E8E8E"/>
              </a:buClr>
            </a:pPr>
            <a:endParaRPr lang="ru-RU" sz="1600" b="1" dirty="0">
              <a:solidFill>
                <a:srgbClr val="002394"/>
              </a:solidFill>
              <a:latin typeface="Tahoma" panose="020B0604030504040204" pitchFamily="34" charset="0"/>
              <a:ea typeface="Tahoma" panose="020B0604030504040204" pitchFamily="34" charset="0"/>
              <a:cs typeface="Tahoma" panose="020B0604030504040204" pitchFamily="34" charset="0"/>
            </a:endParaRPr>
          </a:p>
          <a:p>
            <a:pPr defTabSz="533400" eaLnBrk="1" hangingPunct="1">
              <a:lnSpc>
                <a:spcPct val="200000"/>
              </a:lnSpc>
              <a:spcAft>
                <a:spcPts val="0"/>
              </a:spcAft>
              <a:buClr>
                <a:srgbClr val="8E8E8E"/>
              </a:buClr>
            </a:pPr>
            <a:r>
              <a:rPr lang="ru-RU" sz="1600" b="1" dirty="0">
                <a:solidFill>
                  <a:srgbClr val="002394"/>
                </a:solidFill>
                <a:latin typeface="Tahoma" panose="020B0604030504040204" pitchFamily="34" charset="0"/>
                <a:ea typeface="Tahoma" panose="020B0604030504040204" pitchFamily="34" charset="0"/>
                <a:cs typeface="Tahoma" panose="020B0604030504040204" pitchFamily="34" charset="0"/>
              </a:rPr>
              <a:t>Третий, завершающий этап, был посвящён эмоциональному раскрытию духа бренда через серию роликов с актёром Виктором </a:t>
            </a:r>
            <a:r>
              <a:rPr lang="ru-RU" sz="1600" b="1" dirty="0" err="1">
                <a:solidFill>
                  <a:srgbClr val="002394"/>
                </a:solidFill>
                <a:latin typeface="Tahoma" panose="020B0604030504040204" pitchFamily="34" charset="0"/>
                <a:ea typeface="Tahoma" panose="020B0604030504040204" pitchFamily="34" charset="0"/>
                <a:cs typeface="Tahoma" panose="020B0604030504040204" pitchFamily="34" charset="0"/>
              </a:rPr>
              <a:t>Хориняком</a:t>
            </a:r>
            <a:r>
              <a:rPr lang="ru-RU" sz="1600" b="1" dirty="0">
                <a:solidFill>
                  <a:srgbClr val="002394"/>
                </a:solidFill>
                <a:latin typeface="Tahoma" panose="020B0604030504040204" pitchFamily="34" charset="0"/>
                <a:ea typeface="Tahoma" panose="020B0604030504040204" pitchFamily="34" charset="0"/>
                <a:cs typeface="Tahoma" panose="020B0604030504040204" pitchFamily="34" charset="0"/>
              </a:rPr>
              <a:t> в образе современного богатыря (отсылая к франшизе «Последний богатырь»). Это позволило визуализировать позиционирование «Банк сильной страны», сделав ценности силы, надёжности и опоры близкими и актуальными для широкой аудитории.</a:t>
            </a:r>
          </a:p>
        </p:txBody>
      </p:sp>
      <p:sp>
        <p:nvSpPr>
          <p:cNvPr id="6" name="TextBox 189">
            <a:extLst>
              <a:ext uri="{FF2B5EF4-FFF2-40B4-BE49-F238E27FC236}">
                <a16:creationId xmlns:a16="http://schemas.microsoft.com/office/drawing/2014/main" id="{E47AB0DA-6938-453D-98E4-DDB3960C5AD8}"/>
              </a:ext>
            </a:extLst>
          </p:cNvPr>
          <p:cNvSpPr txBox="1">
            <a:spLocks noChangeArrowheads="1"/>
          </p:cNvSpPr>
          <p:nvPr/>
        </p:nvSpPr>
        <p:spPr bwMode="auto">
          <a:xfrm>
            <a:off x="152400" y="413048"/>
            <a:ext cx="6269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ru-RU"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rPr>
              <a:t>Этапы проведения рекламы</a:t>
            </a:r>
          </a:p>
        </p:txBody>
      </p:sp>
    </p:spTree>
    <p:extLst>
      <p:ext uri="{BB962C8B-B14F-4D97-AF65-F5344CB8AC3E}">
        <p14:creationId xmlns:p14="http://schemas.microsoft.com/office/powerpoint/2010/main" val="1517003382"/>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Номер слайда 1">
            <a:extLst>
              <a:ext uri="{FF2B5EF4-FFF2-40B4-BE49-F238E27FC236}">
                <a16:creationId xmlns:a16="http://schemas.microsoft.com/office/drawing/2014/main" id="{3658AE8C-E599-4AA7-804C-48674BF3843A}"/>
              </a:ext>
            </a:extLst>
          </p:cNvPr>
          <p:cNvSpPr>
            <a:spLocks noGrp="1"/>
          </p:cNvSpPr>
          <p:nvPr>
            <p:ph type="sldNum" sz="quarter" idx="10"/>
          </p:nvPr>
        </p:nvSpPr>
        <p:spPr/>
        <p:txBody>
          <a:bodyPr/>
          <a:lstStyle/>
          <a:p>
            <a:pPr>
              <a:defRPr/>
            </a:pPr>
            <a:r>
              <a:rPr lang="ru-RU"/>
              <a:t>Слайд </a:t>
            </a:r>
            <a:fld id="{7DCEE9E7-25AF-42DF-86F1-84EFCBA56EFC}" type="slidenum">
              <a:rPr lang="ru-RU" smtClean="0"/>
              <a:pPr>
                <a:defRPr/>
              </a:pPr>
              <a:t>15</a:t>
            </a:fld>
            <a:endParaRPr lang="ru-RU"/>
          </a:p>
        </p:txBody>
      </p:sp>
      <p:pic>
        <p:nvPicPr>
          <p:cNvPr id="4" name="Рисунок 3">
            <a:extLst>
              <a:ext uri="{FF2B5EF4-FFF2-40B4-BE49-F238E27FC236}">
                <a16:creationId xmlns:a16="http://schemas.microsoft.com/office/drawing/2014/main" id="{3FF6FFD0-8681-4CC7-8430-2EFE0547F1B8}"/>
              </a:ext>
            </a:extLst>
          </p:cNvPr>
          <p:cNvPicPr>
            <a:picLocks noChangeAspect="1"/>
          </p:cNvPicPr>
          <p:nvPr/>
        </p:nvPicPr>
        <p:blipFill>
          <a:blip r:embed="rId2"/>
          <a:stretch>
            <a:fillRect/>
          </a:stretch>
        </p:blipFill>
        <p:spPr>
          <a:xfrm>
            <a:off x="640296" y="1268760"/>
            <a:ext cx="8625408" cy="4922992"/>
          </a:xfrm>
          <a:prstGeom prst="rect">
            <a:avLst/>
          </a:prstGeom>
        </p:spPr>
      </p:pic>
      <p:sp>
        <p:nvSpPr>
          <p:cNvPr id="5" name="TextBox 189">
            <a:extLst>
              <a:ext uri="{FF2B5EF4-FFF2-40B4-BE49-F238E27FC236}">
                <a16:creationId xmlns:a16="http://schemas.microsoft.com/office/drawing/2014/main" id="{D05AE493-061C-4BB8-9F1B-266AAC0F2F60}"/>
              </a:ext>
            </a:extLst>
          </p:cNvPr>
          <p:cNvSpPr txBox="1">
            <a:spLocks noChangeArrowheads="1"/>
          </p:cNvSpPr>
          <p:nvPr/>
        </p:nvSpPr>
        <p:spPr bwMode="auto">
          <a:xfrm>
            <a:off x="152400" y="413048"/>
            <a:ext cx="6269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ru-RU"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rPr>
              <a:t>Амбассадор</a:t>
            </a:r>
          </a:p>
        </p:txBody>
      </p:sp>
    </p:spTree>
    <p:extLst>
      <p:ext uri="{BB962C8B-B14F-4D97-AF65-F5344CB8AC3E}">
        <p14:creationId xmlns:p14="http://schemas.microsoft.com/office/powerpoint/2010/main" val="34397868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89"/>
          <p:cNvSpPr txBox="1">
            <a:spLocks noChangeArrowheads="1"/>
          </p:cNvSpPr>
          <p:nvPr/>
        </p:nvSpPr>
        <p:spPr bwMode="auto">
          <a:xfrm>
            <a:off x="0" y="264096"/>
            <a:ext cx="62690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rPr>
              <a:t>Conclusion</a:t>
            </a:r>
            <a:endParaRPr lang="ru-RU" altLang="ru-RU" sz="20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43" name="TextBox 42">
            <a:extLst>
              <a:ext uri="{FF2B5EF4-FFF2-40B4-BE49-F238E27FC236}">
                <a16:creationId xmlns:a16="http://schemas.microsoft.com/office/drawing/2014/main" id="{90AE6908-88FF-40B0-B1E9-6EED4D691962}"/>
              </a:ext>
            </a:extLst>
          </p:cNvPr>
          <p:cNvSpPr txBox="1"/>
          <p:nvPr/>
        </p:nvSpPr>
        <p:spPr>
          <a:xfrm>
            <a:off x="128464" y="1933155"/>
            <a:ext cx="4204692" cy="1754326"/>
          </a:xfrm>
          <a:prstGeom prst="rect">
            <a:avLst/>
          </a:prstGeom>
          <a:noFill/>
        </p:spPr>
        <p:txBody>
          <a:bodyPr wrap="square">
            <a:spAutoFit/>
          </a:bodyPr>
          <a:lstStyle/>
          <a:p>
            <a:r>
              <a:rPr lang="ru-RU" dirty="0">
                <a:solidFill>
                  <a:srgbClr val="002394"/>
                </a:solidFill>
                <a:latin typeface="Tahoma" panose="020B0604030504040204" pitchFamily="34" charset="0"/>
                <a:ea typeface="Tahoma" panose="020B0604030504040204" pitchFamily="34" charset="0"/>
                <a:cs typeface="Tahoma" panose="020B0604030504040204" pitchFamily="34" charset="0"/>
              </a:rPr>
              <a:t>Ну там </a:t>
            </a:r>
            <a:r>
              <a:rPr lang="ru-RU" dirty="0" err="1">
                <a:solidFill>
                  <a:srgbClr val="002394"/>
                </a:solidFill>
                <a:latin typeface="Tahoma" panose="020B0604030504040204" pitchFamily="34" charset="0"/>
                <a:ea typeface="Tahoma" panose="020B0604030504040204" pitchFamily="34" charset="0"/>
                <a:cs typeface="Tahoma" panose="020B0604030504040204" pitchFamily="34" charset="0"/>
              </a:rPr>
              <a:t>псб</a:t>
            </a:r>
            <a:r>
              <a:rPr lang="ru-RU" dirty="0">
                <a:solidFill>
                  <a:srgbClr val="002394"/>
                </a:solidFill>
                <a:latin typeface="Tahoma" panose="020B0604030504040204" pitchFamily="34" charset="0"/>
                <a:ea typeface="Tahoma" panose="020B0604030504040204" pitchFamily="34" charset="0"/>
                <a:cs typeface="Tahoma" panose="020B0604030504040204" pitchFamily="34" charset="0"/>
              </a:rPr>
              <a:t> растет, крутой, развивается </a:t>
            </a:r>
            <a:r>
              <a:rPr lang="ru-RU" dirty="0" err="1">
                <a:solidFill>
                  <a:srgbClr val="002394"/>
                </a:solidFill>
                <a:latin typeface="Tahoma" panose="020B0604030504040204" pitchFamily="34" charset="0"/>
                <a:ea typeface="Tahoma" panose="020B0604030504040204" pitchFamily="34" charset="0"/>
                <a:cs typeface="Tahoma" panose="020B0604030504040204" pitchFamily="34" charset="0"/>
              </a:rPr>
              <a:t>хз</a:t>
            </a:r>
            <a:r>
              <a:rPr lang="ru-RU" dirty="0">
                <a:solidFill>
                  <a:srgbClr val="002394"/>
                </a:solidFill>
                <a:latin typeface="Tahoma" panose="020B0604030504040204" pitchFamily="34" charset="0"/>
                <a:ea typeface="Tahoma" panose="020B0604030504040204" pitchFamily="34" charset="0"/>
                <a:cs typeface="Tahoma" panose="020B0604030504040204" pitchFamily="34" charset="0"/>
              </a:rPr>
              <a:t> там</a:t>
            </a:r>
            <a:br>
              <a:rPr lang="ru-RU" dirty="0">
                <a:solidFill>
                  <a:srgbClr val="002394"/>
                </a:solidFill>
                <a:latin typeface="Tahoma" panose="020B0604030504040204" pitchFamily="34" charset="0"/>
                <a:ea typeface="Tahoma" panose="020B0604030504040204" pitchFamily="34" charset="0"/>
                <a:cs typeface="Tahoma" panose="020B0604030504040204" pitchFamily="34" charset="0"/>
              </a:rPr>
            </a:br>
            <a:r>
              <a:rPr lang="ru-RU" dirty="0">
                <a:solidFill>
                  <a:srgbClr val="002394"/>
                </a:solidFill>
                <a:latin typeface="Tahoma" panose="020B0604030504040204" pitchFamily="34" charset="0"/>
                <a:ea typeface="Tahoma" panose="020B0604030504040204" pitchFamily="34" charset="0"/>
                <a:cs typeface="Tahoma" panose="020B0604030504040204" pitchFamily="34" charset="0"/>
              </a:rPr>
              <a:t>вон реклама какая крутая видели, А ПРОЦЕНТЫ ТО КАКИЕ, БОЖЕ ДЕРЖИТЕ МЕНЯ СЕМЕРО…</a:t>
            </a:r>
          </a:p>
          <a:p>
            <a:r>
              <a:rPr lang="ru-RU">
                <a:solidFill>
                  <a:srgbClr val="002394"/>
                </a:solidFill>
                <a:latin typeface="Tahoma" panose="020B0604030504040204" pitchFamily="34" charset="0"/>
                <a:ea typeface="Tahoma" panose="020B0604030504040204" pitchFamily="34" charset="0"/>
                <a:cs typeface="Tahoma" panose="020B0604030504040204" pitchFamily="34" charset="0"/>
              </a:rPr>
              <a:t>В общем да, круто!</a:t>
            </a:r>
            <a:endParaRPr lang="ru-RU" dirty="0">
              <a:solidFill>
                <a:srgbClr val="002394"/>
              </a:solidFill>
              <a:latin typeface="Tahoma" panose="020B0604030504040204" pitchFamily="34" charset="0"/>
              <a:ea typeface="Tahoma" panose="020B0604030504040204" pitchFamily="34" charset="0"/>
              <a:cs typeface="Tahoma" panose="020B0604030504040204" pitchFamily="34" charset="0"/>
            </a:endParaRPr>
          </a:p>
        </p:txBody>
      </p:sp>
      <p:pic>
        <p:nvPicPr>
          <p:cNvPr id="46" name="Рисунок 45">
            <a:extLst>
              <a:ext uri="{FF2B5EF4-FFF2-40B4-BE49-F238E27FC236}">
                <a16:creationId xmlns:a16="http://schemas.microsoft.com/office/drawing/2014/main" id="{40154077-409A-4BE2-80AF-5323E34A9452}"/>
              </a:ext>
            </a:extLst>
          </p:cNvPr>
          <p:cNvPicPr>
            <a:picLocks noChangeAspect="1"/>
          </p:cNvPicPr>
          <p:nvPr/>
        </p:nvPicPr>
        <p:blipFill>
          <a:blip r:embed="rId3"/>
          <a:stretch>
            <a:fillRect/>
          </a:stretch>
        </p:blipFill>
        <p:spPr>
          <a:xfrm>
            <a:off x="7041232" y="216915"/>
            <a:ext cx="2526044" cy="586933"/>
          </a:xfrm>
          <a:prstGeom prst="rect">
            <a:avLst/>
          </a:prstGeom>
        </p:spPr>
      </p:pic>
      <p:pic>
        <p:nvPicPr>
          <p:cNvPr id="47" name="Рисунок 46">
            <a:extLst>
              <a:ext uri="{FF2B5EF4-FFF2-40B4-BE49-F238E27FC236}">
                <a16:creationId xmlns:a16="http://schemas.microsoft.com/office/drawing/2014/main" id="{5C7C5824-1C64-4D27-96E9-99B028456B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41232" y="144249"/>
            <a:ext cx="1381125" cy="666750"/>
          </a:xfrm>
          <a:prstGeom prst="rect">
            <a:avLst/>
          </a:prstGeom>
        </p:spPr>
      </p:pic>
      <p:pic>
        <p:nvPicPr>
          <p:cNvPr id="6146" name="Picture 2" descr="Банк ПСБ, банк, Республиканская ул., 16, Ярославль — Яндекс Карты">
            <a:extLst>
              <a:ext uri="{FF2B5EF4-FFF2-40B4-BE49-F238E27FC236}">
                <a16:creationId xmlns:a16="http://schemas.microsoft.com/office/drawing/2014/main" id="{FD4B839E-1736-4F2E-A335-9D27C83FDB1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92960" y="1933155"/>
            <a:ext cx="4796308" cy="35972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247316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90AE6908-88FF-40B0-B1E9-6EED4D691962}"/>
              </a:ext>
            </a:extLst>
          </p:cNvPr>
          <p:cNvSpPr txBox="1"/>
          <p:nvPr/>
        </p:nvSpPr>
        <p:spPr>
          <a:xfrm>
            <a:off x="100236" y="3167390"/>
            <a:ext cx="9705528" cy="523220"/>
          </a:xfrm>
          <a:prstGeom prst="rect">
            <a:avLst/>
          </a:prstGeom>
          <a:noFill/>
        </p:spPr>
        <p:txBody>
          <a:bodyPr wrap="square">
            <a:spAutoFit/>
          </a:bodyPr>
          <a:lstStyle/>
          <a:p>
            <a:pPr algn="ctr"/>
            <a:r>
              <a:rPr lang="en-US" sz="2800" dirty="0">
                <a:solidFill>
                  <a:srgbClr val="002394"/>
                </a:solidFill>
                <a:latin typeface="Tahoma" panose="020B0604030504040204" pitchFamily="34" charset="0"/>
                <a:ea typeface="Tahoma" panose="020B0604030504040204" pitchFamily="34" charset="0"/>
                <a:cs typeface="Tahoma" panose="020B0604030504040204" pitchFamily="34" charset="0"/>
              </a:rPr>
              <a:t>Thanks for your attention</a:t>
            </a:r>
            <a:endParaRPr lang="ru-RU" sz="2800" dirty="0">
              <a:solidFill>
                <a:srgbClr val="002394"/>
              </a:solidFill>
              <a:latin typeface="Tahoma" panose="020B0604030504040204" pitchFamily="34" charset="0"/>
              <a:ea typeface="Tahoma" panose="020B0604030504040204" pitchFamily="34" charset="0"/>
              <a:cs typeface="Tahoma" panose="020B0604030504040204" pitchFamily="34" charset="0"/>
            </a:endParaRPr>
          </a:p>
        </p:txBody>
      </p:sp>
      <p:pic>
        <p:nvPicPr>
          <p:cNvPr id="4" name="Рисунок 3">
            <a:extLst>
              <a:ext uri="{FF2B5EF4-FFF2-40B4-BE49-F238E27FC236}">
                <a16:creationId xmlns:a16="http://schemas.microsoft.com/office/drawing/2014/main" id="{C2B79085-CC35-4FA7-BA08-6D51F4AD5B2F}"/>
              </a:ext>
            </a:extLst>
          </p:cNvPr>
          <p:cNvPicPr>
            <a:picLocks noChangeAspect="1"/>
          </p:cNvPicPr>
          <p:nvPr/>
        </p:nvPicPr>
        <p:blipFill>
          <a:blip r:embed="rId3"/>
          <a:stretch>
            <a:fillRect/>
          </a:stretch>
        </p:blipFill>
        <p:spPr>
          <a:xfrm>
            <a:off x="7041232" y="216915"/>
            <a:ext cx="2526044" cy="586933"/>
          </a:xfrm>
          <a:prstGeom prst="rect">
            <a:avLst/>
          </a:prstGeom>
        </p:spPr>
      </p:pic>
      <p:pic>
        <p:nvPicPr>
          <p:cNvPr id="5" name="Рисунок 4">
            <a:extLst>
              <a:ext uri="{FF2B5EF4-FFF2-40B4-BE49-F238E27FC236}">
                <a16:creationId xmlns:a16="http://schemas.microsoft.com/office/drawing/2014/main" id="{41AC323F-B593-4986-95BA-3DF9FB0E9F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41232" y="144249"/>
            <a:ext cx="1381125" cy="666750"/>
          </a:xfrm>
          <a:prstGeom prst="rect">
            <a:avLst/>
          </a:prstGeom>
        </p:spPr>
      </p:pic>
    </p:spTree>
    <p:extLst>
      <p:ext uri="{BB962C8B-B14F-4D97-AF65-F5344CB8AC3E}">
        <p14:creationId xmlns:p14="http://schemas.microsoft.com/office/powerpoint/2010/main" val="1261634516"/>
      </p:ext>
    </p:extLst>
  </p:cSld>
  <p:clrMapOvr>
    <a:masterClrMapping/>
  </p:clrMapOvr>
  <p:transition/>
</p:sld>
</file>

<file path=ppt/theme/theme1.xml><?xml version="1.0" encoding="utf-8"?>
<a:theme xmlns:a="http://schemas.openxmlformats.org/drawingml/2006/main" name="Презентация-rus">
  <a:themeElements>
    <a:clrScheme name="Презентация-ru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Презентация-rus">
      <a:majorFont>
        <a:latin typeface="Myriad Pro Light"/>
        <a:ea typeface=""/>
        <a:cs typeface=""/>
      </a:majorFont>
      <a:minorFont>
        <a:latin typeface="Myriad Pro"/>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Презентация-ru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Презентация-ru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Презентация-ru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Презентация-ru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Презентация-ru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Презентация-ru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Презентация-ru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Презентация-ru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Презентация-ru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Презентация-ru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Презентация-ru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Презентация-ru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Типовой слайд-Промсвязьбанк">
  <a:themeElements>
    <a:clrScheme name="Типовой слайд-Промсвязьбанк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Типовой слайд-Промсвязьбанк">
      <a:majorFont>
        <a:latin typeface="Myriad Pro"/>
        <a:ea typeface=""/>
        <a:cs typeface=""/>
      </a:majorFont>
      <a:minorFont>
        <a:latin typeface="Myriad Pro"/>
        <a:ea typeface=""/>
        <a:cs typeface=""/>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Типовой слайд-Промсвязьбанк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Типовой слайд-Промсвязьбанк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Типовой слайд-Промсвязьбанк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Типовой слайд-Промсвязьбанк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Типовой слайд-Промсвязьбанк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Типовой слайд-Промсвязьбанк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Типовой слайд-Промсвязьбанк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Типовой слайд-Промсвязьбанк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Типовой слайд-Промсвязьбанк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Типовой слайд-Промсвязьбанк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Типовой слайд-Промсвязьбанк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Типовой слайд-Промсвязьбанк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Тема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Тема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Презентация-rus</Template>
  <TotalTime>22116</TotalTime>
  <Words>3635</Words>
  <Application>Microsoft Office PowerPoint</Application>
  <PresentationFormat>Лист A4 (210x297 мм)</PresentationFormat>
  <Paragraphs>197</Paragraphs>
  <Slides>17</Slides>
  <Notes>14</Notes>
  <HiddenSlides>0</HiddenSlides>
  <MMClips>0</MMClips>
  <ScaleCrop>false</ScaleCrop>
  <HeadingPairs>
    <vt:vector size="8" baseType="variant">
      <vt:variant>
        <vt:lpstr>Использованные шрифты</vt:lpstr>
      </vt:variant>
      <vt:variant>
        <vt:i4>8</vt:i4>
      </vt:variant>
      <vt:variant>
        <vt:lpstr>Тема</vt:lpstr>
      </vt:variant>
      <vt:variant>
        <vt:i4>2</vt:i4>
      </vt:variant>
      <vt:variant>
        <vt:lpstr>Внедренные серверы OLE</vt:lpstr>
      </vt:variant>
      <vt:variant>
        <vt:i4>1</vt:i4>
      </vt:variant>
      <vt:variant>
        <vt:lpstr>Заголовки слайдов</vt:lpstr>
      </vt:variant>
      <vt:variant>
        <vt:i4>17</vt:i4>
      </vt:variant>
    </vt:vector>
  </HeadingPairs>
  <TitlesOfParts>
    <vt:vector size="28" baseType="lpstr">
      <vt:lpstr>Arial</vt:lpstr>
      <vt:lpstr>Courier New</vt:lpstr>
      <vt:lpstr>Gotham Pro Bold</vt:lpstr>
      <vt:lpstr>Myriad Pro</vt:lpstr>
      <vt:lpstr>Myriad Pro Light</vt:lpstr>
      <vt:lpstr>quote-cjk-patch</vt:lpstr>
      <vt:lpstr>Tahoma</vt:lpstr>
      <vt:lpstr>Wingdings</vt:lpstr>
      <vt:lpstr>Презентация-rus</vt:lpstr>
      <vt:lpstr>Типовой слайд-Промсвязьбанк</vt:lpstr>
      <vt:lpstr>CorelDRAW</vt:lpstr>
      <vt:lpstr>Имидж компании: ПСБ.                                                   ББМО-01-25      Голованов К.Е.                                                                    Железняков Р.А.</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Слайд 1</dc:title>
  <dc:creator>PSB</dc:creator>
  <cp:lastModifiedBy>Родион Железняков</cp:lastModifiedBy>
  <cp:revision>947</cp:revision>
  <cp:lastPrinted>2018-09-10T10:20:36Z</cp:lastPrinted>
  <dcterms:created xsi:type="dcterms:W3CDTF">2008-04-23T05:57:59Z</dcterms:created>
  <dcterms:modified xsi:type="dcterms:W3CDTF">2025-12-09T14:02:46Z</dcterms:modified>
</cp:coreProperties>
</file>